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f260a2f2-8a4b-3f05-f358-eb527242bd0a}">
          <p14:sldIdLst>
            <p14:sldId id="256"/>
          </p14:sldIdLst>
        </p14:section>
        <p14:section name="Problem &amp; Users" id="{5406b16f-dcea-1737-8226-624a69dc38e0}">
          <p14:sldIdLst>
            <p14:sldId id="257"/>
            <p14:sldId id="258"/>
          </p14:sldIdLst>
        </p14:section>
        <p14:section name="Proposed System" id="{22861725-88d9-834f-dd72-9858776a54d2}">
          <p14:sldIdLst>
            <p14:sldId id="259"/>
            <p14:sldId id="260"/>
            <p14:sldId id="261"/>
          </p14:sldIdLst>
        </p14:section>
        <p14:section name="Agents" id="{8dfc38d8-462d-9b9f-6d10-2e11d28bace5}">
          <p14:sldIdLst>
            <p14:sldId id="262"/>
            <p14:sldId id="263"/>
          </p14:sldIdLst>
        </p14:section>
        <p14:section name="Workflow" id="{6dccfd47-a3f7-8196-6393-e0bc3f818442}">
          <p14:sldIdLst>
            <p14:sldId id="264"/>
            <p14:sldId id="265"/>
            <p14:sldId id="266"/>
          </p14:sldIdLst>
        </p14:section>
        <p14:section name="RAG &amp; Safety" id="{1b0fca36-1b47-4293-c750-b91053b38cf9}">
          <p14:sldIdLst>
            <p14:sldId id="267"/>
            <p14:sldId id="268"/>
          </p14:sldIdLst>
        </p14:section>
        <p14:section name="Implementation" id="{15e94f1a-4884-85cd-d162-1843b5b061f9}">
          <p14:sldIdLst>
            <p14:sldId id="269"/>
            <p14:sldId id="270"/>
          </p14:sldIdLst>
        </p14:section>
        <p14:section name="Evaluation" id="{08510647-cb72-89df-ec7e-d0c884bffa25}">
          <p14:sldIdLst>
            <p14:sldId id="271"/>
            <p14:sldId id="272"/>
          </p14:sldIdLst>
        </p14:section>
        <p14:section name="Comparison &amp; Scope" id="{9455ca37-5304-7226-84c0-941f31e70f81}">
          <p14:sldIdLst>
            <p14:sldId id="273"/>
            <p14:sldId id="274"/>
            <p14:sldId id="275"/>
            <p14:sldId id="276"/>
          </p14:sldIdLst>
        </p14:section>
        <p14:section name="End" id="{07620fcc-221d-6292-63e6-5814f4dff998}">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3333"/>
                </a:solidFill>
                <a:latin typeface="Arial"/>
              </a:defRPr>
            </a:pPr>
            <a:r>
              <a:rPr sz="1200" b="0" i="0" u="none" strike="noStrike">
                <a:solidFill>
                  <a:srgbClr val="333333"/>
                </a:solidFill>
                <a:latin typeface="Arial"/>
              </a:rPr>
              <a:t>Diet days passing all rules (%)</a:t>
            </a:r>
          </a:p>
        </c:rich>
      </c:tx>
      <c:layout/>
      <c:overlay val="0"/>
    </c:title>
    <c:autoTitleDeleted val="0"/>
    <c:plotArea>
      <c:layout/>
      <c:barChart>
        <c:barDir val="col"/>
        <c:grouping val="clustered"/>
        <c:varyColors val="0"/>
        <c:ser>
          <c:idx val="0"/>
          <c:order val="0"/>
          <c:tx>
            <c:strRef>
              <c:f>Sheet1!$B$1</c:f>
              <c:strCache>
                <c:ptCount val="1"/>
                <c:pt idx="0">
                  <c:v>Diet days passing all rules (%)</c:v>
                </c:pt>
              </c:strCache>
            </c:strRef>
          </c:tx>
          <c:spPr>
            <a:solidFill>
              <a:srgbClr val="C9B8E0"/>
            </a:solidFill>
            <a:effectLst/>
          </c:spPr>
          <c:invertIfNegative val="0"/>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C9B8E0"/>
              </a:solidFill>
              <a:effectLst/>
            </c:spPr>
          </c:dPt>
          <c:dPt>
            <c:idx val="1"/>
            <c:invertIfNegative val="0"/>
            <c:bubble3D val="0"/>
            <c:spPr>
              <a:solidFill>
                <a:srgbClr val="5B2D8F"/>
              </a:solidFill>
              <a:effectLst/>
            </c:spPr>
          </c:dPt>
          <c:cat>
            <c:multiLvlStrRef>
              <c:f>Sheet1!$A$2:$A$3</c:f>
              <c:multiLvlStrCache>
                <c:ptCount val="2"/>
                <c:lvl>
                  <c:pt idx="0">
                    <c:v>Rule-free baseline</c:v>
                  </c:pt>
                  <c:pt idx="1">
                    <c:v>Diet team</c:v>
                  </c:pt>
                </c:lvl>
              </c:multiLvlStrCache>
            </c:multiLvlStrRef>
          </c:cat>
          <c:val>
            <c:numRef>
              <c:f>Sheet1!$B$2:$B$3</c:f>
              <c:numCache>
                <c:formatCode>General</c:formatCode>
                <c:ptCount val="2"/>
                <c:pt idx="0">
                  <c:v>0</c:v>
                </c:pt>
                <c:pt idx="1">
                  <c:v>92.9</c:v>
                </c:pt>
              </c:numCache>
            </c:numRef>
          </c:val>
        </c:ser>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777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3333"/>
                </a:solidFill>
                <a:latin typeface="Arial"/>
              </a:defRPr>
            </a:pPr>
            <a:r>
              <a:rPr sz="1200" b="0" i="0" u="none" strike="noStrike">
                <a:solidFill>
                  <a:srgbClr val="333333"/>
                </a:solidFill>
                <a:latin typeface="Arial"/>
              </a:rPr>
              <a:t>Diet days with critical violation (%)</a:t>
            </a:r>
          </a:p>
        </c:rich>
      </c:tx>
      <c:layout/>
      <c:overlay val="0"/>
    </c:title>
    <c:autoTitleDeleted val="0"/>
    <c:plotArea>
      <c:layout/>
      <c:barChart>
        <c:barDir val="col"/>
        <c:grouping val="clustered"/>
        <c:varyColors val="0"/>
        <c:ser>
          <c:idx val="0"/>
          <c:order val="0"/>
          <c:tx>
            <c:strRef>
              <c:f>Sheet1!$B$1</c:f>
              <c:strCache>
                <c:ptCount val="1"/>
                <c:pt idx="0">
                  <c:v>Diet days with critical violation (%)</c:v>
                </c:pt>
              </c:strCache>
            </c:strRef>
          </c:tx>
          <c:spPr>
            <a:solidFill>
              <a:srgbClr val="E8A0A0"/>
            </a:solidFill>
            <a:effectLst/>
          </c:spPr>
          <c:invertIfNegative val="0"/>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E8A0A0"/>
              </a:solidFill>
              <a:effectLst/>
            </c:spPr>
          </c:dPt>
          <c:dPt>
            <c:idx val="1"/>
            <c:invertIfNegative val="0"/>
            <c:bubble3D val="0"/>
            <c:spPr>
              <a:solidFill>
                <a:srgbClr val="3C9A54"/>
              </a:solidFill>
              <a:effectLst/>
            </c:spPr>
          </c:dPt>
          <c:cat>
            <c:multiLvlStrRef>
              <c:f>Sheet1!$A$2:$A$3</c:f>
              <c:multiLvlStrCache>
                <c:ptCount val="2"/>
                <c:lvl>
                  <c:pt idx="0">
                    <c:v>Rule-free baseline</c:v>
                  </c:pt>
                  <c:pt idx="1">
                    <c:v>Diet team</c:v>
                  </c:pt>
                </c:lvl>
              </c:multiLvlStrCache>
            </c:multiLvlStrRef>
          </c:cat>
          <c:val>
            <c:numRef>
              <c:f>Sheet1!$B$2:$B$3</c:f>
              <c:numCache>
                <c:formatCode>General</c:formatCode>
                <c:ptCount val="2"/>
                <c:pt idx="0">
                  <c:v>14.9</c:v>
                </c:pt>
                <c:pt idx="1">
                  <c:v>0</c:v>
                </c:pt>
              </c:numCache>
            </c:numRef>
          </c:val>
        </c:ser>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777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3333"/>
                </a:solidFill>
                <a:latin typeface="Arial"/>
              </a:defRPr>
            </a:pPr>
            <a:r>
              <a:rPr sz="1200" b="0" i="0" u="none" strike="noStrike">
                <a:solidFill>
                  <a:srgbClr val="333333"/>
                </a:solidFill>
                <a:latin typeface="Arial"/>
              </a:rPr>
              <a:t>Red-flag detection (%)</a:t>
            </a:r>
          </a:p>
        </c:rich>
      </c:tx>
      <c:layout/>
      <c:overlay val="0"/>
    </c:title>
    <c:autoTitleDeleted val="0"/>
    <c:plotArea>
      <c:layout/>
      <c:barChart>
        <c:barDir val="col"/>
        <c:grouping val="clustered"/>
        <c:varyColors val="0"/>
        <c:ser>
          <c:idx val="0"/>
          <c:order val="0"/>
          <c:tx>
            <c:strRef>
              <c:f>Sheet1!$B$1</c:f>
              <c:strCache>
                <c:ptCount val="1"/>
                <c:pt idx="0">
                  <c:v>Red-flag detection (%)</c:v>
                </c:pt>
              </c:strCache>
            </c:strRef>
          </c:tx>
          <c:spPr>
            <a:solidFill>
              <a:srgbClr val="5B2D8F"/>
            </a:solidFill>
            <a:effectLst/>
          </c:spPr>
          <c:invertIfNegative val="0"/>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5B2D8F"/>
              </a:solidFill>
              <a:effectLst/>
            </c:spPr>
          </c:dPt>
          <c:dPt>
            <c:idx val="1"/>
            <c:invertIfNegative val="0"/>
            <c:bubble3D val="0"/>
            <c:spPr>
              <a:solidFill>
                <a:srgbClr val="C9B8E0"/>
              </a:solidFill>
              <a:effectLst/>
            </c:spPr>
          </c:dPt>
          <c:cat>
            <c:multiLvlStrRef>
              <c:f>Sheet1!$A$2:$A$3</c:f>
              <c:multiLvlStrCache>
                <c:ptCount val="2"/>
                <c:lvl>
                  <c:pt idx="0">
                    <c:v>Precision</c:v>
                  </c:pt>
                  <c:pt idx="1">
                    <c:v>Recall</c:v>
                  </c:pt>
                </c:lvl>
              </c:multiLvlStrCache>
            </c:multiLvlStrRef>
          </c:cat>
          <c:val>
            <c:numRef>
              <c:f>Sheet1!$B$2:$B$3</c:f>
              <c:numCache>
                <c:formatCode>General</c:formatCode>
                <c:ptCount val="2"/>
                <c:pt idx="0">
                  <c:v>100</c:v>
                </c:pt>
                <c:pt idx="1">
                  <c:v>83.3</c:v>
                </c:pt>
              </c:numCache>
            </c:numRef>
          </c:val>
        </c:ser>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777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33333"/>
                </a:solidFill>
                <a:latin typeface="Arial"/>
              </a:defRPr>
            </a:pPr>
            <a:r>
              <a:rPr sz="1200" b="0" i="0" u="none" strike="noStrike">
                <a:solidFill>
                  <a:srgbClr val="333333"/>
                </a:solidFill>
                <a:latin typeface="Arial"/>
              </a:rPr>
              <a:t>Component accuracy (%)</a:t>
            </a:r>
          </a:p>
        </c:rich>
      </c:tx>
      <c:layout/>
      <c:overlay val="0"/>
    </c:title>
    <c:autoTitleDeleted val="0"/>
    <c:plotArea>
      <c:layout/>
      <c:barChart>
        <c:barDir val="col"/>
        <c:grouping val="clustered"/>
        <c:varyColors val="0"/>
        <c:ser>
          <c:idx val="0"/>
          <c:order val="0"/>
          <c:tx>
            <c:strRef>
              <c:f>Sheet1!$B$1</c:f>
              <c:strCache>
                <c:ptCount val="1"/>
                <c:pt idx="0">
                  <c:v>Component accuracy (%)</c:v>
                </c:pt>
              </c:strCache>
            </c:strRef>
          </c:tx>
          <c:spPr>
            <a:solidFill>
              <a:srgbClr val="D49A1A"/>
            </a:solidFill>
            <a:effectLst/>
          </c:spPr>
          <c:invertIfNegative val="0"/>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dPt>
            <c:idx val="0"/>
            <c:invertIfNegative val="0"/>
            <c:bubble3D val="0"/>
            <c:spPr>
              <a:solidFill>
                <a:srgbClr val="D49A1A"/>
              </a:solidFill>
              <a:effectLst/>
            </c:spPr>
          </c:dPt>
          <c:dPt>
            <c:idx val="1"/>
            <c:invertIfNegative val="0"/>
            <c:bubble3D val="0"/>
            <c:spPr>
              <a:solidFill>
                <a:srgbClr val="4A6FD8"/>
              </a:solidFill>
              <a:effectLst/>
            </c:spPr>
          </c:dPt>
          <c:dPt>
            <c:idx val="2"/>
            <c:invertIfNegative val="0"/>
            <c:bubble3D val="0"/>
            <c:spPr>
              <a:solidFill>
                <a:srgbClr val="3C9A54"/>
              </a:solidFill>
              <a:effectLst/>
            </c:spPr>
          </c:dPt>
          <c:cat>
            <c:multiLvlStrRef>
              <c:f>Sheet1!$A$2:$A$4</c:f>
              <c:multiLvlStrCache>
                <c:ptCount val="3"/>
                <c:lvl>
                  <c:pt idx="0">
                    <c:v>Basic RAG hit@3</c:v>
                  </c:pt>
                  <c:pt idx="1">
                    <c:v>Routing rules</c:v>
                  </c:pt>
                  <c:pt idx="2">
                    <c:v>Diet parser</c:v>
                  </c:pt>
                </c:lvl>
              </c:multiLvlStrCache>
            </c:multiLvlStrRef>
          </c:cat>
          <c:val>
            <c:numRef>
              <c:f>Sheet1!$B$2:$B$4</c:f>
              <c:numCache>
                <c:formatCode>General</c:formatCode>
                <c:ptCount val="3"/>
                <c:pt idx="0">
                  <c:v>85</c:v>
                </c:pt>
                <c:pt idx="1">
                  <c:v>85</c:v>
                </c:pt>
                <c:pt idx="2">
                  <c:v>100</c:v>
                </c:pt>
              </c:numCache>
            </c:numRef>
          </c:val>
        </c:ser>
        <c:dLbls>
          <c:numFmt formatCode="0.0" sourceLinked="0"/>
          <c:txPr>
            <a:bodyPr/>
            <a:lstStyle/>
            <a:p>
              <a:pPr>
                <a:defRPr b="0" i="0" strike="noStrike" sz="1100" u="none">
                  <a:solidFill>
                    <a:srgbClr val="3333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7777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Health Pilot is an agentic AI health coach: a team of LangGraph agents that gives personalised, guideline-backed and safety-checked advice, runs fully on a local GPU, and always asks the user before changing a plan. The screenshots are from the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fragmentation plus unsafe generic AI advice. Our users range from individuals and students to coaches and wellness programmes.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user groups; the user is also the human reviewer, because nothing changes without their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The key idea: perception from our NLP models, specialist agents in parallel, deterministic safety, and human approval before anything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base for RAG; two curated datasets for tools; SQLite as memory. Mention the data-integrity fixes, since the rubric marks data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Streamlit front end, LangGraph orchestration, two 8B-class LLMs through Ollama on an RTX 3070 Ti, hybrid retrieval and SQLite. Our NLP-subject models sit in the agent layer as the perception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supervisor routes to four specialists that run in parallel. Their views go to the mediator, then the synthesizer writes one answer, the rule-based guardian checks it, and a critic on the other LLM reviews it. If the critic or guardian finds issues, the answer is revised, up to twice. The human approves any plan change. Everything shares one LangGraph state backed by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teams reuse this pattern: the Diet Team (clinical, nutritionist, guardian, critic, explainer) and the Weekly Review team (analyst, coach, diet adaptation, guardian).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example: 'I slept only 5 hours and I'm stressed about exams. Should I still do today's workout?' Sleep says rest, Fitness says train normally, Mind says train light; the Mediator picks light training, the Guardian checks the exercises are knee-safe, the Critic (Qwen) reviews the Llama answer, and the user approves the lighter workout.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graphs share the same memory and safety rules: the chat coach, the diet team that creates the meal plan, and the weekly review team that acts autonomously.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tiers from the user to the GPU. The agent layer holds the chat team plus the diet and weekly teams; all of them use the same knowledge, data and model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offline: Basic RAG retrieves the gold passage in its top-3 for 17/20 questions (85%). The agentic version and the LLM answer quality are measured with run_eval.py on the GPU laptop. The Guardian also deletes any citation that was not actually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layered: a deterministic emergency path, a rule-based Guardian the LLM cannot override, a cross-model critic, and the user's approval before any stored plan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a working Streamlit app. One-click install (install_requirements.bat), run.bat starts Ollama and the app; check_setup.py verifies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from the running prototype on the RTX 3070 Ti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Diet: 24 random profiles x 7 days = 168 days. Diet team: 92.9% of days pass every rule, 0% critical violations; a rule-free random baseline from the same food table: 0% pass, 14.9% critical. Red flags: 10/12 crisis messages caught, 0 false alarms. Routing uses only the keyword fallback (the LLM supervisor adds to it). LLM answer quality, Llama vs Qwen, comes from run_eval.py on the GPU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in the viva: the two missed self-harm phrasings show why we keep the emergency rules and the human in the loop, and they are the first item 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agent (v1) is our own baseline: planner, agentic RAG, reflection and HITL, but no specialists, mediator, cross-model critic, diet team or weekly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is a node, knowledge is a folder of files and the model is a setting, so the system grows without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2 comes straight from our evaluation: two self-harm phrasings were missed by the keyword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summarising the three teams and the safety design, then offer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C_CONTENT">
    <p:bg>
      <p:bgPr>
        <a:solidFill>
          <a:srgbClr val="FFFFFF"/>
        </a:solidFill>
      </p:bgPr>
    </p:bg>
    <p:spTree>
      <p:nvGrpSpPr>
        <p:cNvPr id="1" name=""/>
        <p:cNvGrpSpPr/>
        <p:nvPr/>
      </p:nvGrpSpPr>
      <p:grpSpPr>
        <a:xfrm>
          <a:off x="0" y="0"/>
          <a:ext cx="0" cy="0"/>
          <a:chOff x="0" y="0"/>
          <a:chExt cx="0" cy="0"/>
        </a:xfrm>
      </p:grpSpPr>
      <p:pic>
        <p:nvPicPr>
          <p:cNvPr id="2" name="Image 0" descr="/home/claude/ppt2/assets/rec_logo.png">    </p:cNvPr>
          <p:cNvPicPr>
            <a:picLocks noChangeAspect="1"/>
          </p:cNvPicPr>
          <p:nvPr/>
        </p:nvPicPr>
        <p:blipFill>
          <a:blip r:embed="rId1"/>
          <a:stretch>
            <a:fillRect/>
          </a:stretch>
        </p:blipFill>
        <p:spPr>
          <a:xfrm>
            <a:off x="13944600" y="274320"/>
            <a:ext cx="3566160" cy="1325880"/>
          </a:xfrm>
          <a:prstGeom prst="rect">
            <a:avLst/>
          </a:prstGeom>
        </p:spPr>
      </p:pic>
      <p:sp>
        <p:nvSpPr>
          <p:cNvPr id="3" name="Shape 0"/>
          <p:cNvSpPr/>
          <p:nvPr/>
        </p:nvSpPr>
        <p:spPr>
          <a:xfrm>
            <a:off x="1938528" y="1627632"/>
            <a:ext cx="1920240" cy="73152"/>
          </a:xfrm>
          <a:prstGeom prst="rect">
            <a:avLst/>
          </a:prstGeom>
          <a:solidFill>
            <a:srgbClr val="F5C519"/>
          </a:solidFill>
          <a:ln w="12700">
            <a:solidFill>
              <a:srgbClr val="F5C519"/>
            </a:solidFill>
            <a:prstDash val="solid"/>
          </a:ln>
        </p:spPr>
      </p:sp>
      <p:sp>
        <p:nvSpPr>
          <p:cNvPr id="4" name="Shape 1"/>
          <p:cNvSpPr/>
          <p:nvPr/>
        </p:nvSpPr>
        <p:spPr>
          <a:xfrm>
            <a:off x="274320" y="9308592"/>
            <a:ext cx="17739360" cy="0"/>
          </a:xfrm>
          <a:prstGeom prst="line">
            <a:avLst/>
          </a:prstGeom>
          <a:noFill/>
          <a:ln w="12700">
            <a:solidFill>
              <a:srgbClr val="E6E2EC"/>
            </a:solidFill>
            <a:prstDash val="solid"/>
          </a:ln>
        </p:spPr>
      </p:sp>
      <p:sp>
        <p:nvSpPr>
          <p:cNvPr id="5" name="Text 2"/>
          <p:cNvSpPr/>
          <p:nvPr/>
        </p:nvSpPr>
        <p:spPr>
          <a:xfrm>
            <a:off x="1188720" y="9464040"/>
            <a:ext cx="3657600" cy="365760"/>
          </a:xfrm>
          <a:prstGeom prst="rect">
            <a:avLst/>
          </a:prstGeom>
          <a:noFill/>
          <a:ln/>
        </p:spPr>
        <p:txBody>
          <a:bodyPr wrap="square" lIns="0" tIns="0" rIns="0" bIns="0" rtlCol="0" anchor="ctr"/>
          <a:lstStyle/>
          <a:p>
            <a:pPr indent="0" marL="0">
              <a:buNone/>
            </a:pPr>
            <a:r>
              <a:rPr lang="en-US" sz="1100" dirty="0">
                <a:solidFill>
                  <a:srgbClr val="222222"/>
                </a:solidFill>
              </a:rPr>
              <a:t>Final review</a:t>
            </a:r>
            <a:endParaRPr lang="en-US" sz="1100" dirty="0"/>
          </a:p>
        </p:txBody>
      </p:sp>
      <p:sp>
        <p:nvSpPr>
          <p:cNvPr id="6" name="Text 3"/>
          <p:cNvSpPr/>
          <p:nvPr/>
        </p:nvSpPr>
        <p:spPr>
          <a:xfrm>
            <a:off x="9875520" y="9418320"/>
            <a:ext cx="7315200" cy="365760"/>
          </a:xfrm>
          <a:prstGeom prst="rect">
            <a:avLst/>
          </a:prstGeom>
          <a:noFill/>
          <a:ln/>
        </p:spPr>
        <p:txBody>
          <a:bodyPr wrap="square" lIns="0" tIns="0" rIns="0" bIns="0" rtlCol="0" anchor="ctr"/>
          <a:lstStyle/>
          <a:p>
            <a:pPr algn="r" indent="0" marL="0">
              <a:buNone/>
            </a:pPr>
            <a:r>
              <a:rPr lang="en-US" sz="1100" dirty="0">
                <a:solidFill>
                  <a:srgbClr val="222222"/>
                </a:solidFill>
              </a:rPr>
              <a:t>Department of Artificial Intelligence and Machine Learning</a:t>
            </a:r>
            <a:endParaRPr lang="en-US" sz="1100" dirty="0"/>
          </a:p>
        </p:txBody>
      </p:sp>
      <p:sp>
        <p:nvSpPr>
          <p:cNvPr id="7" name="Text 4"/>
          <p:cNvSpPr/>
          <p:nvPr>
            <p:ph idx="105" type="title" hasCustomPrompt="1"/>
          </p:nvPr>
        </p:nvSpPr>
        <p:spPr>
          <a:xfrm>
            <a:off x="1874520" y="566928"/>
            <a:ext cx="11795760" cy="1005840"/>
          </a:xfrm>
          <a:prstGeom prst="rect">
            <a:avLst/>
          </a:prstGeom>
          <a:noFill/>
          <a:ln/>
        </p:spPr>
        <p:txBody>
          <a:bodyPr wrap="square" rtlCol="0"/>
          <a:lstStyle>
            <a:lvl1pPr algn="l" indent="0" marL="0">
              <a:buNone/>
              <a:defRPr lang="en-US" sz="4000" b="1" dirty="0">
                <a:solidFill>
                  <a:srgbClr val="5B2D8F"/>
                </a:solidFill>
                <a:latin typeface="Arial" pitchFamily="34" charset="0"/>
                <a:ea typeface="Arial" pitchFamily="34" charset="-122"/>
                <a:cs typeface="Arial" pitchFamily="34" charset="-120"/>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4.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3.png"/><Relationship Id="rId9" Type="http://schemas.openxmlformats.org/officeDocument/2006/relationships/image" Target="../media/image-14-4.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2.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4" Type="http://schemas.openxmlformats.org/officeDocument/2006/relationships/chart" Target="/ppt/charts/chart3.xml"/><Relationship Id="rId5" Type="http://schemas.openxmlformats.org/officeDocument/2006/relationships/chart" Target="/ppt/charts/chart4.xml"/><Relationship Id="rId1" Type="http://schemas.openxmlformats.org/officeDocument/2006/relationships/image" Target="../media/image-16-1.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image" Target="../media/image-17-1.png"/><Relationship Id="rId7" Type="http://schemas.openxmlformats.org/officeDocument/2006/relationships/image" Target="../media/image-17-1.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F5D"/>
        </a:solidFill>
      </p:bgPr>
    </p:bg>
    <p:spTree>
      <p:nvGrpSpPr>
        <p:cNvPr id="1" name=""/>
        <p:cNvGrpSpPr/>
        <p:nvPr/>
      </p:nvGrpSpPr>
      <p:grpSpPr>
        <a:xfrm>
          <a:off x="0" y="0"/>
          <a:ext cx="0" cy="0"/>
          <a:chOff x="0" y="0"/>
          <a:chExt cx="0" cy="0"/>
        </a:xfrm>
      </p:grpSpPr>
      <p:sp>
        <p:nvSpPr>
          <p:cNvPr id="2" name="Yellow side"/>
          <p:cNvSpPr/>
          <p:nvPr/>
        </p:nvSpPr>
        <p:spPr>
          <a:xfrm>
            <a:off x="12042648" y="0"/>
            <a:ext cx="6245352" cy="10287000"/>
          </a:xfrm>
          <a:prstGeom prst="rect">
            <a:avLst/>
          </a:prstGeom>
          <a:solidFill>
            <a:srgbClr val="F5C519"/>
          </a:solidFill>
          <a:ln w="12700">
            <a:solidFill>
              <a:srgbClr val="F5C519"/>
            </a:solidFill>
            <a:prstDash val="solid"/>
          </a:ln>
        </p:spPr>
      </p:sp>
      <p:sp>
        <p:nvSpPr>
          <p:cNvPr id="3" name="Logo card"/>
          <p:cNvSpPr/>
          <p:nvPr/>
        </p:nvSpPr>
        <p:spPr>
          <a:xfrm>
            <a:off x="758952" y="393192"/>
            <a:ext cx="4114800" cy="1627632"/>
          </a:xfrm>
          <a:prstGeom prst="roundRect">
            <a:avLst>
              <a:gd name="adj" fmla="val 6742"/>
            </a:avLst>
          </a:prstGeom>
          <a:solidFill>
            <a:srgbClr val="FFFFFF"/>
          </a:solidFill>
          <a:ln w="12700">
            <a:solidFill>
              <a:srgbClr val="FFFFFF"/>
            </a:solidFill>
            <a:prstDash val="solid"/>
          </a:ln>
        </p:spPr>
      </p:sp>
      <p:pic>
        <p:nvPicPr>
          <p:cNvPr id="4" name="Image 0" descr="/home/claude/ppt2/assets/rec_logo.png">    </p:cNvPr>
          <p:cNvPicPr>
            <a:picLocks noChangeAspect="1"/>
          </p:cNvPicPr>
          <p:nvPr/>
        </p:nvPicPr>
        <p:blipFill>
          <a:blip r:embed="rId1"/>
          <a:stretch>
            <a:fillRect/>
          </a:stretch>
        </p:blipFill>
        <p:spPr>
          <a:xfrm>
            <a:off x="960120" y="530352"/>
            <a:ext cx="3611880" cy="1335024"/>
          </a:xfrm>
          <a:prstGeom prst="rect">
            <a:avLst/>
          </a:prstGeom>
        </p:spPr>
      </p:pic>
      <p:sp>
        <p:nvSpPr>
          <p:cNvPr id="5" name="Department"/>
          <p:cNvSpPr/>
          <p:nvPr/>
        </p:nvSpPr>
        <p:spPr>
          <a:xfrm>
            <a:off x="758952" y="2606040"/>
            <a:ext cx="10972800" cy="411480"/>
          </a:xfrm>
          <a:prstGeom prst="rect">
            <a:avLst/>
          </a:prstGeom>
          <a:noFill/>
          <a:ln/>
        </p:spPr>
        <p:txBody>
          <a:bodyPr wrap="square" lIns="0" tIns="0" rIns="0" bIns="0" rtlCol="0" anchor="t"/>
          <a:lstStyle/>
          <a:p>
            <a:pPr algn="l" indent="0" marL="0">
              <a:lnSpc>
                <a:spcPct val="110000"/>
              </a:lnSpc>
              <a:buNone/>
            </a:pPr>
            <a:r>
              <a:rPr lang="en-US" sz="1700" b="1" spc="100" kern="0" dirty="0">
                <a:solidFill>
                  <a:srgbClr val="F5C519"/>
                </a:solidFill>
                <a:latin typeface="Arial" pitchFamily="34" charset="0"/>
                <a:ea typeface="Arial" pitchFamily="34" charset="-122"/>
                <a:cs typeface="Arial" pitchFamily="34" charset="-120"/>
              </a:rPr>
              <a:t>DEPARTMENT OF ARTIFICIAL INTELLIGENCE AND MACHINE LEARNING</a:t>
            </a:r>
            <a:endParaRPr lang="en-US" sz="1700" dirty="0"/>
          </a:p>
        </p:txBody>
      </p:sp>
      <p:sp>
        <p:nvSpPr>
          <p:cNvPr id="6" name="Shape 3"/>
          <p:cNvSpPr/>
          <p:nvPr/>
        </p:nvSpPr>
        <p:spPr>
          <a:xfrm>
            <a:off x="758952" y="3291840"/>
            <a:ext cx="1307592" cy="73152"/>
          </a:xfrm>
          <a:prstGeom prst="rect">
            <a:avLst/>
          </a:prstGeom>
          <a:solidFill>
            <a:srgbClr val="F5C519"/>
          </a:solidFill>
          <a:ln w="12700">
            <a:solidFill>
              <a:srgbClr val="F5C519"/>
            </a:solidFill>
            <a:prstDash val="solid"/>
          </a:ln>
        </p:spPr>
      </p:sp>
      <p:sp>
        <p:nvSpPr>
          <p:cNvPr id="7" name="Project title"/>
          <p:cNvSpPr/>
          <p:nvPr/>
        </p:nvSpPr>
        <p:spPr>
          <a:xfrm>
            <a:off x="758952" y="3611880"/>
            <a:ext cx="10881360" cy="2194560"/>
          </a:xfrm>
          <a:prstGeom prst="rect">
            <a:avLst/>
          </a:prstGeom>
          <a:noFill/>
          <a:ln/>
        </p:spPr>
        <p:txBody>
          <a:bodyPr wrap="square" lIns="0" tIns="0" rIns="0" bIns="0" rtlCol="0" anchor="t"/>
          <a:lstStyle/>
          <a:p>
            <a:pPr indent="0" marL="0">
              <a:lnSpc>
                <a:spcPct val="115000"/>
              </a:lnSpc>
              <a:spcAft>
                <a:spcPts val="600"/>
              </a:spcAft>
              <a:buNone/>
            </a:pPr>
            <a:r>
              <a:rPr lang="en-US" sz="3400" b="1" dirty="0">
                <a:solidFill>
                  <a:srgbClr val="FFFFFF"/>
                </a:solidFill>
                <a:latin typeface="Arial" pitchFamily="34" charset="0"/>
                <a:ea typeface="Arial" pitchFamily="34" charset="-122"/>
                <a:cs typeface="Arial" pitchFamily="34" charset="-120"/>
              </a:rPr>
              <a:t>HEALTH PILOT: Agentic AI Health Coach</a:t>
            </a:r>
            <a:endParaRPr lang="en-US" sz="3400" dirty="0"/>
          </a:p>
          <a:p>
            <a:pPr indent="0" marL="0">
              <a:lnSpc>
                <a:spcPct val="115000"/>
              </a:lnSpc>
              <a:spcAft>
                <a:spcPts val="600"/>
              </a:spcAft>
              <a:buNone/>
            </a:pPr>
            <a:r>
              <a:rPr lang="en-US" sz="2100" dirty="0">
                <a:solidFill>
                  <a:srgbClr val="FFFFFF"/>
                </a:solidFill>
                <a:latin typeface="Arial" pitchFamily="34" charset="0"/>
                <a:ea typeface="Arial" pitchFamily="34" charset="-122"/>
                <a:cs typeface="Arial" pitchFamily="34" charset="-120"/>
              </a:rPr>
              <a:t>A LangGraph multi-agent system for personalised, safe and adaptive wellness coaching</a:t>
            </a:r>
            <a:endParaRPr lang="en-US" sz="3400" dirty="0"/>
          </a:p>
        </p:txBody>
      </p:sp>
      <p:sp>
        <p:nvSpPr>
          <p:cNvPr id="8" name="Team box"/>
          <p:cNvSpPr/>
          <p:nvPr/>
        </p:nvSpPr>
        <p:spPr>
          <a:xfrm>
            <a:off x="804672" y="6172200"/>
            <a:ext cx="7680960" cy="2834640"/>
          </a:xfrm>
          <a:prstGeom prst="roundRect">
            <a:avLst>
              <a:gd name="adj" fmla="val 3871"/>
            </a:avLst>
          </a:prstGeom>
          <a:solidFill>
            <a:srgbClr val="4A2771"/>
          </a:solidFill>
          <a:ln w="15875">
            <a:solidFill>
              <a:srgbClr val="F5C519"/>
            </a:solidFill>
            <a:prstDash val="solid"/>
          </a:ln>
        </p:spPr>
      </p:sp>
      <p:sp>
        <p:nvSpPr>
          <p:cNvPr id="9" name="Text 6"/>
          <p:cNvSpPr/>
          <p:nvPr/>
        </p:nvSpPr>
        <p:spPr>
          <a:xfrm>
            <a:off x="1051560" y="6382512"/>
            <a:ext cx="5486400" cy="411480"/>
          </a:xfrm>
          <a:prstGeom prst="rect">
            <a:avLst/>
          </a:prstGeom>
          <a:noFill/>
          <a:ln/>
        </p:spPr>
        <p:txBody>
          <a:bodyPr wrap="square" lIns="0" tIns="0" rIns="0" bIns="0" rtlCol="0" anchor="t"/>
          <a:lstStyle/>
          <a:p>
            <a:pPr algn="l" indent="0" marL="0">
              <a:lnSpc>
                <a:spcPct val="110000"/>
              </a:lnSpc>
              <a:buNone/>
            </a:pPr>
            <a:r>
              <a:rPr lang="en-US" sz="1800" b="1" spc="100" kern="0" dirty="0">
                <a:solidFill>
                  <a:srgbClr val="F5C519"/>
                </a:solidFill>
                <a:latin typeface="Arial" pitchFamily="34" charset="0"/>
                <a:ea typeface="Arial" pitchFamily="34" charset="-122"/>
                <a:cs typeface="Arial" pitchFamily="34" charset="-120"/>
              </a:rPr>
              <a:t>Team Members</a:t>
            </a:r>
            <a:endParaRPr lang="en-US" sz="1800" dirty="0"/>
          </a:p>
        </p:txBody>
      </p:sp>
      <p:sp>
        <p:nvSpPr>
          <p:cNvPr id="10" name="Team names"/>
          <p:cNvSpPr/>
          <p:nvPr/>
        </p:nvSpPr>
        <p:spPr>
          <a:xfrm>
            <a:off x="1280160" y="6903720"/>
            <a:ext cx="6949440" cy="1828800"/>
          </a:xfrm>
          <a:prstGeom prst="rect">
            <a:avLst/>
          </a:prstGeom>
          <a:noFill/>
          <a:ln/>
        </p:spPr>
        <p:txBody>
          <a:bodyPr wrap="square" lIns="0" tIns="0" rIns="0" bIns="0" rtlCol="0" anchor="t"/>
          <a:lstStyle/>
          <a:p>
            <a:pPr algn="l" indent="0" marL="0">
              <a:lnSpc>
                <a:spcPct val="130000"/>
              </a:lnSpc>
              <a:buNone/>
            </a:pPr>
            <a:r>
              <a:rPr lang="en-US" sz="2200" dirty="0">
                <a:solidFill>
                  <a:srgbClr val="FFFFFF"/>
                </a:solidFill>
                <a:latin typeface="Arial" pitchFamily="34" charset="0"/>
                <a:ea typeface="Arial" pitchFamily="34" charset="-122"/>
                <a:cs typeface="Arial" pitchFamily="34" charset="-120"/>
              </a:rPr>
              <a:t>RUBARAJAN R (231501138)</a:t>
            </a:r>
            <a:endParaRPr lang="en-US" sz="2200" dirty="0"/>
          </a:p>
          <a:p>
            <a:pPr algn="l" indent="0" marL="0">
              <a:lnSpc>
                <a:spcPct val="130000"/>
              </a:lnSpc>
              <a:buNone/>
            </a:pPr>
            <a:r>
              <a:rPr lang="en-US" sz="2200" dirty="0">
                <a:solidFill>
                  <a:srgbClr val="FFFFFF"/>
                </a:solidFill>
                <a:latin typeface="Arial" pitchFamily="34" charset="0"/>
                <a:ea typeface="Arial" pitchFamily="34" charset="-122"/>
                <a:cs typeface="Arial" pitchFamily="34" charset="-120"/>
              </a:rPr>
              <a:t>SARVEESH B (231501148)</a:t>
            </a:r>
            <a:endParaRPr lang="en-US" sz="2200" dirty="0"/>
          </a:p>
          <a:p>
            <a:pPr algn="l" indent="0" marL="0">
              <a:lnSpc>
                <a:spcPct val="130000"/>
              </a:lnSpc>
              <a:buNone/>
            </a:pPr>
            <a:r>
              <a:rPr lang="en-US" sz="2200" dirty="0">
                <a:solidFill>
                  <a:srgbClr val="FFFFFF"/>
                </a:solidFill>
                <a:latin typeface="Arial" pitchFamily="34" charset="0"/>
                <a:ea typeface="Arial" pitchFamily="34" charset="-122"/>
                <a:cs typeface="Arial" pitchFamily="34" charset="-120"/>
              </a:rPr>
              <a:t>TRISHANTH D P J (231501175)</a:t>
            </a:r>
            <a:endParaRPr lang="en-US" sz="2200" dirty="0"/>
          </a:p>
        </p:txBody>
      </p:sp>
      <p:sp>
        <p:nvSpPr>
          <p:cNvPr id="11" name="Submitted to"/>
          <p:cNvSpPr/>
          <p:nvPr/>
        </p:nvSpPr>
        <p:spPr>
          <a:xfrm>
            <a:off x="804672" y="9372600"/>
            <a:ext cx="10972800" cy="411480"/>
          </a:xfrm>
          <a:prstGeom prst="rect">
            <a:avLst/>
          </a:prstGeom>
          <a:noFill/>
          <a:ln/>
        </p:spPr>
        <p:txBody>
          <a:bodyPr wrap="square" lIns="0" tIns="0" rIns="0" bIns="0" rtlCol="0" anchor="t"/>
          <a:lstStyle/>
          <a:p>
            <a:pPr algn="l" indent="0" marL="0">
              <a:lnSpc>
                <a:spcPct val="110000"/>
              </a:lnSpc>
              <a:buNone/>
            </a:pPr>
            <a:r>
              <a:rPr lang="en-US" sz="1400" dirty="0">
                <a:solidFill>
                  <a:srgbClr val="D9CDEA"/>
                </a:solidFill>
                <a:latin typeface="Arial" pitchFamily="34" charset="0"/>
                <a:ea typeface="Arial" pitchFamily="34" charset="-122"/>
                <a:cs typeface="Arial" pitchFamily="34" charset="-120"/>
              </a:rPr>
              <a:t>Submitted to: Dr. M. Soundarya, Professor, Department of AI&amp;ML, Rajalakshmi Engineering College</a:t>
            </a:r>
            <a:endParaRPr lang="en-US" sz="1400" dirty="0"/>
          </a:p>
        </p:txBody>
      </p:sp>
      <p:sp>
        <p:nvSpPr>
          <p:cNvPr id="12" name="Screenshot frame"/>
          <p:cNvSpPr/>
          <p:nvPr/>
        </p:nvSpPr>
        <p:spPr>
          <a:xfrm>
            <a:off x="12847320" y="274320"/>
            <a:ext cx="5212080" cy="9738360"/>
          </a:xfrm>
          <a:prstGeom prst="rect">
            <a:avLst/>
          </a:prstGeom>
          <a:solidFill>
            <a:srgbClr val="FFFFFF"/>
          </a:solidFill>
          <a:ln w="12700">
            <a:solidFill>
              <a:srgbClr val="FFFFFF"/>
            </a:solidFill>
            <a:prstDash val="solid"/>
          </a:ln>
        </p:spPr>
      </p:sp>
      <p:pic>
        <p:nvPicPr>
          <p:cNvPr id="13" name="Image 1" descr="/home/claude/ppt2/assets/dashboard.jpg">    </p:cNvPr>
          <p:cNvPicPr>
            <a:picLocks noChangeAspect="1"/>
          </p:cNvPicPr>
          <p:nvPr/>
        </p:nvPicPr>
        <p:blipFill>
          <a:blip r:embed="rId2"/>
          <a:stretch>
            <a:fillRect/>
          </a:stretch>
        </p:blipFill>
        <p:spPr>
          <a:xfrm>
            <a:off x="12984480" y="393192"/>
            <a:ext cx="4937760" cy="2962656"/>
          </a:xfrm>
          <a:prstGeom prst="rect">
            <a:avLst/>
          </a:prstGeom>
        </p:spPr>
      </p:pic>
      <p:pic>
        <p:nvPicPr>
          <p:cNvPr id="14" name="Image 2" descr="/home/claude/ppt2/assets/chat.jpg">    </p:cNvPr>
          <p:cNvPicPr>
            <a:picLocks noChangeAspect="1"/>
          </p:cNvPicPr>
          <p:nvPr/>
        </p:nvPicPr>
        <p:blipFill>
          <a:blip r:embed="rId3"/>
          <a:stretch>
            <a:fillRect/>
          </a:stretch>
        </p:blipFill>
        <p:spPr>
          <a:xfrm>
            <a:off x="12984480" y="3493008"/>
            <a:ext cx="4937760" cy="1864941"/>
          </a:xfrm>
          <a:prstGeom prst="rect">
            <a:avLst/>
          </a:prstGeom>
        </p:spPr>
      </p:pic>
      <p:pic>
        <p:nvPicPr>
          <p:cNvPr id="15" name="Image 3" descr="/home/claude/ppt2/assets/dietplan.jpg">    </p:cNvPr>
          <p:cNvPicPr>
            <a:picLocks noChangeAspect="1"/>
          </p:cNvPicPr>
          <p:nvPr/>
        </p:nvPicPr>
        <p:blipFill>
          <a:blip r:embed="rId4"/>
          <a:stretch>
            <a:fillRect/>
          </a:stretch>
        </p:blipFill>
        <p:spPr>
          <a:xfrm>
            <a:off x="12984480" y="5495109"/>
            <a:ext cx="4937760" cy="2401776"/>
          </a:xfrm>
          <a:prstGeom prst="rect">
            <a:avLst/>
          </a:prstGeom>
        </p:spPr>
      </p:pic>
      <p:pic>
        <p:nvPicPr>
          <p:cNvPr id="16" name="Image 4" descr="/home/claude/ppt2/assets/weekly.jpg">    </p:cNvPr>
          <p:cNvPicPr>
            <a:picLocks noChangeAspect="1"/>
          </p:cNvPicPr>
          <p:nvPr/>
        </p:nvPicPr>
        <p:blipFill>
          <a:blip r:embed="rId5"/>
          <a:stretch>
            <a:fillRect/>
          </a:stretch>
        </p:blipFill>
        <p:spPr>
          <a:xfrm>
            <a:off x="12984480" y="8034045"/>
            <a:ext cx="4937760" cy="22116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Problem Statement</a:t>
            </a:r>
            <a:endParaRPr lang="en-US" sz="4000" dirty="0"/>
          </a:p>
        </p:txBody>
      </p:sp>
      <p:sp>
        <p:nvSpPr>
          <p:cNvPr id="5" name="Panel"/>
          <p:cNvSpPr/>
          <p:nvPr/>
        </p:nvSpPr>
        <p:spPr>
          <a:xfrm>
            <a:off x="914400" y="2240280"/>
            <a:ext cx="16459200" cy="6720840"/>
          </a:xfrm>
          <a:prstGeom prst="roundRect">
            <a:avLst>
              <a:gd name="adj" fmla="val 1633"/>
            </a:avLst>
          </a:prstGeom>
          <a:solidFill>
            <a:srgbClr val="F4F1F8"/>
          </a:solidFill>
          <a:ln w="12700">
            <a:solidFill>
              <a:srgbClr val="E2DCEB"/>
            </a:solidFill>
            <a:prstDash val="solid"/>
          </a:ln>
        </p:spPr>
      </p:sp>
      <p:sp>
        <p:nvSpPr>
          <p:cNvPr id="6" name="Text 4"/>
          <p:cNvSpPr/>
          <p:nvPr/>
        </p:nvSpPr>
        <p:spPr>
          <a:xfrm>
            <a:off x="1417320" y="2560320"/>
            <a:ext cx="7315200" cy="411480"/>
          </a:xfrm>
          <a:prstGeom prst="rect">
            <a:avLst/>
          </a:prstGeom>
          <a:noFill/>
          <a:ln/>
        </p:spPr>
        <p:txBody>
          <a:bodyPr wrap="square" lIns="0" tIns="0" rIns="0" bIns="0" rtlCol="0" anchor="t"/>
          <a:lstStyle/>
          <a:p>
            <a:pPr algn="l" indent="0" marL="0">
              <a:lnSpc>
                <a:spcPct val="110000"/>
              </a:lnSpc>
              <a:buNone/>
            </a:pPr>
            <a:r>
              <a:rPr lang="en-US" sz="2300" b="1" dirty="0">
                <a:solidFill>
                  <a:srgbClr val="5B2D8F"/>
                </a:solidFill>
                <a:latin typeface="Arial" pitchFamily="34" charset="0"/>
                <a:ea typeface="Arial" pitchFamily="34" charset="-122"/>
                <a:cs typeface="Arial" pitchFamily="34" charset="-120"/>
              </a:rPr>
              <a:t>Problem Definition</a:t>
            </a:r>
            <a:endParaRPr lang="en-US" sz="2300" dirty="0"/>
          </a:p>
        </p:txBody>
      </p:sp>
      <p:sp>
        <p:nvSpPr>
          <p:cNvPr id="7" name="Text 5"/>
          <p:cNvSpPr/>
          <p:nvPr/>
        </p:nvSpPr>
        <p:spPr>
          <a:xfrm>
            <a:off x="1463040" y="3200400"/>
            <a:ext cx="7589520" cy="5669280"/>
          </a:xfrm>
          <a:prstGeom prst="rect">
            <a:avLst/>
          </a:prstGeom>
          <a:noFill/>
          <a:ln/>
        </p:spPr>
        <p:txBody>
          <a:bodyPr wrap="square" lIns="0" tIns="0" rIns="0" bIns="0" rtlCol="0" anchor="t"/>
          <a:lstStyle/>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Wellness spans sleep, diet, exercise and mental health, but apps treat them as separate silos.</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Advice is generic: it ignores diet type, medical conditions, mood and recent habits.</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Plans stay fixed when life changes — exams, short nights, pain or stress.</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Stand-alone chatbots can invent facts, contradict themselves or sound like a diagnosis.</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Plans are changed without any safety check or the user's approval.</a:t>
            </a:r>
            <a:endParaRPr lang="en-US" sz="2100" dirty="0"/>
          </a:p>
        </p:txBody>
      </p:sp>
      <p:sp>
        <p:nvSpPr>
          <p:cNvPr id="8" name="Text 6"/>
          <p:cNvSpPr/>
          <p:nvPr/>
        </p:nvSpPr>
        <p:spPr>
          <a:xfrm>
            <a:off x="9692640" y="2560320"/>
            <a:ext cx="7315200" cy="411480"/>
          </a:xfrm>
          <a:prstGeom prst="rect">
            <a:avLst/>
          </a:prstGeom>
          <a:noFill/>
          <a:ln/>
        </p:spPr>
        <p:txBody>
          <a:bodyPr wrap="square" lIns="0" tIns="0" rIns="0" bIns="0" rtlCol="0" anchor="t"/>
          <a:lstStyle/>
          <a:p>
            <a:pPr algn="l" indent="0" marL="0">
              <a:lnSpc>
                <a:spcPct val="110000"/>
              </a:lnSpc>
              <a:buNone/>
            </a:pPr>
            <a:r>
              <a:rPr lang="en-US" sz="2300" b="1" dirty="0">
                <a:solidFill>
                  <a:srgbClr val="5B2D8F"/>
                </a:solidFill>
                <a:latin typeface="Arial" pitchFamily="34" charset="0"/>
                <a:ea typeface="Arial" pitchFamily="34" charset="-122"/>
                <a:cs typeface="Arial" pitchFamily="34" charset="-120"/>
              </a:rPr>
              <a:t>Business / Real-World Context</a:t>
            </a:r>
            <a:endParaRPr lang="en-US" sz="2300" dirty="0"/>
          </a:p>
        </p:txBody>
      </p:sp>
      <p:sp>
        <p:nvSpPr>
          <p:cNvPr id="9" name="Text 7"/>
          <p:cNvSpPr/>
          <p:nvPr/>
        </p:nvSpPr>
        <p:spPr>
          <a:xfrm>
            <a:off x="9738360" y="3200400"/>
            <a:ext cx="7223760" cy="5669280"/>
          </a:xfrm>
          <a:prstGeom prst="rect">
            <a:avLst/>
          </a:prstGeom>
          <a:noFill/>
          <a:ln/>
        </p:spPr>
        <p:txBody>
          <a:bodyPr wrap="square" lIns="0" tIns="0" rIns="0" bIns="0" rtlCol="0" anchor="t"/>
          <a:lstStyle/>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Individuals – one coach for sleep, food, fitness and stress</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Students – exam stress, irregular sleep and meals</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Fitness centres and coaches – personalised plans at scale</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Corporate and college wellness programmes – private, scalable support</a:t>
            </a:r>
            <a:endParaRPr lang="en-US" sz="2100" dirty="0"/>
          </a:p>
          <a:p>
            <a:pPr marL="228600" indent="-228600">
              <a:lnSpc>
                <a:spcPct val="105000"/>
              </a:lnSpc>
              <a:spcAft>
                <a:spcPts val="1600"/>
              </a:spcAft>
              <a:buSzPct val="100000"/>
              <a:buChar char="•"/>
            </a:pPr>
            <a:r>
              <a:rPr lang="en-US" sz="2100" dirty="0">
                <a:solidFill>
                  <a:srgbClr val="222222"/>
                </a:solidFill>
                <a:latin typeface="Arial" pitchFamily="34" charset="0"/>
                <a:ea typeface="Arial" pitchFamily="34" charset="-122"/>
                <a:cs typeface="Arial" pitchFamily="34" charset="-120"/>
              </a:rPr>
              <a:t>Digital-health providers – safe, explainable AI guidance</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2</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User and Stakeholder Analysis</a:t>
            </a:r>
            <a:endParaRPr lang="en-US" sz="4000" dirty="0"/>
          </a:p>
        </p:txBody>
      </p:sp>
      <p:sp>
        <p:nvSpPr>
          <p:cNvPr id="5" name="Panel"/>
          <p:cNvSpPr/>
          <p:nvPr/>
        </p:nvSpPr>
        <p:spPr>
          <a:xfrm>
            <a:off x="914400" y="2240280"/>
            <a:ext cx="16459200" cy="6720840"/>
          </a:xfrm>
          <a:prstGeom prst="roundRect">
            <a:avLst>
              <a:gd name="adj" fmla="val 1633"/>
            </a:avLst>
          </a:prstGeom>
          <a:solidFill>
            <a:srgbClr val="F4F1F8"/>
          </a:solidFill>
          <a:ln w="12700">
            <a:solidFill>
              <a:srgbClr val="E2DCEB"/>
            </a:solidFill>
            <a:prstDash val="solid"/>
          </a:ln>
        </p:spPr>
      </p:sp>
      <p:sp>
        <p:nvSpPr>
          <p:cNvPr id="6" name="Text 4"/>
          <p:cNvSpPr/>
          <p:nvPr/>
        </p:nvSpPr>
        <p:spPr>
          <a:xfrm>
            <a:off x="1280160" y="2514600"/>
            <a:ext cx="5303520" cy="411480"/>
          </a:xfrm>
          <a:prstGeom prst="rect">
            <a:avLst/>
          </a:prstGeom>
          <a:noFill/>
          <a:ln/>
        </p:spPr>
        <p:txBody>
          <a:bodyPr wrap="square" lIns="0" tIns="0" rIns="0" bIns="0" rtlCol="0" anchor="t"/>
          <a:lstStyle/>
          <a:p>
            <a:pPr algn="ctr" indent="0" marL="0">
              <a:lnSpc>
                <a:spcPct val="110000"/>
              </a:lnSpc>
              <a:buNone/>
            </a:pPr>
            <a:r>
              <a:rPr lang="en-US" sz="2200" b="1" dirty="0">
                <a:solidFill>
                  <a:srgbClr val="5B2D8F"/>
                </a:solidFill>
                <a:latin typeface="Arial" pitchFamily="34" charset="0"/>
                <a:ea typeface="Arial" pitchFamily="34" charset="-122"/>
                <a:cs typeface="Arial" pitchFamily="34" charset="-120"/>
              </a:rPr>
              <a:t>Target Users</a:t>
            </a:r>
            <a:endParaRPr lang="en-US" sz="2200" dirty="0"/>
          </a:p>
        </p:txBody>
      </p:sp>
      <p:sp>
        <p:nvSpPr>
          <p:cNvPr id="7" name="Target users card"/>
          <p:cNvSpPr/>
          <p:nvPr/>
        </p:nvSpPr>
        <p:spPr>
          <a:xfrm>
            <a:off x="1280160" y="3063240"/>
            <a:ext cx="5303520" cy="5486400"/>
          </a:xfrm>
          <a:prstGeom prst="roundRect">
            <a:avLst>
              <a:gd name="adj" fmla="val 1724"/>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8" name="Text 6"/>
          <p:cNvSpPr/>
          <p:nvPr/>
        </p:nvSpPr>
        <p:spPr>
          <a:xfrm>
            <a:off x="1600200" y="3337560"/>
            <a:ext cx="4800600" cy="512064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900" dirty="0">
                <a:solidFill>
                  <a:srgbClr val="222222"/>
                </a:solidFill>
                <a:latin typeface="Arial" pitchFamily="34" charset="0"/>
                <a:ea typeface="Arial" pitchFamily="34" charset="-122"/>
                <a:cs typeface="Arial" pitchFamily="34" charset="-120"/>
              </a:rPr>
              <a:t>General wellness users</a:t>
            </a:r>
            <a:endParaRPr lang="en-US" sz="1900" dirty="0"/>
          </a:p>
          <a:p>
            <a:pPr marL="228600" indent="-228600">
              <a:lnSpc>
                <a:spcPct val="105000"/>
              </a:lnSpc>
              <a:spcAft>
                <a:spcPts val="1400"/>
              </a:spcAft>
              <a:buSzPct val="100000"/>
              <a:buChar char="•"/>
            </a:pPr>
            <a:r>
              <a:rPr lang="en-US" sz="1900" dirty="0">
                <a:solidFill>
                  <a:srgbClr val="222222"/>
                </a:solidFill>
                <a:latin typeface="Arial" pitchFamily="34" charset="0"/>
                <a:ea typeface="Arial" pitchFamily="34" charset="-122"/>
                <a:cs typeface="Arial" pitchFamily="34" charset="-120"/>
              </a:rPr>
              <a:t>Students under exam stress</a:t>
            </a:r>
            <a:endParaRPr lang="en-US" sz="1900" dirty="0"/>
          </a:p>
          <a:p>
            <a:pPr marL="228600" indent="-228600">
              <a:lnSpc>
                <a:spcPct val="105000"/>
              </a:lnSpc>
              <a:spcAft>
                <a:spcPts val="1400"/>
              </a:spcAft>
              <a:buSzPct val="100000"/>
              <a:buChar char="•"/>
            </a:pPr>
            <a:r>
              <a:rPr lang="en-US" sz="1900" dirty="0">
                <a:solidFill>
                  <a:srgbClr val="222222"/>
                </a:solidFill>
                <a:latin typeface="Arial" pitchFamily="34" charset="0"/>
                <a:ea typeface="Arial" pitchFamily="34" charset="-122"/>
                <a:cs typeface="Arial" pitchFamily="34" charset="-120"/>
              </a:rPr>
              <a:t>Fitness-focused users</a:t>
            </a:r>
            <a:endParaRPr lang="en-US" sz="1900" dirty="0"/>
          </a:p>
          <a:p>
            <a:pPr marL="228600" indent="-228600">
              <a:lnSpc>
                <a:spcPct val="105000"/>
              </a:lnSpc>
              <a:spcAft>
                <a:spcPts val="1400"/>
              </a:spcAft>
              <a:buSzPct val="100000"/>
              <a:buChar char="•"/>
            </a:pPr>
            <a:r>
              <a:rPr lang="en-US" sz="1900" dirty="0">
                <a:solidFill>
                  <a:srgbClr val="222222"/>
                </a:solidFill>
                <a:latin typeface="Arial" pitchFamily="34" charset="0"/>
                <a:ea typeface="Arial" pitchFamily="34" charset="-122"/>
                <a:cs typeface="Arial" pitchFamily="34" charset="-120"/>
              </a:rPr>
              <a:t>Vegetarian / vegan users and food allergies</a:t>
            </a:r>
            <a:endParaRPr lang="en-US" sz="1900" dirty="0"/>
          </a:p>
          <a:p>
            <a:pPr marL="228600" indent="-228600">
              <a:lnSpc>
                <a:spcPct val="105000"/>
              </a:lnSpc>
              <a:spcAft>
                <a:spcPts val="1400"/>
              </a:spcAft>
              <a:buSzPct val="100000"/>
              <a:buChar char="•"/>
            </a:pPr>
            <a:r>
              <a:rPr lang="en-US" sz="1900" dirty="0">
                <a:solidFill>
                  <a:srgbClr val="222222"/>
                </a:solidFill>
                <a:latin typeface="Arial" pitchFamily="34" charset="0"/>
                <a:ea typeface="Arial" pitchFamily="34" charset="-122"/>
                <a:cs typeface="Arial" pitchFamily="34" charset="-120"/>
              </a:rPr>
              <a:t>Users with diabetes, BP, heart, asthma, knee or back problems</a:t>
            </a:r>
            <a:endParaRPr lang="en-US" sz="1900" dirty="0"/>
          </a:p>
          <a:p>
            <a:pPr marL="228600" indent="-228600">
              <a:lnSpc>
                <a:spcPct val="105000"/>
              </a:lnSpc>
              <a:spcAft>
                <a:spcPts val="1400"/>
              </a:spcAft>
              <a:buSzPct val="100000"/>
              <a:buChar char="•"/>
            </a:pPr>
            <a:r>
              <a:rPr lang="en-US" sz="1900" dirty="0">
                <a:solidFill>
                  <a:srgbClr val="222222"/>
                </a:solidFill>
                <a:latin typeface="Arial" pitchFamily="34" charset="0"/>
                <a:ea typeface="Arial" pitchFamily="34" charset="-122"/>
                <a:cs typeface="Arial" pitchFamily="34" charset="-120"/>
              </a:rPr>
              <a:t>The user as human reviewer of every plan change</a:t>
            </a:r>
            <a:endParaRPr lang="en-US" sz="1900" dirty="0"/>
          </a:p>
        </p:txBody>
      </p:sp>
      <p:sp>
        <p:nvSpPr>
          <p:cNvPr id="9" name="Text 7"/>
          <p:cNvSpPr/>
          <p:nvPr/>
        </p:nvSpPr>
        <p:spPr>
          <a:xfrm>
            <a:off x="7040880" y="2514600"/>
            <a:ext cx="9966960" cy="411480"/>
          </a:xfrm>
          <a:prstGeom prst="rect">
            <a:avLst/>
          </a:prstGeom>
          <a:noFill/>
          <a:ln/>
        </p:spPr>
        <p:txBody>
          <a:bodyPr wrap="square" lIns="0" tIns="0" rIns="0" bIns="0" rtlCol="0" anchor="t"/>
          <a:lstStyle/>
          <a:p>
            <a:pPr algn="ctr" indent="0" marL="0">
              <a:lnSpc>
                <a:spcPct val="110000"/>
              </a:lnSpc>
              <a:buNone/>
            </a:pPr>
            <a:r>
              <a:rPr lang="en-US" sz="2200" b="1" dirty="0">
                <a:solidFill>
                  <a:srgbClr val="5B2D8F"/>
                </a:solidFill>
                <a:latin typeface="Arial" pitchFamily="34" charset="0"/>
                <a:ea typeface="Arial" pitchFamily="34" charset="-122"/>
                <a:cs typeface="Arial" pitchFamily="34" charset="-120"/>
              </a:rPr>
              <a:t>Stakeholder Identification</a:t>
            </a:r>
            <a:endParaRPr lang="en-US" sz="2200" dirty="0"/>
          </a:p>
        </p:txBody>
      </p:sp>
      <p:graphicFrame>
        <p:nvGraphicFramePr>
          <p:cNvPr id="4" name="Stakeholder table"/>
          <p:cNvGraphicFramePr>
            <a:graphicFrameLocks noGrp="1"/>
          </p:cNvGraphicFramePr>
          <p:nvPr>
            <p:extLst>
              <p:ext uri="{D42A27DB-BD31-4B8C-83A1-F6EECF244321}">
                <p14:modId xmlns:p14="http://schemas.microsoft.com/office/powerpoint/2010/main" val="1579011935"/>
              </p:ext>
            </p:extLst>
          </p:nvPr>
        </p:nvGraphicFramePr>
        <p:xfrm>
          <a:off x="7040880" y="3063240"/>
          <a:ext cx="9966960" cy="914400"/>
        </p:xfrm>
        <a:graphic>
          <a:graphicData uri="http://schemas.openxmlformats.org/drawingml/2006/table">
            <a:tbl>
              <a:tblPr/>
              <a:tblGrid>
                <a:gridCol w="3657600"/>
                <a:gridCol w="6309360"/>
              </a:tblGrid>
              <a:tr h="896112">
                <a:tc>
                  <a:txBody>
                    <a:bodyPr/>
                    <a:lstStyle/>
                    <a:p>
                      <a:pPr indent="0" marL="0">
                        <a:buNone/>
                      </a:pPr>
                      <a:r>
                        <a:rPr lang="en-US" sz="1800" b="1" dirty="0">
                          <a:solidFill>
                            <a:srgbClr val="222222"/>
                          </a:solidFill>
                          <a:latin typeface="Arial" pitchFamily="34" charset="0"/>
                          <a:ea typeface="Arial" pitchFamily="34" charset="-122"/>
                          <a:cs typeface="Arial" pitchFamily="34" charset="-120"/>
                        </a:rPr>
                        <a:t>Stakeholder</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800" b="1" dirty="0">
                          <a:solidFill>
                            <a:srgbClr val="222222"/>
                          </a:solidFill>
                          <a:latin typeface="Arial" pitchFamily="34" charset="0"/>
                          <a:ea typeface="Arial" pitchFamily="34" charset="-122"/>
                          <a:cs typeface="Arial" pitchFamily="34" charset="-120"/>
                        </a:rPr>
                        <a:t>Main Need</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896112">
                <a:tc>
                  <a:txBody>
                    <a:bodyPr/>
                    <a:lstStyle/>
                    <a:p>
                      <a:pPr indent="0" marL="0">
                        <a:buNone/>
                      </a:pPr>
                      <a:r>
                        <a:rPr lang="en-US" sz="1800" dirty="0">
                          <a:solidFill>
                            <a:srgbClr val="222222"/>
                          </a:solidFill>
                          <a:latin typeface="Arial" pitchFamily="34" charset="0"/>
                          <a:ea typeface="Arial" pitchFamily="34" charset="-122"/>
                          <a:cs typeface="Arial" pitchFamily="34" charset="-120"/>
                        </a:rPr>
                        <a:t>Wellness user</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800" dirty="0">
                          <a:solidFill>
                            <a:srgbClr val="222222"/>
                          </a:solidFill>
                          <a:latin typeface="Arial" pitchFamily="34" charset="0"/>
                          <a:ea typeface="Arial" pitchFamily="34" charset="-122"/>
                          <a:cs typeface="Arial" pitchFamily="34" charset="-120"/>
                        </a:rPr>
                        <a:t>Personal, safe daily guidance on sleep, food, fitness and stress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896112">
                <a:tc>
                  <a:txBody>
                    <a:bodyPr/>
                    <a:lstStyle/>
                    <a:p>
                      <a:pPr indent="0" marL="0">
                        <a:buNone/>
                      </a:pPr>
                      <a:r>
                        <a:rPr lang="en-US" sz="1800" dirty="0">
                          <a:solidFill>
                            <a:srgbClr val="222222"/>
                          </a:solidFill>
                          <a:latin typeface="Arial" pitchFamily="34" charset="0"/>
                          <a:ea typeface="Arial" pitchFamily="34" charset="-122"/>
                          <a:cs typeface="Arial" pitchFamily="34" charset="-120"/>
                        </a:rPr>
                        <a:t>Users with medical conditions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800" dirty="0">
                          <a:solidFill>
                            <a:srgbClr val="222222"/>
                          </a:solidFill>
                          <a:latin typeface="Arial" pitchFamily="34" charset="0"/>
                          <a:ea typeface="Arial" pitchFamily="34" charset="-122"/>
                          <a:cs typeface="Arial" pitchFamily="34" charset="-120"/>
                        </a:rPr>
                        <a:t>Condition-aware diet and joint-safe exercise</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896112">
                <a:tc>
                  <a:txBody>
                    <a:bodyPr/>
                    <a:lstStyle/>
                    <a:p>
                      <a:pPr indent="0" marL="0">
                        <a:buNone/>
                      </a:pPr>
                      <a:r>
                        <a:rPr lang="en-US" sz="1800" dirty="0">
                          <a:solidFill>
                            <a:srgbClr val="222222"/>
                          </a:solidFill>
                          <a:latin typeface="Arial" pitchFamily="34" charset="0"/>
                          <a:ea typeface="Arial" pitchFamily="34" charset="-122"/>
                          <a:cs typeface="Arial" pitchFamily="34" charset="-120"/>
                        </a:rPr>
                        <a:t>Fitness / nutrition coaches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800" dirty="0">
                          <a:solidFill>
                            <a:srgbClr val="222222"/>
                          </a:solidFill>
                          <a:latin typeface="Arial" pitchFamily="34" charset="0"/>
                          <a:ea typeface="Arial" pitchFamily="34" charset="-122"/>
                          <a:cs typeface="Arial" pitchFamily="34" charset="-120"/>
                        </a:rPr>
                        <a:t>Plans that adapt to real behaviour and check-ins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896112">
                <a:tc>
                  <a:txBody>
                    <a:bodyPr/>
                    <a:lstStyle/>
                    <a:p>
                      <a:pPr indent="0" marL="0">
                        <a:buNone/>
                      </a:pPr>
                      <a:r>
                        <a:rPr lang="en-US" sz="1800" dirty="0">
                          <a:solidFill>
                            <a:srgbClr val="222222"/>
                          </a:solidFill>
                          <a:latin typeface="Arial" pitchFamily="34" charset="0"/>
                          <a:ea typeface="Arial" pitchFamily="34" charset="-122"/>
                          <a:cs typeface="Arial" pitchFamily="34" charset="-120"/>
                        </a:rPr>
                        <a:t>Colleges and companies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800" dirty="0">
                          <a:solidFill>
                            <a:srgbClr val="222222"/>
                          </a:solidFill>
                          <a:latin typeface="Arial" pitchFamily="34" charset="0"/>
                          <a:ea typeface="Arial" pitchFamily="34" charset="-122"/>
                          <a:cs typeface="Arial" pitchFamily="34" charset="-120"/>
                        </a:rPr>
                        <a:t>Scalable, private wellness support for many users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r h="896112">
                <a:tc>
                  <a:txBody>
                    <a:bodyPr/>
                    <a:lstStyle/>
                    <a:p>
                      <a:pPr indent="0" marL="0">
                        <a:buNone/>
                      </a:pPr>
                      <a:r>
                        <a:rPr lang="en-US" sz="1800" dirty="0">
                          <a:solidFill>
                            <a:srgbClr val="222222"/>
                          </a:solidFill>
                          <a:latin typeface="Arial" pitchFamily="34" charset="0"/>
                          <a:ea typeface="Arial" pitchFamily="34" charset="-122"/>
                          <a:cs typeface="Arial" pitchFamily="34" charset="-120"/>
                        </a:rPr>
                        <a:t>Project team / administrators</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800" dirty="0">
                          <a:solidFill>
                            <a:srgbClr val="222222"/>
                          </a:solidFill>
                          <a:latin typeface="Arial" pitchFamily="34" charset="0"/>
                          <a:ea typeface="Arial" pitchFamily="34" charset="-122"/>
                          <a:cs typeface="Arial" pitchFamily="34" charset="-120"/>
                        </a:rPr>
                        <a:t>Maintainable, traceable and testable agent workflow</a:t>
                      </a:r>
                      <a:endParaRPr lang="en-US" sz="1800" dirty="0">
                        <a:latin typeface="Arial" charset="0"/>
                        <a:ea typeface="Arial" charset="0"/>
                        <a:cs typeface="Arial" charset="0"/>
                      </a:endParaRPr>
                    </a:p>
                  </a:txBody>
                  <a:tcPr marL="127000" marR="127000" marT="50800" marB="50800" anchor="ctr">
                    <a:lnL w="19050" cap="flat" cmpd="sng" algn="ctr">
                      <a:solidFill>
                        <a:srgbClr val="111111"/>
                      </a:solidFill>
                      <a:prstDash val="solid"/>
                      <a:round/>
                      <a:headEnd type="none" w="med" len="med"/>
                      <a:tailEnd type="none" w="med" len="med"/>
                    </a:lnL>
                    <a:lnR w="19050" cap="flat" cmpd="sng" algn="ctr">
                      <a:solidFill>
                        <a:srgbClr val="111111"/>
                      </a:solidFill>
                      <a:prstDash val="solid"/>
                      <a:round/>
                      <a:headEnd type="none" w="med" len="med"/>
                      <a:tailEnd type="none" w="med" len="med"/>
                    </a:lnR>
                    <a:lnT w="19050" cap="flat" cmpd="sng" algn="ctr">
                      <a:solidFill>
                        <a:srgbClr val="111111"/>
                      </a:solidFill>
                      <a:prstDash val="solid"/>
                      <a:round/>
                      <a:headEnd type="none" w="med" len="med"/>
                      <a:tailEnd type="none" w="med" len="med"/>
                    </a:lnT>
                    <a:lnB w="19050" cap="flat" cmpd="sng" algn="ctr">
                      <a:solidFill>
                        <a:srgbClr val="11111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3</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Proposed System: Agent Pipeline</a:t>
            </a:r>
            <a:endParaRPr lang="en-US" sz="4000" dirty="0"/>
          </a:p>
        </p:txBody>
      </p:sp>
      <p:sp>
        <p:nvSpPr>
          <p:cNvPr id="5" name="Panel"/>
          <p:cNvSpPr/>
          <p:nvPr/>
        </p:nvSpPr>
        <p:spPr>
          <a:xfrm>
            <a:off x="914400" y="2240280"/>
            <a:ext cx="16459200" cy="6720840"/>
          </a:xfrm>
          <a:prstGeom prst="roundRect">
            <a:avLst>
              <a:gd name="adj" fmla="val 1633"/>
            </a:avLst>
          </a:prstGeom>
          <a:solidFill>
            <a:srgbClr val="F4F1F8"/>
          </a:solidFill>
          <a:ln w="12700">
            <a:solidFill>
              <a:srgbClr val="E2DCEB"/>
            </a:solidFill>
            <a:prstDash val="solid"/>
          </a:ln>
        </p:spPr>
      </p:sp>
      <p:sp>
        <p:nvSpPr>
          <p:cNvPr id="6" name="Text 4"/>
          <p:cNvSpPr/>
          <p:nvPr/>
        </p:nvSpPr>
        <p:spPr>
          <a:xfrm>
            <a:off x="1325880" y="2450592"/>
            <a:ext cx="15544800" cy="45720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Turns a user's message, or a week of logged data, into safe, personalised and approved advice through a multi-agent workflow.</a:t>
            </a:r>
            <a:endParaRPr lang="en-US" sz="1800" dirty="0"/>
          </a:p>
        </p:txBody>
      </p:sp>
      <p:sp>
        <p:nvSpPr>
          <p:cNvPr id="7" name="Step 1"/>
          <p:cNvSpPr/>
          <p:nvPr/>
        </p:nvSpPr>
        <p:spPr>
          <a:xfrm>
            <a:off x="1325880" y="3063240"/>
            <a:ext cx="4983480" cy="2606040"/>
          </a:xfrm>
          <a:prstGeom prst="roundRect">
            <a:avLst>
              <a:gd name="adj" fmla="val 350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8" name="Shape 6"/>
          <p:cNvSpPr/>
          <p:nvPr/>
        </p:nvSpPr>
        <p:spPr>
          <a:xfrm>
            <a:off x="1554480" y="3319272"/>
            <a:ext cx="438912" cy="438912"/>
          </a:xfrm>
          <a:prstGeom prst="ellipse">
            <a:avLst/>
          </a:prstGeom>
          <a:solidFill>
            <a:srgbClr val="F5C519"/>
          </a:solidFill>
          <a:ln w="12700">
            <a:solidFill>
              <a:srgbClr val="F5C519"/>
            </a:solidFill>
            <a:prstDash val="solid"/>
          </a:ln>
        </p:spPr>
      </p:sp>
      <p:sp>
        <p:nvSpPr>
          <p:cNvPr id="9" name="Text 7"/>
          <p:cNvSpPr/>
          <p:nvPr/>
        </p:nvSpPr>
        <p:spPr>
          <a:xfrm>
            <a:off x="1554480" y="3319272"/>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1</a:t>
            </a:r>
            <a:endParaRPr lang="en-US" sz="1200" dirty="0"/>
          </a:p>
        </p:txBody>
      </p:sp>
      <p:sp>
        <p:nvSpPr>
          <p:cNvPr id="10" name="Text 8"/>
          <p:cNvSpPr/>
          <p:nvPr/>
        </p:nvSpPr>
        <p:spPr>
          <a:xfrm>
            <a:off x="2148840" y="3310128"/>
            <a:ext cx="4023360" cy="457200"/>
          </a:xfrm>
          <a:prstGeom prst="rect">
            <a:avLst/>
          </a:prstGeom>
          <a:noFill/>
          <a:ln/>
        </p:spPr>
        <p:txBody>
          <a:bodyPr wrap="square" lIns="0" tIns="0" rIns="0" bIns="0" rtlCol="0" anchor="ctr"/>
          <a:lstStyle/>
          <a:p>
            <a:pPr algn="l" indent="0" marL="0">
              <a:lnSpc>
                <a:spcPct val="110000"/>
              </a:lnSpc>
              <a:buNone/>
            </a:pPr>
            <a:r>
              <a:rPr lang="en-US" sz="2200" b="1" dirty="0">
                <a:solidFill>
                  <a:srgbClr val="5B2D8F"/>
                </a:solidFill>
                <a:latin typeface="Arial" pitchFamily="34" charset="0"/>
                <a:ea typeface="Arial" pitchFamily="34" charset="-122"/>
                <a:cs typeface="Arial" pitchFamily="34" charset="-120"/>
              </a:rPr>
              <a:t>Message + Memory</a:t>
            </a:r>
            <a:endParaRPr lang="en-US" sz="2200" dirty="0"/>
          </a:p>
        </p:txBody>
      </p:sp>
      <p:sp>
        <p:nvSpPr>
          <p:cNvPr id="11" name="Text 9"/>
          <p:cNvSpPr/>
          <p:nvPr/>
        </p:nvSpPr>
        <p:spPr>
          <a:xfrm>
            <a:off x="1600200" y="3931920"/>
            <a:ext cx="4480560" cy="1691640"/>
          </a:xfrm>
          <a:prstGeom prst="rect">
            <a:avLst/>
          </a:prstGeom>
          <a:noFill/>
          <a:ln/>
        </p:spPr>
        <p:txBody>
          <a:bodyPr wrap="square" lIns="0" tIns="0" rIns="0" bIns="0" rtlCol="0" anchor="t"/>
          <a:lstStyle/>
          <a:p>
            <a:pPr algn="l" indent="0" marL="0">
              <a:lnSpc>
                <a:spcPct val="115000"/>
              </a:lnSpc>
              <a:buNone/>
            </a:pPr>
            <a:r>
              <a:rPr lang="en-US" sz="1900" dirty="0">
                <a:solidFill>
                  <a:srgbClr val="555555"/>
                </a:solidFill>
                <a:latin typeface="Arial" pitchFamily="34" charset="0"/>
                <a:ea typeface="Arial" pitchFamily="34" charset="-122"/>
                <a:cs typeface="Arial" pitchFamily="34" charset="-120"/>
              </a:rPr>
              <a:t>Reads the message with the profile, 7-day habits, chat history and approved weekly goals.</a:t>
            </a:r>
            <a:endParaRPr lang="en-US" sz="1900" dirty="0"/>
          </a:p>
        </p:txBody>
      </p:sp>
      <p:sp>
        <p:nvSpPr>
          <p:cNvPr id="12" name="Step 2"/>
          <p:cNvSpPr/>
          <p:nvPr/>
        </p:nvSpPr>
        <p:spPr>
          <a:xfrm>
            <a:off x="6583680" y="3063240"/>
            <a:ext cx="4983480" cy="2606040"/>
          </a:xfrm>
          <a:prstGeom prst="roundRect">
            <a:avLst>
              <a:gd name="adj" fmla="val 350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3" name="Shape 11"/>
          <p:cNvSpPr/>
          <p:nvPr/>
        </p:nvSpPr>
        <p:spPr>
          <a:xfrm>
            <a:off x="6812280" y="3319272"/>
            <a:ext cx="438912" cy="438912"/>
          </a:xfrm>
          <a:prstGeom prst="ellipse">
            <a:avLst/>
          </a:prstGeom>
          <a:solidFill>
            <a:srgbClr val="F5C519"/>
          </a:solidFill>
          <a:ln w="12700">
            <a:solidFill>
              <a:srgbClr val="F5C519"/>
            </a:solidFill>
            <a:prstDash val="solid"/>
          </a:ln>
        </p:spPr>
      </p:sp>
      <p:sp>
        <p:nvSpPr>
          <p:cNvPr id="14" name="Text 12"/>
          <p:cNvSpPr/>
          <p:nvPr/>
        </p:nvSpPr>
        <p:spPr>
          <a:xfrm>
            <a:off x="6812280" y="3319272"/>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2</a:t>
            </a:r>
            <a:endParaRPr lang="en-US" sz="1200" dirty="0"/>
          </a:p>
        </p:txBody>
      </p:sp>
      <p:sp>
        <p:nvSpPr>
          <p:cNvPr id="15" name="Text 13"/>
          <p:cNvSpPr/>
          <p:nvPr/>
        </p:nvSpPr>
        <p:spPr>
          <a:xfrm>
            <a:off x="7406640" y="3310128"/>
            <a:ext cx="4023360" cy="457200"/>
          </a:xfrm>
          <a:prstGeom prst="rect">
            <a:avLst/>
          </a:prstGeom>
          <a:noFill/>
          <a:ln/>
        </p:spPr>
        <p:txBody>
          <a:bodyPr wrap="square" lIns="0" tIns="0" rIns="0" bIns="0" rtlCol="0" anchor="ctr"/>
          <a:lstStyle/>
          <a:p>
            <a:pPr algn="l" indent="0" marL="0">
              <a:lnSpc>
                <a:spcPct val="110000"/>
              </a:lnSpc>
              <a:buNone/>
            </a:pPr>
            <a:r>
              <a:rPr lang="en-US" sz="2200" b="1" dirty="0">
                <a:solidFill>
                  <a:srgbClr val="5B2D8F"/>
                </a:solidFill>
                <a:latin typeface="Arial" pitchFamily="34" charset="0"/>
                <a:ea typeface="Arial" pitchFamily="34" charset="-122"/>
                <a:cs typeface="Arial" pitchFamily="34" charset="-120"/>
              </a:rPr>
              <a:t>NLP Perception</a:t>
            </a:r>
            <a:endParaRPr lang="en-US" sz="2200" dirty="0"/>
          </a:p>
        </p:txBody>
      </p:sp>
      <p:sp>
        <p:nvSpPr>
          <p:cNvPr id="16" name="Text 14"/>
          <p:cNvSpPr/>
          <p:nvPr/>
        </p:nvSpPr>
        <p:spPr>
          <a:xfrm>
            <a:off x="6858000" y="3931920"/>
            <a:ext cx="4480560" cy="1691640"/>
          </a:xfrm>
          <a:prstGeom prst="rect">
            <a:avLst/>
          </a:prstGeom>
          <a:noFill/>
          <a:ln/>
        </p:spPr>
        <p:txBody>
          <a:bodyPr wrap="square" lIns="0" tIns="0" rIns="0" bIns="0" rtlCol="0" anchor="t"/>
          <a:lstStyle/>
          <a:p>
            <a:pPr algn="l" indent="0" marL="0">
              <a:lnSpc>
                <a:spcPct val="115000"/>
              </a:lnSpc>
              <a:buNone/>
            </a:pPr>
            <a:r>
              <a:rPr lang="en-US" sz="1900" dirty="0">
                <a:solidFill>
                  <a:srgbClr val="555555"/>
                </a:solidFill>
                <a:latin typeface="Arial" pitchFamily="34" charset="0"/>
                <a:ea typeface="Arial" pitchFamily="34" charset="-122"/>
                <a:cs typeface="Arial" pitchFamily="34" charset="-120"/>
              </a:rPr>
              <a:t>Our NLP-subject models detect mood, intent, habit numbers (e.g. 5 h sleep) and red flags.</a:t>
            </a:r>
            <a:endParaRPr lang="en-US" sz="1900" dirty="0"/>
          </a:p>
        </p:txBody>
      </p:sp>
      <p:sp>
        <p:nvSpPr>
          <p:cNvPr id="17" name="Step 3"/>
          <p:cNvSpPr/>
          <p:nvPr/>
        </p:nvSpPr>
        <p:spPr>
          <a:xfrm>
            <a:off x="11841480" y="3063240"/>
            <a:ext cx="4983480" cy="2606040"/>
          </a:xfrm>
          <a:prstGeom prst="roundRect">
            <a:avLst>
              <a:gd name="adj" fmla="val 350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8" name="Shape 16"/>
          <p:cNvSpPr/>
          <p:nvPr/>
        </p:nvSpPr>
        <p:spPr>
          <a:xfrm>
            <a:off x="12070080" y="3319272"/>
            <a:ext cx="438912" cy="438912"/>
          </a:xfrm>
          <a:prstGeom prst="ellipse">
            <a:avLst/>
          </a:prstGeom>
          <a:solidFill>
            <a:srgbClr val="F5C519"/>
          </a:solidFill>
          <a:ln w="12700">
            <a:solidFill>
              <a:srgbClr val="F5C519"/>
            </a:solidFill>
            <a:prstDash val="solid"/>
          </a:ln>
        </p:spPr>
      </p:sp>
      <p:sp>
        <p:nvSpPr>
          <p:cNvPr id="19" name="Text 17"/>
          <p:cNvSpPr/>
          <p:nvPr/>
        </p:nvSpPr>
        <p:spPr>
          <a:xfrm>
            <a:off x="12070080" y="3319272"/>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3</a:t>
            </a:r>
            <a:endParaRPr lang="en-US" sz="1200" dirty="0"/>
          </a:p>
        </p:txBody>
      </p:sp>
      <p:sp>
        <p:nvSpPr>
          <p:cNvPr id="20" name="Text 18"/>
          <p:cNvSpPr/>
          <p:nvPr/>
        </p:nvSpPr>
        <p:spPr>
          <a:xfrm>
            <a:off x="12664440" y="3310128"/>
            <a:ext cx="4023360" cy="457200"/>
          </a:xfrm>
          <a:prstGeom prst="rect">
            <a:avLst/>
          </a:prstGeom>
          <a:noFill/>
          <a:ln/>
        </p:spPr>
        <p:txBody>
          <a:bodyPr wrap="square" lIns="0" tIns="0" rIns="0" bIns="0" rtlCol="0" anchor="ctr"/>
          <a:lstStyle/>
          <a:p>
            <a:pPr algn="l" indent="0" marL="0">
              <a:lnSpc>
                <a:spcPct val="110000"/>
              </a:lnSpc>
              <a:buNone/>
            </a:pPr>
            <a:r>
              <a:rPr lang="en-US" sz="2200" b="1" dirty="0">
                <a:solidFill>
                  <a:srgbClr val="5B2D8F"/>
                </a:solidFill>
                <a:latin typeface="Arial" pitchFamily="34" charset="0"/>
                <a:ea typeface="Arial" pitchFamily="34" charset="-122"/>
                <a:cs typeface="Arial" pitchFamily="34" charset="-120"/>
              </a:rPr>
              <a:t>Supervisor + Researcher</a:t>
            </a:r>
            <a:endParaRPr lang="en-US" sz="2200" dirty="0"/>
          </a:p>
        </p:txBody>
      </p:sp>
      <p:sp>
        <p:nvSpPr>
          <p:cNvPr id="21" name="Text 19"/>
          <p:cNvSpPr/>
          <p:nvPr/>
        </p:nvSpPr>
        <p:spPr>
          <a:xfrm>
            <a:off x="12115800" y="3931920"/>
            <a:ext cx="4480560" cy="1691640"/>
          </a:xfrm>
          <a:prstGeom prst="rect">
            <a:avLst/>
          </a:prstGeom>
          <a:noFill/>
          <a:ln/>
        </p:spPr>
        <p:txBody>
          <a:bodyPr wrap="square" lIns="0" tIns="0" rIns="0" bIns="0" rtlCol="0" anchor="t"/>
          <a:lstStyle/>
          <a:p>
            <a:pPr algn="l" indent="0" marL="0">
              <a:lnSpc>
                <a:spcPct val="115000"/>
              </a:lnSpc>
              <a:buNone/>
            </a:pPr>
            <a:r>
              <a:rPr lang="en-US" sz="1900" dirty="0">
                <a:solidFill>
                  <a:srgbClr val="555555"/>
                </a:solidFill>
                <a:latin typeface="Arial" pitchFamily="34" charset="0"/>
                <a:ea typeface="Arial" pitchFamily="34" charset="-122"/>
                <a:cs typeface="Arial" pitchFamily="34" charset="-120"/>
              </a:rPr>
              <a:t>Picks 1–3 specialists; agentic RAG finds cited guideline evidence for each of them.</a:t>
            </a:r>
            <a:endParaRPr lang="en-US" sz="1900" dirty="0"/>
          </a:p>
        </p:txBody>
      </p:sp>
      <p:sp>
        <p:nvSpPr>
          <p:cNvPr id="22" name="Step 4"/>
          <p:cNvSpPr/>
          <p:nvPr/>
        </p:nvSpPr>
        <p:spPr>
          <a:xfrm>
            <a:off x="1325880" y="5943600"/>
            <a:ext cx="4983480" cy="2606040"/>
          </a:xfrm>
          <a:prstGeom prst="roundRect">
            <a:avLst>
              <a:gd name="adj" fmla="val 350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3" name="Shape 21"/>
          <p:cNvSpPr/>
          <p:nvPr/>
        </p:nvSpPr>
        <p:spPr>
          <a:xfrm>
            <a:off x="1554480" y="6199632"/>
            <a:ext cx="438912" cy="438912"/>
          </a:xfrm>
          <a:prstGeom prst="ellipse">
            <a:avLst/>
          </a:prstGeom>
          <a:solidFill>
            <a:srgbClr val="F5C519"/>
          </a:solidFill>
          <a:ln w="12700">
            <a:solidFill>
              <a:srgbClr val="F5C519"/>
            </a:solidFill>
            <a:prstDash val="solid"/>
          </a:ln>
        </p:spPr>
      </p:sp>
      <p:sp>
        <p:nvSpPr>
          <p:cNvPr id="24" name="Text 22"/>
          <p:cNvSpPr/>
          <p:nvPr/>
        </p:nvSpPr>
        <p:spPr>
          <a:xfrm>
            <a:off x="1554480" y="6199632"/>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4</a:t>
            </a:r>
            <a:endParaRPr lang="en-US" sz="1200" dirty="0"/>
          </a:p>
        </p:txBody>
      </p:sp>
      <p:sp>
        <p:nvSpPr>
          <p:cNvPr id="25" name="Text 23"/>
          <p:cNvSpPr/>
          <p:nvPr/>
        </p:nvSpPr>
        <p:spPr>
          <a:xfrm>
            <a:off x="2148840" y="6190488"/>
            <a:ext cx="4023360" cy="457200"/>
          </a:xfrm>
          <a:prstGeom prst="rect">
            <a:avLst/>
          </a:prstGeom>
          <a:noFill/>
          <a:ln/>
        </p:spPr>
        <p:txBody>
          <a:bodyPr wrap="square" lIns="0" tIns="0" rIns="0" bIns="0" rtlCol="0" anchor="ctr"/>
          <a:lstStyle/>
          <a:p>
            <a:pPr algn="l" indent="0" marL="0">
              <a:lnSpc>
                <a:spcPct val="110000"/>
              </a:lnSpc>
              <a:buNone/>
            </a:pPr>
            <a:r>
              <a:rPr lang="en-US" sz="2200" b="1" dirty="0">
                <a:solidFill>
                  <a:srgbClr val="5B2D8F"/>
                </a:solidFill>
                <a:latin typeface="Arial" pitchFamily="34" charset="0"/>
                <a:ea typeface="Arial" pitchFamily="34" charset="-122"/>
                <a:cs typeface="Arial" pitchFamily="34" charset="-120"/>
              </a:rPr>
              <a:t>Specialist Agents</a:t>
            </a:r>
            <a:endParaRPr lang="en-US" sz="2200" dirty="0"/>
          </a:p>
        </p:txBody>
      </p:sp>
      <p:sp>
        <p:nvSpPr>
          <p:cNvPr id="26" name="Text 24"/>
          <p:cNvSpPr/>
          <p:nvPr/>
        </p:nvSpPr>
        <p:spPr>
          <a:xfrm>
            <a:off x="1600200" y="6812280"/>
            <a:ext cx="4480560" cy="1691640"/>
          </a:xfrm>
          <a:prstGeom prst="rect">
            <a:avLst/>
          </a:prstGeom>
          <a:noFill/>
          <a:ln/>
        </p:spPr>
        <p:txBody>
          <a:bodyPr wrap="square" lIns="0" tIns="0" rIns="0" bIns="0" rtlCol="0" anchor="t"/>
          <a:lstStyle/>
          <a:p>
            <a:pPr algn="l" indent="0" marL="0">
              <a:lnSpc>
                <a:spcPct val="115000"/>
              </a:lnSpc>
              <a:buNone/>
            </a:pPr>
            <a:r>
              <a:rPr lang="en-US" sz="1900" dirty="0">
                <a:solidFill>
                  <a:srgbClr val="555555"/>
                </a:solidFill>
                <a:latin typeface="Arial" pitchFamily="34" charset="0"/>
                <a:ea typeface="Arial" pitchFamily="34" charset="-122"/>
                <a:cs typeface="Arial" pitchFamily="34" charset="-120"/>
              </a:rPr>
              <a:t>Sleep, Fitness, Nutrition and Mind work in parallel, each with its own tools and topics.</a:t>
            </a:r>
            <a:endParaRPr lang="en-US" sz="1900" dirty="0"/>
          </a:p>
        </p:txBody>
      </p:sp>
      <p:sp>
        <p:nvSpPr>
          <p:cNvPr id="27" name="Step 5"/>
          <p:cNvSpPr/>
          <p:nvPr/>
        </p:nvSpPr>
        <p:spPr>
          <a:xfrm>
            <a:off x="6583680" y="5943600"/>
            <a:ext cx="4983480" cy="2606040"/>
          </a:xfrm>
          <a:prstGeom prst="roundRect">
            <a:avLst>
              <a:gd name="adj" fmla="val 350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8" name="Shape 26"/>
          <p:cNvSpPr/>
          <p:nvPr/>
        </p:nvSpPr>
        <p:spPr>
          <a:xfrm>
            <a:off x="6812280" y="6199632"/>
            <a:ext cx="438912" cy="438912"/>
          </a:xfrm>
          <a:prstGeom prst="ellipse">
            <a:avLst/>
          </a:prstGeom>
          <a:solidFill>
            <a:srgbClr val="F5C519"/>
          </a:solidFill>
          <a:ln w="12700">
            <a:solidFill>
              <a:srgbClr val="F5C519"/>
            </a:solidFill>
            <a:prstDash val="solid"/>
          </a:ln>
        </p:spPr>
      </p:sp>
      <p:sp>
        <p:nvSpPr>
          <p:cNvPr id="29" name="Text 27"/>
          <p:cNvSpPr/>
          <p:nvPr/>
        </p:nvSpPr>
        <p:spPr>
          <a:xfrm>
            <a:off x="6812280" y="6199632"/>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5</a:t>
            </a:r>
            <a:endParaRPr lang="en-US" sz="1200" dirty="0"/>
          </a:p>
        </p:txBody>
      </p:sp>
      <p:sp>
        <p:nvSpPr>
          <p:cNvPr id="30" name="Text 28"/>
          <p:cNvSpPr/>
          <p:nvPr/>
        </p:nvSpPr>
        <p:spPr>
          <a:xfrm>
            <a:off x="7406640" y="6190488"/>
            <a:ext cx="4023360" cy="457200"/>
          </a:xfrm>
          <a:prstGeom prst="rect">
            <a:avLst/>
          </a:prstGeom>
          <a:noFill/>
          <a:ln/>
        </p:spPr>
        <p:txBody>
          <a:bodyPr wrap="square" lIns="0" tIns="0" rIns="0" bIns="0" rtlCol="0" anchor="ctr"/>
          <a:lstStyle/>
          <a:p>
            <a:pPr algn="l" indent="0" marL="0">
              <a:lnSpc>
                <a:spcPct val="110000"/>
              </a:lnSpc>
              <a:buNone/>
            </a:pPr>
            <a:r>
              <a:rPr lang="en-US" sz="2200" b="1" dirty="0">
                <a:solidFill>
                  <a:srgbClr val="5B2D8F"/>
                </a:solidFill>
                <a:latin typeface="Arial" pitchFamily="34" charset="0"/>
                <a:ea typeface="Arial" pitchFamily="34" charset="-122"/>
                <a:cs typeface="Arial" pitchFamily="34" charset="-120"/>
              </a:rPr>
              <a:t>Mediator + Safety</a:t>
            </a:r>
            <a:endParaRPr lang="en-US" sz="2200" dirty="0"/>
          </a:p>
        </p:txBody>
      </p:sp>
      <p:sp>
        <p:nvSpPr>
          <p:cNvPr id="31" name="Text 29"/>
          <p:cNvSpPr/>
          <p:nvPr/>
        </p:nvSpPr>
        <p:spPr>
          <a:xfrm>
            <a:off x="6858000" y="6812280"/>
            <a:ext cx="4480560" cy="1691640"/>
          </a:xfrm>
          <a:prstGeom prst="rect">
            <a:avLst/>
          </a:prstGeom>
          <a:noFill/>
          <a:ln/>
        </p:spPr>
        <p:txBody>
          <a:bodyPr wrap="square" lIns="0" tIns="0" rIns="0" bIns="0" rtlCol="0" anchor="t"/>
          <a:lstStyle/>
          <a:p>
            <a:pPr algn="l" indent="0" marL="0">
              <a:lnSpc>
                <a:spcPct val="115000"/>
              </a:lnSpc>
              <a:buNone/>
            </a:pPr>
            <a:r>
              <a:rPr lang="en-US" sz="1900" dirty="0">
                <a:solidFill>
                  <a:srgbClr val="555555"/>
                </a:solidFill>
                <a:latin typeface="Arial" pitchFamily="34" charset="0"/>
                <a:ea typeface="Arial" pitchFamily="34" charset="-122"/>
                <a:cs typeface="Arial" pitchFamily="34" charset="-120"/>
              </a:rPr>
              <a:t>Mediator resolves disagreements; Guardian can veto; a second LLM critiques; revise loop.</a:t>
            </a:r>
            <a:endParaRPr lang="en-US" sz="1900" dirty="0"/>
          </a:p>
        </p:txBody>
      </p:sp>
      <p:sp>
        <p:nvSpPr>
          <p:cNvPr id="32" name="Step 6"/>
          <p:cNvSpPr/>
          <p:nvPr/>
        </p:nvSpPr>
        <p:spPr>
          <a:xfrm>
            <a:off x="11841480" y="5943600"/>
            <a:ext cx="4983480" cy="2606040"/>
          </a:xfrm>
          <a:prstGeom prst="roundRect">
            <a:avLst>
              <a:gd name="adj" fmla="val 350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33" name="Shape 31"/>
          <p:cNvSpPr/>
          <p:nvPr/>
        </p:nvSpPr>
        <p:spPr>
          <a:xfrm>
            <a:off x="12070080" y="6199632"/>
            <a:ext cx="438912" cy="438912"/>
          </a:xfrm>
          <a:prstGeom prst="ellipse">
            <a:avLst/>
          </a:prstGeom>
          <a:solidFill>
            <a:srgbClr val="F5C519"/>
          </a:solidFill>
          <a:ln w="12700">
            <a:solidFill>
              <a:srgbClr val="F5C519"/>
            </a:solidFill>
            <a:prstDash val="solid"/>
          </a:ln>
        </p:spPr>
      </p:sp>
      <p:sp>
        <p:nvSpPr>
          <p:cNvPr id="34" name="Text 32"/>
          <p:cNvSpPr/>
          <p:nvPr/>
        </p:nvSpPr>
        <p:spPr>
          <a:xfrm>
            <a:off x="12070080" y="6199632"/>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6</a:t>
            </a:r>
            <a:endParaRPr lang="en-US" sz="1200" dirty="0"/>
          </a:p>
        </p:txBody>
      </p:sp>
      <p:sp>
        <p:nvSpPr>
          <p:cNvPr id="35" name="Text 33"/>
          <p:cNvSpPr/>
          <p:nvPr/>
        </p:nvSpPr>
        <p:spPr>
          <a:xfrm>
            <a:off x="12664440" y="6190488"/>
            <a:ext cx="4023360" cy="457200"/>
          </a:xfrm>
          <a:prstGeom prst="rect">
            <a:avLst/>
          </a:prstGeom>
          <a:noFill/>
          <a:ln/>
        </p:spPr>
        <p:txBody>
          <a:bodyPr wrap="square" lIns="0" tIns="0" rIns="0" bIns="0" rtlCol="0" anchor="ctr"/>
          <a:lstStyle/>
          <a:p>
            <a:pPr algn="l" indent="0" marL="0">
              <a:lnSpc>
                <a:spcPct val="110000"/>
              </a:lnSpc>
              <a:buNone/>
            </a:pPr>
            <a:r>
              <a:rPr lang="en-US" sz="2200" b="1" dirty="0">
                <a:solidFill>
                  <a:srgbClr val="5B2D8F"/>
                </a:solidFill>
                <a:latin typeface="Arial" pitchFamily="34" charset="0"/>
                <a:ea typeface="Arial" pitchFamily="34" charset="-122"/>
                <a:cs typeface="Arial" pitchFamily="34" charset="-120"/>
              </a:rPr>
              <a:t>Approval + Memory</a:t>
            </a:r>
            <a:endParaRPr lang="en-US" sz="2200" dirty="0"/>
          </a:p>
        </p:txBody>
      </p:sp>
      <p:sp>
        <p:nvSpPr>
          <p:cNvPr id="36" name="Text 34"/>
          <p:cNvSpPr/>
          <p:nvPr/>
        </p:nvSpPr>
        <p:spPr>
          <a:xfrm>
            <a:off x="12115800" y="6812280"/>
            <a:ext cx="4480560" cy="1691640"/>
          </a:xfrm>
          <a:prstGeom prst="rect">
            <a:avLst/>
          </a:prstGeom>
          <a:noFill/>
          <a:ln/>
        </p:spPr>
        <p:txBody>
          <a:bodyPr wrap="square" lIns="0" tIns="0" rIns="0" bIns="0" rtlCol="0" anchor="t"/>
          <a:lstStyle/>
          <a:p>
            <a:pPr algn="l" indent="0" marL="0">
              <a:lnSpc>
                <a:spcPct val="115000"/>
              </a:lnSpc>
              <a:buNone/>
            </a:pPr>
            <a:r>
              <a:rPr lang="en-US" sz="1900" dirty="0">
                <a:solidFill>
                  <a:srgbClr val="555555"/>
                </a:solidFill>
                <a:latin typeface="Arial" pitchFamily="34" charset="0"/>
                <a:ea typeface="Arial" pitchFamily="34" charset="-122"/>
                <a:cs typeface="Arial" pitchFamily="34" charset="-120"/>
              </a:rPr>
              <a:t>User approves workout or diet changes; results are saved to memory and the agent timeline.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4</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Proposed System: Data Sources</a:t>
            </a:r>
            <a:endParaRPr lang="en-US" sz="4000" dirty="0"/>
          </a:p>
        </p:txBody>
      </p:sp>
      <p:sp>
        <p:nvSpPr>
          <p:cNvPr id="5" name="Panel"/>
          <p:cNvSpPr/>
          <p:nvPr/>
        </p:nvSpPr>
        <p:spPr>
          <a:xfrm>
            <a:off x="914400" y="2240280"/>
            <a:ext cx="16459200" cy="6720840"/>
          </a:xfrm>
          <a:prstGeom prst="roundRect">
            <a:avLst>
              <a:gd name="adj" fmla="val 1633"/>
            </a:avLst>
          </a:prstGeom>
          <a:solidFill>
            <a:srgbClr val="F4F1F8"/>
          </a:solidFill>
          <a:ln w="12700">
            <a:solidFill>
              <a:srgbClr val="E2DCEB"/>
            </a:solidFill>
            <a:prstDash val="solid"/>
          </a:ln>
        </p:spPr>
      </p:sp>
      <p:sp>
        <p:nvSpPr>
          <p:cNvPr id="6" name="Text 4"/>
          <p:cNvSpPr/>
          <p:nvPr/>
        </p:nvSpPr>
        <p:spPr>
          <a:xfrm>
            <a:off x="1325880" y="2450592"/>
            <a:ext cx="15544800" cy="45720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Curated, citable knowledge plus structured datasets and the user's own memory. Every source is checked by check_setup.py at start-up.</a:t>
            </a:r>
            <a:endParaRPr lang="en-US" sz="1800" dirty="0"/>
          </a:p>
        </p:txBody>
      </p:sp>
      <p:sp>
        <p:nvSpPr>
          <p:cNvPr id="7" name="Source 1"/>
          <p:cNvSpPr/>
          <p:nvPr/>
        </p:nvSpPr>
        <p:spPr>
          <a:xfrm>
            <a:off x="1325880" y="3063240"/>
            <a:ext cx="2926080" cy="457200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8" name="Image 0" descr="/home/claude/ppt2/assets/FaBook_p.png">    </p:cNvPr>
          <p:cNvPicPr>
            <a:picLocks noChangeAspect="1"/>
          </p:cNvPicPr>
          <p:nvPr/>
        </p:nvPicPr>
        <p:blipFill>
          <a:blip r:embed="rId1"/>
          <a:stretch>
            <a:fillRect/>
          </a:stretch>
        </p:blipFill>
        <p:spPr>
          <a:xfrm>
            <a:off x="1600200" y="3291840"/>
            <a:ext cx="548640" cy="548640"/>
          </a:xfrm>
          <a:prstGeom prst="rect">
            <a:avLst/>
          </a:prstGeom>
        </p:spPr>
      </p:pic>
      <p:sp>
        <p:nvSpPr>
          <p:cNvPr id="9" name="Text 6"/>
          <p:cNvSpPr/>
          <p:nvPr/>
        </p:nvSpPr>
        <p:spPr>
          <a:xfrm>
            <a:off x="1600200" y="3977640"/>
            <a:ext cx="2514600" cy="822960"/>
          </a:xfrm>
          <a:prstGeom prst="rect">
            <a:avLst/>
          </a:prstGeom>
          <a:noFill/>
          <a:ln/>
        </p:spPr>
        <p:txBody>
          <a:bodyPr wrap="square" lIns="0" tIns="0" rIns="0" bIns="0" rtlCol="0" anchor="t"/>
          <a:lstStyle/>
          <a:p>
            <a:pPr algn="l" indent="0" marL="0">
              <a:lnSpc>
                <a:spcPct val="110000"/>
              </a:lnSpc>
              <a:buNone/>
            </a:pPr>
            <a:r>
              <a:rPr lang="en-US" sz="2000" b="1" dirty="0">
                <a:solidFill>
                  <a:srgbClr val="5B2D8F"/>
                </a:solidFill>
                <a:latin typeface="Arial" pitchFamily="34" charset="0"/>
                <a:ea typeface="Arial" pitchFamily="34" charset="-122"/>
                <a:cs typeface="Arial" pitchFamily="34" charset="-120"/>
              </a:rPr>
              <a:t>Guideline Knowledge Base</a:t>
            </a:r>
            <a:endParaRPr lang="en-US" sz="2000" dirty="0"/>
          </a:p>
        </p:txBody>
      </p:sp>
      <p:sp>
        <p:nvSpPr>
          <p:cNvPr id="10" name="Text 7"/>
          <p:cNvSpPr/>
          <p:nvPr/>
        </p:nvSpPr>
        <p:spPr>
          <a:xfrm>
            <a:off x="1600200" y="4892040"/>
            <a:ext cx="2468880" cy="2651760"/>
          </a:xfrm>
          <a:prstGeom prst="rect">
            <a:avLst/>
          </a:prstGeom>
          <a:noFill/>
          <a:ln/>
        </p:spPr>
        <p:txBody>
          <a:bodyPr wrap="square" lIns="0" tIns="0" rIns="0" bIns="0" rtlCol="0" anchor="t"/>
          <a:lstStyle/>
          <a:p>
            <a:pPr algn="l" indent="0" marL="0">
              <a:lnSpc>
                <a:spcPct val="115000"/>
              </a:lnSpc>
              <a:buNone/>
            </a:pPr>
            <a:r>
              <a:rPr lang="en-US" sz="1700" dirty="0">
                <a:solidFill>
                  <a:srgbClr val="555555"/>
                </a:solidFill>
                <a:latin typeface="Arial" pitchFamily="34" charset="0"/>
                <a:ea typeface="Arial" pitchFamily="34" charset="-122"/>
                <a:cs typeface="Arial" pitchFamily="34" charset="-120"/>
              </a:rPr>
              <a:t>49 passages in 7 topics from WHO, ICMR-NIN, NHS, CDC, EFSA, NICE and Tele-MANAS; each has an ID for citation.</a:t>
            </a:r>
            <a:endParaRPr lang="en-US" sz="1700" dirty="0"/>
          </a:p>
        </p:txBody>
      </p:sp>
      <p:sp>
        <p:nvSpPr>
          <p:cNvPr id="11" name="Source 2"/>
          <p:cNvSpPr/>
          <p:nvPr/>
        </p:nvSpPr>
        <p:spPr>
          <a:xfrm>
            <a:off x="4480560" y="3063240"/>
            <a:ext cx="2926080" cy="457200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12" name="Image 1" descr="/home/claude/ppt2/assets/FaUtensils_p.png">    </p:cNvPr>
          <p:cNvPicPr>
            <a:picLocks noChangeAspect="1"/>
          </p:cNvPicPr>
          <p:nvPr/>
        </p:nvPicPr>
        <p:blipFill>
          <a:blip r:embed="rId2"/>
          <a:stretch>
            <a:fillRect/>
          </a:stretch>
        </p:blipFill>
        <p:spPr>
          <a:xfrm>
            <a:off x="4754880" y="3291840"/>
            <a:ext cx="548640" cy="548640"/>
          </a:xfrm>
          <a:prstGeom prst="rect">
            <a:avLst/>
          </a:prstGeom>
        </p:spPr>
      </p:pic>
      <p:sp>
        <p:nvSpPr>
          <p:cNvPr id="13" name="Text 9"/>
          <p:cNvSpPr/>
          <p:nvPr/>
        </p:nvSpPr>
        <p:spPr>
          <a:xfrm>
            <a:off x="4754880" y="3977640"/>
            <a:ext cx="2514600" cy="822960"/>
          </a:xfrm>
          <a:prstGeom prst="rect">
            <a:avLst/>
          </a:prstGeom>
          <a:noFill/>
          <a:ln/>
        </p:spPr>
        <p:txBody>
          <a:bodyPr wrap="square" lIns="0" tIns="0" rIns="0" bIns="0" rtlCol="0" anchor="t"/>
          <a:lstStyle/>
          <a:p>
            <a:pPr algn="l" indent="0" marL="0">
              <a:lnSpc>
                <a:spcPct val="110000"/>
              </a:lnSpc>
              <a:buNone/>
            </a:pPr>
            <a:r>
              <a:rPr lang="en-US" sz="2000" b="1" dirty="0">
                <a:solidFill>
                  <a:srgbClr val="5B2D8F"/>
                </a:solidFill>
                <a:latin typeface="Arial" pitchFamily="34" charset="0"/>
                <a:ea typeface="Arial" pitchFamily="34" charset="-122"/>
                <a:cs typeface="Arial" pitchFamily="34" charset="-120"/>
              </a:rPr>
              <a:t>Diet Food Table</a:t>
            </a:r>
            <a:endParaRPr lang="en-US" sz="2000" dirty="0"/>
          </a:p>
        </p:txBody>
      </p:sp>
      <p:sp>
        <p:nvSpPr>
          <p:cNvPr id="14" name="Text 10"/>
          <p:cNvSpPr/>
          <p:nvPr/>
        </p:nvSpPr>
        <p:spPr>
          <a:xfrm>
            <a:off x="4754880" y="4892040"/>
            <a:ext cx="2468880" cy="2651760"/>
          </a:xfrm>
          <a:prstGeom prst="rect">
            <a:avLst/>
          </a:prstGeom>
          <a:noFill/>
          <a:ln/>
        </p:spPr>
        <p:txBody>
          <a:bodyPr wrap="square" lIns="0" tIns="0" rIns="0" bIns="0" rtlCol="0" anchor="t"/>
          <a:lstStyle/>
          <a:p>
            <a:pPr algn="l" indent="0" marL="0">
              <a:lnSpc>
                <a:spcPct val="115000"/>
              </a:lnSpc>
              <a:buNone/>
            </a:pPr>
            <a:r>
              <a:rPr lang="en-US" sz="1700" dirty="0">
                <a:solidFill>
                  <a:srgbClr val="555555"/>
                </a:solidFill>
                <a:latin typeface="Arial" pitchFamily="34" charset="0"/>
                <a:ea typeface="Arial" pitchFamily="34" charset="-122"/>
                <a:cs typeface="Arial" pitchFamily="34" charset="-120"/>
              </a:rPr>
              <a:t>87 foods with calories, macros, fibre, sodium, saturated fat, glycaemic index and allergy flags.</a:t>
            </a:r>
            <a:endParaRPr lang="en-US" sz="1700" dirty="0"/>
          </a:p>
        </p:txBody>
      </p:sp>
      <p:sp>
        <p:nvSpPr>
          <p:cNvPr id="15" name="Source 3"/>
          <p:cNvSpPr/>
          <p:nvPr/>
        </p:nvSpPr>
        <p:spPr>
          <a:xfrm>
            <a:off x="7635240" y="3063240"/>
            <a:ext cx="2926080" cy="457200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16" name="Image 2" descr="/home/claude/ppt2/assets/FaRunning_p.png">    </p:cNvPr>
          <p:cNvPicPr>
            <a:picLocks noChangeAspect="1"/>
          </p:cNvPicPr>
          <p:nvPr/>
        </p:nvPicPr>
        <p:blipFill>
          <a:blip r:embed="rId3"/>
          <a:stretch>
            <a:fillRect/>
          </a:stretch>
        </p:blipFill>
        <p:spPr>
          <a:xfrm>
            <a:off x="7909560" y="3291840"/>
            <a:ext cx="548640" cy="548640"/>
          </a:xfrm>
          <a:prstGeom prst="rect">
            <a:avLst/>
          </a:prstGeom>
        </p:spPr>
      </p:pic>
      <p:sp>
        <p:nvSpPr>
          <p:cNvPr id="17" name="Text 12"/>
          <p:cNvSpPr/>
          <p:nvPr/>
        </p:nvSpPr>
        <p:spPr>
          <a:xfrm>
            <a:off x="7909560" y="3977640"/>
            <a:ext cx="2514600" cy="822960"/>
          </a:xfrm>
          <a:prstGeom prst="rect">
            <a:avLst/>
          </a:prstGeom>
          <a:noFill/>
          <a:ln/>
        </p:spPr>
        <p:txBody>
          <a:bodyPr wrap="square" lIns="0" tIns="0" rIns="0" bIns="0" rtlCol="0" anchor="t"/>
          <a:lstStyle/>
          <a:p>
            <a:pPr algn="l" indent="0" marL="0">
              <a:lnSpc>
                <a:spcPct val="110000"/>
              </a:lnSpc>
              <a:buNone/>
            </a:pPr>
            <a:r>
              <a:rPr lang="en-US" sz="2000" b="1" dirty="0">
                <a:solidFill>
                  <a:srgbClr val="5B2D8F"/>
                </a:solidFill>
                <a:latin typeface="Arial" pitchFamily="34" charset="0"/>
                <a:ea typeface="Arial" pitchFamily="34" charset="-122"/>
                <a:cs typeface="Arial" pitchFamily="34" charset="-120"/>
              </a:rPr>
              <a:t>Exercise Dataset</a:t>
            </a:r>
            <a:endParaRPr lang="en-US" sz="2000" dirty="0"/>
          </a:p>
        </p:txBody>
      </p:sp>
      <p:sp>
        <p:nvSpPr>
          <p:cNvPr id="18" name="Text 13"/>
          <p:cNvSpPr/>
          <p:nvPr/>
        </p:nvSpPr>
        <p:spPr>
          <a:xfrm>
            <a:off x="7909560" y="4892040"/>
            <a:ext cx="2468880" cy="2651760"/>
          </a:xfrm>
          <a:prstGeom prst="rect">
            <a:avLst/>
          </a:prstGeom>
          <a:noFill/>
          <a:ln/>
        </p:spPr>
        <p:txBody>
          <a:bodyPr wrap="square" lIns="0" tIns="0" rIns="0" bIns="0" rtlCol="0" anchor="t"/>
          <a:lstStyle/>
          <a:p>
            <a:pPr algn="l" indent="0" marL="0">
              <a:lnSpc>
                <a:spcPct val="115000"/>
              </a:lnSpc>
              <a:buNone/>
            </a:pPr>
            <a:r>
              <a:rPr lang="en-US" sz="1700" dirty="0">
                <a:solidFill>
                  <a:srgbClr val="555555"/>
                </a:solidFill>
                <a:latin typeface="Arial" pitchFamily="34" charset="0"/>
                <a:ea typeface="Arial" pitchFamily="34" charset="-122"/>
                <a:cs typeface="Arial" pitchFamily="34" charset="-120"/>
              </a:rPr>
              <a:t>55 exercises with type, intensity, MET value and knee-safe / back-safe flags.</a:t>
            </a:r>
            <a:endParaRPr lang="en-US" sz="1700" dirty="0"/>
          </a:p>
        </p:txBody>
      </p:sp>
      <p:sp>
        <p:nvSpPr>
          <p:cNvPr id="19" name="Source 4"/>
          <p:cNvSpPr/>
          <p:nvPr/>
        </p:nvSpPr>
        <p:spPr>
          <a:xfrm>
            <a:off x="10789920" y="3063240"/>
            <a:ext cx="2926080" cy="457200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20" name="Image 3" descr="/home/claude/ppt2/assets/FaDatabase_p.png">    </p:cNvPr>
          <p:cNvPicPr>
            <a:picLocks noChangeAspect="1"/>
          </p:cNvPicPr>
          <p:nvPr/>
        </p:nvPicPr>
        <p:blipFill>
          <a:blip r:embed="rId4"/>
          <a:stretch>
            <a:fillRect/>
          </a:stretch>
        </p:blipFill>
        <p:spPr>
          <a:xfrm>
            <a:off x="11064240" y="3291840"/>
            <a:ext cx="548640" cy="548640"/>
          </a:xfrm>
          <a:prstGeom prst="rect">
            <a:avLst/>
          </a:prstGeom>
        </p:spPr>
      </p:pic>
      <p:sp>
        <p:nvSpPr>
          <p:cNvPr id="21" name="Text 15"/>
          <p:cNvSpPr/>
          <p:nvPr/>
        </p:nvSpPr>
        <p:spPr>
          <a:xfrm>
            <a:off x="11064240" y="3977640"/>
            <a:ext cx="2514600" cy="822960"/>
          </a:xfrm>
          <a:prstGeom prst="rect">
            <a:avLst/>
          </a:prstGeom>
          <a:noFill/>
          <a:ln/>
        </p:spPr>
        <p:txBody>
          <a:bodyPr wrap="square" lIns="0" tIns="0" rIns="0" bIns="0" rtlCol="0" anchor="t"/>
          <a:lstStyle/>
          <a:p>
            <a:pPr algn="l" indent="0" marL="0">
              <a:lnSpc>
                <a:spcPct val="110000"/>
              </a:lnSpc>
              <a:buNone/>
            </a:pPr>
            <a:r>
              <a:rPr lang="en-US" sz="2000" b="1" dirty="0">
                <a:solidFill>
                  <a:srgbClr val="5B2D8F"/>
                </a:solidFill>
                <a:latin typeface="Arial" pitchFamily="34" charset="0"/>
                <a:ea typeface="Arial" pitchFamily="34" charset="-122"/>
                <a:cs typeface="Arial" pitchFamily="34" charset="-120"/>
              </a:rPr>
              <a:t>User Memory (SQLite)</a:t>
            </a:r>
            <a:endParaRPr lang="en-US" sz="2000" dirty="0"/>
          </a:p>
        </p:txBody>
      </p:sp>
      <p:sp>
        <p:nvSpPr>
          <p:cNvPr id="22" name="Text 16"/>
          <p:cNvSpPr/>
          <p:nvPr/>
        </p:nvSpPr>
        <p:spPr>
          <a:xfrm>
            <a:off x="11064240" y="4892040"/>
            <a:ext cx="2468880" cy="2651760"/>
          </a:xfrm>
          <a:prstGeom prst="rect">
            <a:avLst/>
          </a:prstGeom>
          <a:noFill/>
          <a:ln/>
        </p:spPr>
        <p:txBody>
          <a:bodyPr wrap="square" lIns="0" tIns="0" rIns="0" bIns="0" rtlCol="0" anchor="t"/>
          <a:lstStyle/>
          <a:p>
            <a:pPr algn="l" indent="0" marL="0">
              <a:lnSpc>
                <a:spcPct val="115000"/>
              </a:lnSpc>
              <a:buNone/>
            </a:pPr>
            <a:r>
              <a:rPr lang="en-US" sz="1700" dirty="0">
                <a:solidFill>
                  <a:srgbClr val="555555"/>
                </a:solidFill>
                <a:latin typeface="Arial" pitchFamily="34" charset="0"/>
                <a:ea typeface="Arial" pitchFamily="34" charset="-122"/>
                <a:cs typeface="Arial" pitchFamily="34" charset="-120"/>
              </a:rPr>
              <a:t>Profile, habits, chat, plans, meal check-ins, weigh-ins, food dislikes and weekly goals.</a:t>
            </a:r>
            <a:endParaRPr lang="en-US" sz="1700" dirty="0"/>
          </a:p>
        </p:txBody>
      </p:sp>
      <p:sp>
        <p:nvSpPr>
          <p:cNvPr id="23" name="Source 5"/>
          <p:cNvSpPr/>
          <p:nvPr/>
        </p:nvSpPr>
        <p:spPr>
          <a:xfrm>
            <a:off x="13944600" y="3063240"/>
            <a:ext cx="2926080" cy="457200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24" name="Image 4" descr="/home/claude/ppt2/assets/FaClipboardCheck_p.png">    </p:cNvPr>
          <p:cNvPicPr>
            <a:picLocks noChangeAspect="1"/>
          </p:cNvPicPr>
          <p:nvPr/>
        </p:nvPicPr>
        <p:blipFill>
          <a:blip r:embed="rId5"/>
          <a:stretch>
            <a:fillRect/>
          </a:stretch>
        </p:blipFill>
        <p:spPr>
          <a:xfrm>
            <a:off x="14218920" y="3291840"/>
            <a:ext cx="548640" cy="548640"/>
          </a:xfrm>
          <a:prstGeom prst="rect">
            <a:avLst/>
          </a:prstGeom>
        </p:spPr>
      </p:pic>
      <p:sp>
        <p:nvSpPr>
          <p:cNvPr id="25" name="Text 18"/>
          <p:cNvSpPr/>
          <p:nvPr/>
        </p:nvSpPr>
        <p:spPr>
          <a:xfrm>
            <a:off x="14218920" y="3977640"/>
            <a:ext cx="2514600" cy="822960"/>
          </a:xfrm>
          <a:prstGeom prst="rect">
            <a:avLst/>
          </a:prstGeom>
          <a:noFill/>
          <a:ln/>
        </p:spPr>
        <p:txBody>
          <a:bodyPr wrap="square" lIns="0" tIns="0" rIns="0" bIns="0" rtlCol="0" anchor="t"/>
          <a:lstStyle/>
          <a:p>
            <a:pPr algn="l" indent="0" marL="0">
              <a:lnSpc>
                <a:spcPct val="110000"/>
              </a:lnSpc>
              <a:buNone/>
            </a:pPr>
            <a:r>
              <a:rPr lang="en-US" sz="2000" b="1" dirty="0">
                <a:solidFill>
                  <a:srgbClr val="5B2D8F"/>
                </a:solidFill>
                <a:latin typeface="Arial" pitchFamily="34" charset="0"/>
                <a:ea typeface="Arial" pitchFamily="34" charset="-122"/>
                <a:cs typeface="Arial" pitchFamily="34" charset="-120"/>
              </a:rPr>
              <a:t>Evaluation Test Set</a:t>
            </a:r>
            <a:endParaRPr lang="en-US" sz="2000" dirty="0"/>
          </a:p>
        </p:txBody>
      </p:sp>
      <p:sp>
        <p:nvSpPr>
          <p:cNvPr id="26" name="Text 19"/>
          <p:cNvSpPr/>
          <p:nvPr/>
        </p:nvSpPr>
        <p:spPr>
          <a:xfrm>
            <a:off x="14218920" y="4892040"/>
            <a:ext cx="2468880" cy="2651760"/>
          </a:xfrm>
          <a:prstGeom prst="rect">
            <a:avLst/>
          </a:prstGeom>
          <a:noFill/>
          <a:ln/>
        </p:spPr>
        <p:txBody>
          <a:bodyPr wrap="square" lIns="0" tIns="0" rIns="0" bIns="0" rtlCol="0" anchor="t"/>
          <a:lstStyle/>
          <a:p>
            <a:pPr algn="l" indent="0" marL="0">
              <a:lnSpc>
                <a:spcPct val="115000"/>
              </a:lnSpc>
              <a:buNone/>
            </a:pPr>
            <a:r>
              <a:rPr lang="en-US" sz="1700" dirty="0">
                <a:solidFill>
                  <a:srgbClr val="555555"/>
                </a:solidFill>
                <a:latin typeface="Arial" pitchFamily="34" charset="0"/>
                <a:ea typeface="Arial" pitchFamily="34" charset="-122"/>
                <a:cs typeface="Arial" pitchFamily="34" charset="-120"/>
              </a:rPr>
              <a:t>20 questions with gold passages and expected facts, plus safety, routing and diet test sets.</a:t>
            </a:r>
            <a:endParaRPr lang="en-US" sz="1700" dirty="0"/>
          </a:p>
        </p:txBody>
      </p:sp>
      <p:sp>
        <p:nvSpPr>
          <p:cNvPr id="27" name="Text 20"/>
          <p:cNvSpPr/>
          <p:nvPr/>
        </p:nvSpPr>
        <p:spPr>
          <a:xfrm>
            <a:off x="1325880" y="7955280"/>
            <a:ext cx="15544800" cy="822960"/>
          </a:xfrm>
          <a:prstGeom prst="rect">
            <a:avLst/>
          </a:prstGeom>
          <a:noFill/>
          <a:ln/>
        </p:spPr>
        <p:txBody>
          <a:bodyPr wrap="square" lIns="0" tIns="0" rIns="0" bIns="0" rtlCol="0" anchor="t"/>
          <a:lstStyle/>
          <a:p>
            <a:pPr algn="l" indent="0" marL="0">
              <a:lnSpc>
                <a:spcPct val="110000"/>
              </a:lnSpc>
              <a:buNone/>
            </a:pPr>
            <a:r>
              <a:rPr lang="en-US" sz="1600" i="1" dirty="0">
                <a:solidFill>
                  <a:srgbClr val="555555"/>
                </a:solidFill>
                <a:latin typeface="Arial" pitchFamily="34" charset="0"/>
                <a:ea typeface="Arial" pitchFamily="34" charset="-122"/>
                <a:cs typeface="Arial" pitchFamily="34" charset="-120"/>
              </a:rPr>
              <a:t>Data-integrity fix from the NLP version: removed a corpus of 150 copies of one sentence and a mislabelled “mental health” file that was really house-price data.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5</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TOOLS AND TECHNOLOGIES USED</a:t>
            </a:r>
            <a:endParaRPr lang="en-US" sz="4000" dirty="0"/>
          </a:p>
        </p:txBody>
      </p:sp>
      <p:sp>
        <p:nvSpPr>
          <p:cNvPr id="5" name="Shape 3"/>
          <p:cNvSpPr/>
          <p:nvPr/>
        </p:nvSpPr>
        <p:spPr>
          <a:xfrm>
            <a:off x="1828800" y="2103120"/>
            <a:ext cx="14630400" cy="640080"/>
          </a:xfrm>
          <a:prstGeom prst="rect">
            <a:avLst/>
          </a:prstGeom>
          <a:solidFill>
            <a:srgbClr val="DCE6F5"/>
          </a:solidFill>
          <a:ln w="12700">
            <a:solidFill>
              <a:srgbClr val="9AA9C6"/>
            </a:solidFill>
            <a:prstDash val="solid"/>
          </a:ln>
        </p:spPr>
      </p:sp>
      <p:sp>
        <p:nvSpPr>
          <p:cNvPr id="6" name="Text 4"/>
          <p:cNvSpPr/>
          <p:nvPr/>
        </p:nvSpPr>
        <p:spPr>
          <a:xfrm>
            <a:off x="1828800" y="2103120"/>
            <a:ext cx="4206240" cy="640080"/>
          </a:xfrm>
          <a:prstGeom prst="rect">
            <a:avLst/>
          </a:prstGeom>
          <a:noFill/>
          <a:ln/>
        </p:spPr>
        <p:txBody>
          <a:bodyPr wrap="square" lIns="0" tIns="0" rIns="0" bIns="0" rtlCol="0" anchor="ctr"/>
          <a:lstStyle/>
          <a:p>
            <a:pPr algn="ctr" indent="0" marL="0">
              <a:lnSpc>
                <a:spcPct val="110000"/>
              </a:lnSpc>
              <a:buNone/>
            </a:pPr>
            <a:r>
              <a:rPr lang="en-US" sz="1800" b="1" dirty="0">
                <a:solidFill>
                  <a:srgbClr val="222222"/>
                </a:solidFill>
                <a:latin typeface="Arial" pitchFamily="34" charset="0"/>
                <a:ea typeface="Arial" pitchFamily="34" charset="-122"/>
                <a:cs typeface="Arial" pitchFamily="34" charset="-120"/>
              </a:rPr>
              <a:t>Layer</a:t>
            </a:r>
            <a:endParaRPr lang="en-US" sz="1800" dirty="0"/>
          </a:p>
        </p:txBody>
      </p:sp>
      <p:sp>
        <p:nvSpPr>
          <p:cNvPr id="7" name="Text 5"/>
          <p:cNvSpPr/>
          <p:nvPr/>
        </p:nvSpPr>
        <p:spPr>
          <a:xfrm>
            <a:off x="6035040" y="2103120"/>
            <a:ext cx="10424160" cy="640080"/>
          </a:xfrm>
          <a:prstGeom prst="rect">
            <a:avLst/>
          </a:prstGeom>
          <a:noFill/>
          <a:ln/>
        </p:spPr>
        <p:txBody>
          <a:bodyPr wrap="square" lIns="0" tIns="0" rIns="0" bIns="0" rtlCol="0" anchor="ctr"/>
          <a:lstStyle/>
          <a:p>
            <a:pPr algn="ctr" indent="0" marL="0">
              <a:lnSpc>
                <a:spcPct val="110000"/>
              </a:lnSpc>
              <a:buNone/>
            </a:pPr>
            <a:r>
              <a:rPr lang="en-US" sz="1800" b="1" dirty="0">
                <a:solidFill>
                  <a:srgbClr val="222222"/>
                </a:solidFill>
                <a:latin typeface="Arial" pitchFamily="34" charset="0"/>
                <a:ea typeface="Arial" pitchFamily="34" charset="-122"/>
                <a:cs typeface="Arial" pitchFamily="34" charset="-120"/>
              </a:rPr>
              <a:t>Technologies / Tools</a:t>
            </a:r>
            <a:endParaRPr lang="en-US" sz="1800" dirty="0"/>
          </a:p>
        </p:txBody>
      </p:sp>
      <p:sp>
        <p:nvSpPr>
          <p:cNvPr id="8" name="User Layer"/>
          <p:cNvSpPr/>
          <p:nvPr/>
        </p:nvSpPr>
        <p:spPr>
          <a:xfrm>
            <a:off x="1828800" y="2852928"/>
            <a:ext cx="14630400" cy="896112"/>
          </a:xfrm>
          <a:prstGeom prst="roundRect">
            <a:avLst>
              <a:gd name="adj" fmla="val 8163"/>
            </a:avLst>
          </a:prstGeom>
          <a:solidFill>
            <a:srgbClr val="E8F1FB"/>
          </a:solidFill>
          <a:ln w="12700">
            <a:solidFill>
              <a:srgbClr val="4A6FD8"/>
            </a:solidFill>
            <a:prstDash val="solid"/>
          </a:ln>
        </p:spPr>
      </p:sp>
      <p:sp>
        <p:nvSpPr>
          <p:cNvPr id="9" name="Shape 7"/>
          <p:cNvSpPr/>
          <p:nvPr/>
        </p:nvSpPr>
        <p:spPr>
          <a:xfrm>
            <a:off x="2057400" y="3044952"/>
            <a:ext cx="512064" cy="512064"/>
          </a:xfrm>
          <a:prstGeom prst="ellipse">
            <a:avLst/>
          </a:prstGeom>
          <a:solidFill>
            <a:srgbClr val="4A6FD8"/>
          </a:solidFill>
          <a:ln w="12700">
            <a:solidFill>
              <a:srgbClr val="4A6FD8"/>
            </a:solidFill>
            <a:prstDash val="solid"/>
          </a:ln>
        </p:spPr>
      </p:sp>
      <p:sp>
        <p:nvSpPr>
          <p:cNvPr id="10" name="Text 8"/>
          <p:cNvSpPr/>
          <p:nvPr/>
        </p:nvSpPr>
        <p:spPr>
          <a:xfrm>
            <a:off x="2057400" y="304495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p:nvPr/>
        </p:nvSpPr>
        <p:spPr>
          <a:xfrm>
            <a:off x="2788920" y="2852928"/>
            <a:ext cx="3200400" cy="896112"/>
          </a:xfrm>
          <a:prstGeom prst="rect">
            <a:avLst/>
          </a:prstGeom>
          <a:noFill/>
          <a:ln/>
        </p:spPr>
        <p:txBody>
          <a:bodyPr wrap="square" lIns="0" tIns="0" rIns="0" bIns="0" rtlCol="0" anchor="ctr"/>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User Layer</a:t>
            </a:r>
            <a:endParaRPr lang="en-US" sz="1800" dirty="0"/>
          </a:p>
        </p:txBody>
      </p:sp>
      <p:sp>
        <p:nvSpPr>
          <p:cNvPr id="12" name="Shape 10"/>
          <p:cNvSpPr/>
          <p:nvPr/>
        </p:nvSpPr>
        <p:spPr>
          <a:xfrm>
            <a:off x="6035040" y="2944368"/>
            <a:ext cx="0" cy="713232"/>
          </a:xfrm>
          <a:prstGeom prst="line">
            <a:avLst/>
          </a:prstGeom>
          <a:noFill/>
          <a:ln w="12700">
            <a:solidFill>
              <a:srgbClr val="4A6FD8"/>
            </a:solidFill>
            <a:prstDash val="dash"/>
          </a:ln>
        </p:spPr>
      </p:sp>
      <p:pic>
        <p:nvPicPr>
          <p:cNvPr id="13" name="Image 0" descr="/home/claude/ppt2/assets/FaDesktop_p.png">    </p:cNvPr>
          <p:cNvPicPr>
            <a:picLocks noChangeAspect="1"/>
          </p:cNvPicPr>
          <p:nvPr/>
        </p:nvPicPr>
        <p:blipFill>
          <a:blip r:embed="rId1"/>
          <a:stretch>
            <a:fillRect/>
          </a:stretch>
        </p:blipFill>
        <p:spPr>
          <a:xfrm>
            <a:off x="6400800" y="3054096"/>
            <a:ext cx="502920" cy="502920"/>
          </a:xfrm>
          <a:prstGeom prst="rect">
            <a:avLst/>
          </a:prstGeom>
        </p:spPr>
      </p:pic>
      <p:sp>
        <p:nvSpPr>
          <p:cNvPr id="14" name="Text 11"/>
          <p:cNvSpPr/>
          <p:nvPr/>
        </p:nvSpPr>
        <p:spPr>
          <a:xfrm>
            <a:off x="7086600" y="2852928"/>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Streamlit web app (8 pages)</a:t>
            </a:r>
            <a:endParaRPr lang="en-US" sz="1600" dirty="0"/>
          </a:p>
        </p:txBody>
      </p:sp>
      <p:pic>
        <p:nvPicPr>
          <p:cNvPr id="15" name="Image 1" descr="/home/claude/ppt2/assets/FaMobileAlt_p.png">    </p:cNvPr>
          <p:cNvPicPr>
            <a:picLocks noChangeAspect="1"/>
          </p:cNvPicPr>
          <p:nvPr/>
        </p:nvPicPr>
        <p:blipFill>
          <a:blip r:embed="rId2"/>
          <a:stretch>
            <a:fillRect/>
          </a:stretch>
        </p:blipFill>
        <p:spPr>
          <a:xfrm>
            <a:off x="11430000" y="3054096"/>
            <a:ext cx="502920" cy="502920"/>
          </a:xfrm>
          <a:prstGeom prst="rect">
            <a:avLst/>
          </a:prstGeom>
        </p:spPr>
      </p:pic>
      <p:sp>
        <p:nvSpPr>
          <p:cNvPr id="16" name="Text 12"/>
          <p:cNvSpPr/>
          <p:nvPr/>
        </p:nvSpPr>
        <p:spPr>
          <a:xfrm>
            <a:off x="12115800" y="2852928"/>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Chat · Diet Team · Weekly Review</a:t>
            </a:r>
            <a:endParaRPr lang="en-US" sz="1600" dirty="0"/>
          </a:p>
        </p:txBody>
      </p:sp>
      <p:sp>
        <p:nvSpPr>
          <p:cNvPr id="17" name="Orchestration Layer"/>
          <p:cNvSpPr/>
          <p:nvPr/>
        </p:nvSpPr>
        <p:spPr>
          <a:xfrm>
            <a:off x="1828800" y="3877056"/>
            <a:ext cx="14630400" cy="896112"/>
          </a:xfrm>
          <a:prstGeom prst="roundRect">
            <a:avLst>
              <a:gd name="adj" fmla="val 8163"/>
            </a:avLst>
          </a:prstGeom>
          <a:solidFill>
            <a:srgbClr val="EFE8FB"/>
          </a:solidFill>
          <a:ln w="12700">
            <a:solidFill>
              <a:srgbClr val="7B5CC9"/>
            </a:solidFill>
            <a:prstDash val="solid"/>
          </a:ln>
        </p:spPr>
      </p:sp>
      <p:sp>
        <p:nvSpPr>
          <p:cNvPr id="18" name="Shape 14"/>
          <p:cNvSpPr/>
          <p:nvPr/>
        </p:nvSpPr>
        <p:spPr>
          <a:xfrm>
            <a:off x="2057400" y="4069080"/>
            <a:ext cx="512064" cy="512064"/>
          </a:xfrm>
          <a:prstGeom prst="ellipse">
            <a:avLst/>
          </a:prstGeom>
          <a:solidFill>
            <a:srgbClr val="7B5CC9"/>
          </a:solidFill>
          <a:ln w="12700">
            <a:solidFill>
              <a:srgbClr val="7B5CC9"/>
            </a:solidFill>
            <a:prstDash val="solid"/>
          </a:ln>
        </p:spPr>
      </p:sp>
      <p:sp>
        <p:nvSpPr>
          <p:cNvPr id="19" name="Text 15"/>
          <p:cNvSpPr/>
          <p:nvPr/>
        </p:nvSpPr>
        <p:spPr>
          <a:xfrm>
            <a:off x="2057400" y="4069080"/>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0" name="Text 16"/>
          <p:cNvSpPr/>
          <p:nvPr/>
        </p:nvSpPr>
        <p:spPr>
          <a:xfrm>
            <a:off x="2788920" y="3877056"/>
            <a:ext cx="3200400" cy="896112"/>
          </a:xfrm>
          <a:prstGeom prst="rect">
            <a:avLst/>
          </a:prstGeom>
          <a:noFill/>
          <a:ln/>
        </p:spPr>
        <p:txBody>
          <a:bodyPr wrap="square" lIns="0" tIns="0" rIns="0" bIns="0" rtlCol="0" anchor="ctr"/>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Orchestration Layer</a:t>
            </a:r>
            <a:endParaRPr lang="en-US" sz="1800" dirty="0"/>
          </a:p>
        </p:txBody>
      </p:sp>
      <p:sp>
        <p:nvSpPr>
          <p:cNvPr id="21" name="Shape 17"/>
          <p:cNvSpPr/>
          <p:nvPr/>
        </p:nvSpPr>
        <p:spPr>
          <a:xfrm>
            <a:off x="6035040" y="3968496"/>
            <a:ext cx="0" cy="713232"/>
          </a:xfrm>
          <a:prstGeom prst="line">
            <a:avLst/>
          </a:prstGeom>
          <a:noFill/>
          <a:ln w="12700">
            <a:solidFill>
              <a:srgbClr val="7B5CC9"/>
            </a:solidFill>
            <a:prstDash val="dash"/>
          </a:ln>
        </p:spPr>
      </p:sp>
      <p:pic>
        <p:nvPicPr>
          <p:cNvPr id="22" name="Image 2" descr="/home/claude/ppt2/assets/FaProjectDiagram_p.png">    </p:cNvPr>
          <p:cNvPicPr>
            <a:picLocks noChangeAspect="1"/>
          </p:cNvPicPr>
          <p:nvPr/>
        </p:nvPicPr>
        <p:blipFill>
          <a:blip r:embed="rId3"/>
          <a:stretch>
            <a:fillRect/>
          </a:stretch>
        </p:blipFill>
        <p:spPr>
          <a:xfrm>
            <a:off x="6400800" y="4078224"/>
            <a:ext cx="502920" cy="502920"/>
          </a:xfrm>
          <a:prstGeom prst="rect">
            <a:avLst/>
          </a:prstGeom>
        </p:spPr>
      </p:pic>
      <p:sp>
        <p:nvSpPr>
          <p:cNvPr id="23" name="Text 18"/>
          <p:cNvSpPr/>
          <p:nvPr/>
        </p:nvSpPr>
        <p:spPr>
          <a:xfrm>
            <a:off x="7086600" y="3877056"/>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LangGraph (3 agent graphs)</a:t>
            </a:r>
            <a:endParaRPr lang="en-US" sz="1600" dirty="0"/>
          </a:p>
        </p:txBody>
      </p:sp>
      <p:pic>
        <p:nvPicPr>
          <p:cNvPr id="24" name="Image 3" descr="/home/claude/ppt2/assets/FaCode_p.png">    </p:cNvPr>
          <p:cNvPicPr>
            <a:picLocks noChangeAspect="1"/>
          </p:cNvPicPr>
          <p:nvPr/>
        </p:nvPicPr>
        <p:blipFill>
          <a:blip r:embed="rId4"/>
          <a:stretch>
            <a:fillRect/>
          </a:stretch>
        </p:blipFill>
        <p:spPr>
          <a:xfrm>
            <a:off x="11430000" y="4078224"/>
            <a:ext cx="502920" cy="502920"/>
          </a:xfrm>
          <a:prstGeom prst="rect">
            <a:avLst/>
          </a:prstGeom>
        </p:spPr>
      </p:pic>
      <p:sp>
        <p:nvSpPr>
          <p:cNvPr id="25" name="Text 19"/>
          <p:cNvSpPr/>
          <p:nvPr/>
        </p:nvSpPr>
        <p:spPr>
          <a:xfrm>
            <a:off x="12115800" y="3877056"/>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Python 3.11</a:t>
            </a:r>
            <a:endParaRPr lang="en-US" sz="1600" dirty="0"/>
          </a:p>
        </p:txBody>
      </p:sp>
      <p:sp>
        <p:nvSpPr>
          <p:cNvPr id="26" name="Agent Layer"/>
          <p:cNvSpPr/>
          <p:nvPr/>
        </p:nvSpPr>
        <p:spPr>
          <a:xfrm>
            <a:off x="1828800" y="4901184"/>
            <a:ext cx="14630400" cy="896112"/>
          </a:xfrm>
          <a:prstGeom prst="roundRect">
            <a:avLst>
              <a:gd name="adj" fmla="val 8163"/>
            </a:avLst>
          </a:prstGeom>
          <a:solidFill>
            <a:srgbClr val="E6F5EA"/>
          </a:solidFill>
          <a:ln w="12700">
            <a:solidFill>
              <a:srgbClr val="3C9A54"/>
            </a:solidFill>
            <a:prstDash val="solid"/>
          </a:ln>
        </p:spPr>
      </p:sp>
      <p:sp>
        <p:nvSpPr>
          <p:cNvPr id="27" name="Shape 21"/>
          <p:cNvSpPr/>
          <p:nvPr/>
        </p:nvSpPr>
        <p:spPr>
          <a:xfrm>
            <a:off x="2057400" y="5093208"/>
            <a:ext cx="512064" cy="512064"/>
          </a:xfrm>
          <a:prstGeom prst="ellipse">
            <a:avLst/>
          </a:prstGeom>
          <a:solidFill>
            <a:srgbClr val="3C9A54"/>
          </a:solidFill>
          <a:ln w="12700">
            <a:solidFill>
              <a:srgbClr val="3C9A54"/>
            </a:solidFill>
            <a:prstDash val="solid"/>
          </a:ln>
        </p:spPr>
      </p:sp>
      <p:sp>
        <p:nvSpPr>
          <p:cNvPr id="28" name="Text 22"/>
          <p:cNvSpPr/>
          <p:nvPr/>
        </p:nvSpPr>
        <p:spPr>
          <a:xfrm>
            <a:off x="2057400" y="5093208"/>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9" name="Text 23"/>
          <p:cNvSpPr/>
          <p:nvPr/>
        </p:nvSpPr>
        <p:spPr>
          <a:xfrm>
            <a:off x="2788920" y="4901184"/>
            <a:ext cx="3200400" cy="896112"/>
          </a:xfrm>
          <a:prstGeom prst="rect">
            <a:avLst/>
          </a:prstGeom>
          <a:noFill/>
          <a:ln/>
        </p:spPr>
        <p:txBody>
          <a:bodyPr wrap="square" lIns="0" tIns="0" rIns="0" bIns="0" rtlCol="0" anchor="ctr"/>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Agent Layer</a:t>
            </a:r>
            <a:endParaRPr lang="en-US" sz="1800" dirty="0"/>
          </a:p>
        </p:txBody>
      </p:sp>
      <p:sp>
        <p:nvSpPr>
          <p:cNvPr id="30" name="Shape 24"/>
          <p:cNvSpPr/>
          <p:nvPr/>
        </p:nvSpPr>
        <p:spPr>
          <a:xfrm>
            <a:off x="6035040" y="4992624"/>
            <a:ext cx="0" cy="713232"/>
          </a:xfrm>
          <a:prstGeom prst="line">
            <a:avLst/>
          </a:prstGeom>
          <a:noFill/>
          <a:ln w="12700">
            <a:solidFill>
              <a:srgbClr val="3C9A54"/>
            </a:solidFill>
            <a:prstDash val="dash"/>
          </a:ln>
        </p:spPr>
      </p:sp>
      <p:pic>
        <p:nvPicPr>
          <p:cNvPr id="31" name="Image 4" descr="/home/claude/ppt2/assets/FaRobot_p.png">    </p:cNvPr>
          <p:cNvPicPr>
            <a:picLocks noChangeAspect="1"/>
          </p:cNvPicPr>
          <p:nvPr/>
        </p:nvPicPr>
        <p:blipFill>
          <a:blip r:embed="rId5"/>
          <a:stretch>
            <a:fillRect/>
          </a:stretch>
        </p:blipFill>
        <p:spPr>
          <a:xfrm>
            <a:off x="6400800" y="5102352"/>
            <a:ext cx="502920" cy="502920"/>
          </a:xfrm>
          <a:prstGeom prst="rect">
            <a:avLst/>
          </a:prstGeom>
        </p:spPr>
      </p:pic>
      <p:sp>
        <p:nvSpPr>
          <p:cNvPr id="32" name="Text 25"/>
          <p:cNvSpPr/>
          <p:nvPr/>
        </p:nvSpPr>
        <p:spPr>
          <a:xfrm>
            <a:off x="7086600" y="4901184"/>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Llama 3.1 8B + Qwen 2.5 7B</a:t>
            </a:r>
            <a:endParaRPr lang="en-US" sz="1600" dirty="0"/>
          </a:p>
        </p:txBody>
      </p:sp>
      <p:pic>
        <p:nvPicPr>
          <p:cNvPr id="33" name="Image 5" descr="/home/claude/ppt2/assets/FaBrain_p.png">    </p:cNvPr>
          <p:cNvPicPr>
            <a:picLocks noChangeAspect="1"/>
          </p:cNvPicPr>
          <p:nvPr/>
        </p:nvPicPr>
        <p:blipFill>
          <a:blip r:embed="rId6"/>
          <a:stretch>
            <a:fillRect/>
          </a:stretch>
        </p:blipFill>
        <p:spPr>
          <a:xfrm>
            <a:off x="11430000" y="5102352"/>
            <a:ext cx="502920" cy="502920"/>
          </a:xfrm>
          <a:prstGeom prst="rect">
            <a:avLst/>
          </a:prstGeom>
        </p:spPr>
      </p:pic>
      <p:sp>
        <p:nvSpPr>
          <p:cNvPr id="34" name="Text 26"/>
          <p:cNvSpPr/>
          <p:nvPr/>
        </p:nvSpPr>
        <p:spPr>
          <a:xfrm>
            <a:off x="12115800" y="4901184"/>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NLTK · VADER · intent/entity NLP</a:t>
            </a:r>
            <a:endParaRPr lang="en-US" sz="1600" dirty="0"/>
          </a:p>
        </p:txBody>
      </p:sp>
      <p:sp>
        <p:nvSpPr>
          <p:cNvPr id="35" name="Knowledge Layer"/>
          <p:cNvSpPr/>
          <p:nvPr/>
        </p:nvSpPr>
        <p:spPr>
          <a:xfrm>
            <a:off x="1828800" y="5925312"/>
            <a:ext cx="14630400" cy="896112"/>
          </a:xfrm>
          <a:prstGeom prst="roundRect">
            <a:avLst>
              <a:gd name="adj" fmla="val 8163"/>
            </a:avLst>
          </a:prstGeom>
          <a:solidFill>
            <a:srgbClr val="FFF5DB"/>
          </a:solidFill>
          <a:ln w="12700">
            <a:solidFill>
              <a:srgbClr val="D49A1A"/>
            </a:solidFill>
            <a:prstDash val="solid"/>
          </a:ln>
        </p:spPr>
      </p:sp>
      <p:sp>
        <p:nvSpPr>
          <p:cNvPr id="36" name="Shape 28"/>
          <p:cNvSpPr/>
          <p:nvPr/>
        </p:nvSpPr>
        <p:spPr>
          <a:xfrm>
            <a:off x="2057400" y="6117336"/>
            <a:ext cx="512064" cy="512064"/>
          </a:xfrm>
          <a:prstGeom prst="ellipse">
            <a:avLst/>
          </a:prstGeom>
          <a:solidFill>
            <a:srgbClr val="D49A1A"/>
          </a:solidFill>
          <a:ln w="12700">
            <a:solidFill>
              <a:srgbClr val="D49A1A"/>
            </a:solidFill>
            <a:prstDash val="solid"/>
          </a:ln>
        </p:spPr>
      </p:sp>
      <p:sp>
        <p:nvSpPr>
          <p:cNvPr id="37" name="Text 29"/>
          <p:cNvSpPr/>
          <p:nvPr/>
        </p:nvSpPr>
        <p:spPr>
          <a:xfrm>
            <a:off x="2057400" y="6117336"/>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8" name="Text 30"/>
          <p:cNvSpPr/>
          <p:nvPr/>
        </p:nvSpPr>
        <p:spPr>
          <a:xfrm>
            <a:off x="2788920" y="5925312"/>
            <a:ext cx="3200400" cy="896112"/>
          </a:xfrm>
          <a:prstGeom prst="rect">
            <a:avLst/>
          </a:prstGeom>
          <a:noFill/>
          <a:ln/>
        </p:spPr>
        <p:txBody>
          <a:bodyPr wrap="square" lIns="0" tIns="0" rIns="0" bIns="0" rtlCol="0" anchor="ctr"/>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Knowledge Layer</a:t>
            </a:r>
            <a:endParaRPr lang="en-US" sz="1800" dirty="0"/>
          </a:p>
        </p:txBody>
      </p:sp>
      <p:sp>
        <p:nvSpPr>
          <p:cNvPr id="39" name="Shape 31"/>
          <p:cNvSpPr/>
          <p:nvPr/>
        </p:nvSpPr>
        <p:spPr>
          <a:xfrm>
            <a:off x="6035040" y="6016752"/>
            <a:ext cx="0" cy="713232"/>
          </a:xfrm>
          <a:prstGeom prst="line">
            <a:avLst/>
          </a:prstGeom>
          <a:noFill/>
          <a:ln w="12700">
            <a:solidFill>
              <a:srgbClr val="D49A1A"/>
            </a:solidFill>
            <a:prstDash val="dash"/>
          </a:ln>
        </p:spPr>
      </p:sp>
      <p:pic>
        <p:nvPicPr>
          <p:cNvPr id="40" name="Image 6" descr="/home/claude/ppt2/assets/FaSearch_p.png">    </p:cNvPr>
          <p:cNvPicPr>
            <a:picLocks noChangeAspect="1"/>
          </p:cNvPicPr>
          <p:nvPr/>
        </p:nvPicPr>
        <p:blipFill>
          <a:blip r:embed="rId7"/>
          <a:stretch>
            <a:fillRect/>
          </a:stretch>
        </p:blipFill>
        <p:spPr>
          <a:xfrm>
            <a:off x="6400800" y="6126480"/>
            <a:ext cx="502920" cy="502920"/>
          </a:xfrm>
          <a:prstGeom prst="rect">
            <a:avLst/>
          </a:prstGeom>
        </p:spPr>
      </p:pic>
      <p:sp>
        <p:nvSpPr>
          <p:cNvPr id="41" name="Text 32"/>
          <p:cNvSpPr/>
          <p:nvPr/>
        </p:nvSpPr>
        <p:spPr>
          <a:xfrm>
            <a:off x="7086600" y="5925312"/>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nomic-embed + TF-IDF hybrid search</a:t>
            </a:r>
            <a:endParaRPr lang="en-US" sz="1600" dirty="0"/>
          </a:p>
        </p:txBody>
      </p:sp>
      <p:pic>
        <p:nvPicPr>
          <p:cNvPr id="42" name="Image 7" descr="/home/claude/ppt2/assets/FaBook_p.png">    </p:cNvPr>
          <p:cNvPicPr>
            <a:picLocks noChangeAspect="1"/>
          </p:cNvPicPr>
          <p:nvPr/>
        </p:nvPicPr>
        <p:blipFill>
          <a:blip r:embed="rId8"/>
          <a:stretch>
            <a:fillRect/>
          </a:stretch>
        </p:blipFill>
        <p:spPr>
          <a:xfrm>
            <a:off x="11430000" y="6126480"/>
            <a:ext cx="502920" cy="502920"/>
          </a:xfrm>
          <a:prstGeom prst="rect">
            <a:avLst/>
          </a:prstGeom>
        </p:spPr>
      </p:pic>
      <p:sp>
        <p:nvSpPr>
          <p:cNvPr id="43" name="Text 33"/>
          <p:cNvSpPr/>
          <p:nvPr/>
        </p:nvSpPr>
        <p:spPr>
          <a:xfrm>
            <a:off x="12115800" y="5925312"/>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49-passage guideline KB</a:t>
            </a:r>
            <a:endParaRPr lang="en-US" sz="1600" dirty="0"/>
          </a:p>
        </p:txBody>
      </p:sp>
      <p:sp>
        <p:nvSpPr>
          <p:cNvPr id="44" name="Data Layer"/>
          <p:cNvSpPr/>
          <p:nvPr/>
        </p:nvSpPr>
        <p:spPr>
          <a:xfrm>
            <a:off x="1828800" y="6949440"/>
            <a:ext cx="14630400" cy="896112"/>
          </a:xfrm>
          <a:prstGeom prst="roundRect">
            <a:avLst>
              <a:gd name="adj" fmla="val 8163"/>
            </a:avLst>
          </a:prstGeom>
          <a:solidFill>
            <a:srgbClr val="FCE8E8"/>
          </a:solidFill>
          <a:ln w="12700">
            <a:solidFill>
              <a:srgbClr val="D9534F"/>
            </a:solidFill>
            <a:prstDash val="solid"/>
          </a:ln>
        </p:spPr>
      </p:sp>
      <p:sp>
        <p:nvSpPr>
          <p:cNvPr id="45" name="Shape 35"/>
          <p:cNvSpPr/>
          <p:nvPr/>
        </p:nvSpPr>
        <p:spPr>
          <a:xfrm>
            <a:off x="2057400" y="7141464"/>
            <a:ext cx="512064" cy="512064"/>
          </a:xfrm>
          <a:prstGeom prst="ellipse">
            <a:avLst/>
          </a:prstGeom>
          <a:solidFill>
            <a:srgbClr val="D9534F"/>
          </a:solidFill>
          <a:ln w="12700">
            <a:solidFill>
              <a:srgbClr val="D9534F"/>
            </a:solidFill>
            <a:prstDash val="solid"/>
          </a:ln>
        </p:spPr>
      </p:sp>
      <p:sp>
        <p:nvSpPr>
          <p:cNvPr id="46" name="Text 36"/>
          <p:cNvSpPr/>
          <p:nvPr/>
        </p:nvSpPr>
        <p:spPr>
          <a:xfrm>
            <a:off x="2057400" y="714146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47" name="Text 37"/>
          <p:cNvSpPr/>
          <p:nvPr/>
        </p:nvSpPr>
        <p:spPr>
          <a:xfrm>
            <a:off x="2788920" y="6949440"/>
            <a:ext cx="3200400" cy="896112"/>
          </a:xfrm>
          <a:prstGeom prst="rect">
            <a:avLst/>
          </a:prstGeom>
          <a:noFill/>
          <a:ln/>
        </p:spPr>
        <p:txBody>
          <a:bodyPr wrap="square" lIns="0" tIns="0" rIns="0" bIns="0" rtlCol="0" anchor="ctr"/>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Data Layer</a:t>
            </a:r>
            <a:endParaRPr lang="en-US" sz="1800" dirty="0"/>
          </a:p>
        </p:txBody>
      </p:sp>
      <p:sp>
        <p:nvSpPr>
          <p:cNvPr id="48" name="Shape 38"/>
          <p:cNvSpPr/>
          <p:nvPr/>
        </p:nvSpPr>
        <p:spPr>
          <a:xfrm>
            <a:off x="6035040" y="7040880"/>
            <a:ext cx="0" cy="713232"/>
          </a:xfrm>
          <a:prstGeom prst="line">
            <a:avLst/>
          </a:prstGeom>
          <a:noFill/>
          <a:ln w="12700">
            <a:solidFill>
              <a:srgbClr val="D9534F"/>
            </a:solidFill>
            <a:prstDash val="dash"/>
          </a:ln>
        </p:spPr>
      </p:sp>
      <p:pic>
        <p:nvPicPr>
          <p:cNvPr id="49" name="Image 8" descr="/home/claude/ppt2/assets/FaDatabase_p.png">    </p:cNvPr>
          <p:cNvPicPr>
            <a:picLocks noChangeAspect="1"/>
          </p:cNvPicPr>
          <p:nvPr/>
        </p:nvPicPr>
        <p:blipFill>
          <a:blip r:embed="rId9"/>
          <a:stretch>
            <a:fillRect/>
          </a:stretch>
        </p:blipFill>
        <p:spPr>
          <a:xfrm>
            <a:off x="6400800" y="7150608"/>
            <a:ext cx="502920" cy="502920"/>
          </a:xfrm>
          <a:prstGeom prst="rect">
            <a:avLst/>
          </a:prstGeom>
        </p:spPr>
      </p:pic>
      <p:sp>
        <p:nvSpPr>
          <p:cNvPr id="50" name="Text 39"/>
          <p:cNvSpPr/>
          <p:nvPr/>
        </p:nvSpPr>
        <p:spPr>
          <a:xfrm>
            <a:off x="7086600" y="6949440"/>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SQLite (12 tables)</a:t>
            </a:r>
            <a:endParaRPr lang="en-US" sz="1600" dirty="0"/>
          </a:p>
        </p:txBody>
      </p:sp>
      <p:pic>
        <p:nvPicPr>
          <p:cNvPr id="51" name="Image 9" descr="/home/claude/ppt2/assets/FaLayerGroup_p.png">    </p:cNvPr>
          <p:cNvPicPr>
            <a:picLocks noChangeAspect="1"/>
          </p:cNvPicPr>
          <p:nvPr/>
        </p:nvPicPr>
        <p:blipFill>
          <a:blip r:embed="rId10"/>
          <a:stretch>
            <a:fillRect/>
          </a:stretch>
        </p:blipFill>
        <p:spPr>
          <a:xfrm>
            <a:off x="11430000" y="7150608"/>
            <a:ext cx="502920" cy="502920"/>
          </a:xfrm>
          <a:prstGeom prst="rect">
            <a:avLst/>
          </a:prstGeom>
        </p:spPr>
      </p:pic>
      <p:sp>
        <p:nvSpPr>
          <p:cNvPr id="52" name="Text 40"/>
          <p:cNvSpPr/>
          <p:nvPr/>
        </p:nvSpPr>
        <p:spPr>
          <a:xfrm>
            <a:off x="12115800" y="6949440"/>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pandas · CSV datasets</a:t>
            </a:r>
            <a:endParaRPr lang="en-US" sz="1600" dirty="0"/>
          </a:p>
        </p:txBody>
      </p:sp>
      <p:sp>
        <p:nvSpPr>
          <p:cNvPr id="53" name="Infrastructure Layer"/>
          <p:cNvSpPr/>
          <p:nvPr/>
        </p:nvSpPr>
        <p:spPr>
          <a:xfrm>
            <a:off x="1828800" y="7973568"/>
            <a:ext cx="14630400" cy="896112"/>
          </a:xfrm>
          <a:prstGeom prst="roundRect">
            <a:avLst>
              <a:gd name="adj" fmla="val 8163"/>
            </a:avLst>
          </a:prstGeom>
          <a:solidFill>
            <a:srgbClr val="E3F5F4"/>
          </a:solidFill>
          <a:ln w="12700">
            <a:solidFill>
              <a:srgbClr val="2A9D8F"/>
            </a:solidFill>
            <a:prstDash val="solid"/>
          </a:ln>
        </p:spPr>
      </p:sp>
      <p:sp>
        <p:nvSpPr>
          <p:cNvPr id="54" name="Shape 42"/>
          <p:cNvSpPr/>
          <p:nvPr/>
        </p:nvSpPr>
        <p:spPr>
          <a:xfrm>
            <a:off x="2057400" y="8165592"/>
            <a:ext cx="512064" cy="512064"/>
          </a:xfrm>
          <a:prstGeom prst="ellipse">
            <a:avLst/>
          </a:prstGeom>
          <a:solidFill>
            <a:srgbClr val="2A9D8F"/>
          </a:solidFill>
          <a:ln w="12700">
            <a:solidFill>
              <a:srgbClr val="2A9D8F"/>
            </a:solidFill>
            <a:prstDash val="solid"/>
          </a:ln>
        </p:spPr>
      </p:sp>
      <p:sp>
        <p:nvSpPr>
          <p:cNvPr id="55" name="Text 43"/>
          <p:cNvSpPr/>
          <p:nvPr/>
        </p:nvSpPr>
        <p:spPr>
          <a:xfrm>
            <a:off x="2057400" y="8165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56" name="Text 44"/>
          <p:cNvSpPr/>
          <p:nvPr/>
        </p:nvSpPr>
        <p:spPr>
          <a:xfrm>
            <a:off x="2788920" y="7973568"/>
            <a:ext cx="3200400" cy="896112"/>
          </a:xfrm>
          <a:prstGeom prst="rect">
            <a:avLst/>
          </a:prstGeom>
          <a:noFill/>
          <a:ln/>
        </p:spPr>
        <p:txBody>
          <a:bodyPr wrap="square" lIns="0" tIns="0" rIns="0" bIns="0" rtlCol="0" anchor="ctr"/>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Infrastructure Layer</a:t>
            </a:r>
            <a:endParaRPr lang="en-US" sz="1800" dirty="0"/>
          </a:p>
        </p:txBody>
      </p:sp>
      <p:sp>
        <p:nvSpPr>
          <p:cNvPr id="57" name="Shape 45"/>
          <p:cNvSpPr/>
          <p:nvPr/>
        </p:nvSpPr>
        <p:spPr>
          <a:xfrm>
            <a:off x="6035040" y="8065008"/>
            <a:ext cx="0" cy="713232"/>
          </a:xfrm>
          <a:prstGeom prst="line">
            <a:avLst/>
          </a:prstGeom>
          <a:noFill/>
          <a:ln w="12700">
            <a:solidFill>
              <a:srgbClr val="2A9D8F"/>
            </a:solidFill>
            <a:prstDash val="dash"/>
          </a:ln>
        </p:spPr>
      </p:sp>
      <p:pic>
        <p:nvPicPr>
          <p:cNvPr id="58" name="Image 10" descr="/home/claude/ppt2/assets/FaMicrochip_p.png">    </p:cNvPr>
          <p:cNvPicPr>
            <a:picLocks noChangeAspect="1"/>
          </p:cNvPicPr>
          <p:nvPr/>
        </p:nvPicPr>
        <p:blipFill>
          <a:blip r:embed="rId11"/>
          <a:stretch>
            <a:fillRect/>
          </a:stretch>
        </p:blipFill>
        <p:spPr>
          <a:xfrm>
            <a:off x="6400800" y="8174736"/>
            <a:ext cx="502920" cy="502920"/>
          </a:xfrm>
          <a:prstGeom prst="rect">
            <a:avLst/>
          </a:prstGeom>
        </p:spPr>
      </p:pic>
      <p:sp>
        <p:nvSpPr>
          <p:cNvPr id="59" name="Text 46"/>
          <p:cNvSpPr/>
          <p:nvPr/>
        </p:nvSpPr>
        <p:spPr>
          <a:xfrm>
            <a:off x="7086600" y="7973568"/>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Ollama on RTX 3070 Ti (8 GB)</a:t>
            </a:r>
            <a:endParaRPr lang="en-US" sz="1600" dirty="0"/>
          </a:p>
        </p:txBody>
      </p:sp>
      <p:pic>
        <p:nvPicPr>
          <p:cNvPr id="60" name="Image 11" descr="/home/claude/ppt2/assets/FaLock_p.png">    </p:cNvPr>
          <p:cNvPicPr>
            <a:picLocks noChangeAspect="1"/>
          </p:cNvPicPr>
          <p:nvPr/>
        </p:nvPicPr>
        <p:blipFill>
          <a:blip r:embed="rId12"/>
          <a:stretch>
            <a:fillRect/>
          </a:stretch>
        </p:blipFill>
        <p:spPr>
          <a:xfrm>
            <a:off x="11430000" y="8174736"/>
            <a:ext cx="502920" cy="502920"/>
          </a:xfrm>
          <a:prstGeom prst="rect">
            <a:avLst/>
          </a:prstGeom>
        </p:spPr>
      </p:pic>
      <p:sp>
        <p:nvSpPr>
          <p:cNvPr id="61" name="Text 47"/>
          <p:cNvSpPr/>
          <p:nvPr/>
        </p:nvSpPr>
        <p:spPr>
          <a:xfrm>
            <a:off x="12115800" y="7973568"/>
            <a:ext cx="4297680" cy="896112"/>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Fully local · Groq optional backup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6</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AGENTS ARCHITECTURE</a:t>
            </a:r>
            <a:endParaRPr lang="en-US" sz="4000" dirty="0"/>
          </a:p>
        </p:txBody>
      </p:sp>
      <p:sp>
        <p:nvSpPr>
          <p:cNvPr id="5" name="Diagram area"/>
          <p:cNvSpPr/>
          <p:nvPr/>
        </p:nvSpPr>
        <p:spPr>
          <a:xfrm>
            <a:off x="914400" y="2103120"/>
            <a:ext cx="16459200" cy="6949440"/>
          </a:xfrm>
          <a:prstGeom prst="roundRect">
            <a:avLst>
              <a:gd name="adj" fmla="val 1316"/>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6" name="Supervisor box"/>
          <p:cNvSpPr/>
          <p:nvPr/>
        </p:nvSpPr>
        <p:spPr>
          <a:xfrm>
            <a:off x="6126480" y="2331720"/>
            <a:ext cx="6035040" cy="1234440"/>
          </a:xfrm>
          <a:prstGeom prst="roundRect">
            <a:avLst>
              <a:gd name="adj" fmla="val 7407"/>
            </a:avLst>
          </a:prstGeom>
          <a:solidFill>
            <a:srgbClr val="F1ECFB"/>
          </a:solidFill>
          <a:ln w="15875">
            <a:solidFill>
              <a:srgbClr val="7B5CC9"/>
            </a:solidFill>
            <a:prstDash val="solid"/>
          </a:ln>
        </p:spPr>
      </p:sp>
      <p:pic>
        <p:nvPicPr>
          <p:cNvPr id="7" name="Image 0" descr="/home/claude/ppt2/assets/FaRobot_p.png">    </p:cNvPr>
          <p:cNvPicPr>
            <a:picLocks noChangeAspect="1"/>
          </p:cNvPicPr>
          <p:nvPr/>
        </p:nvPicPr>
        <p:blipFill>
          <a:blip r:embed="rId1"/>
          <a:stretch>
            <a:fillRect/>
          </a:stretch>
        </p:blipFill>
        <p:spPr>
          <a:xfrm>
            <a:off x="6400800" y="2542032"/>
            <a:ext cx="685800" cy="685800"/>
          </a:xfrm>
          <a:prstGeom prst="rect">
            <a:avLst/>
          </a:prstGeom>
        </p:spPr>
      </p:pic>
      <p:sp>
        <p:nvSpPr>
          <p:cNvPr id="8" name="Text 5"/>
          <p:cNvSpPr/>
          <p:nvPr/>
        </p:nvSpPr>
        <p:spPr>
          <a:xfrm>
            <a:off x="7269480" y="2377440"/>
            <a:ext cx="4754880" cy="1143000"/>
          </a:xfrm>
          <a:prstGeom prst="rect">
            <a:avLst/>
          </a:prstGeom>
          <a:noFill/>
          <a:ln/>
        </p:spPr>
        <p:txBody>
          <a:bodyPr wrap="square" lIns="0" tIns="0" rIns="0" bIns="0" rtlCol="0" anchor="ctr"/>
          <a:lstStyle/>
          <a:p>
            <a:pPr algn="l" indent="0" marL="0">
              <a:lnSpc>
                <a:spcPct val="110000"/>
              </a:lnSpc>
              <a:buNone/>
            </a:pPr>
            <a:r>
              <a:rPr lang="en-US" sz="1900" b="1" dirty="0">
                <a:solidFill>
                  <a:srgbClr val="222222"/>
                </a:solidFill>
                <a:latin typeface="Arial" pitchFamily="34" charset="0"/>
                <a:ea typeface="Arial" pitchFamily="34" charset="-122"/>
                <a:cs typeface="Arial" pitchFamily="34" charset="-120"/>
              </a:rPr>
              <a:t>SUPERVISOR</a:t>
            </a:r>
            <a:endParaRPr lang="en-US" sz="1600" dirty="0"/>
          </a:p>
          <a:p>
            <a:pPr algn="l" indent="0" marL="0">
              <a:lnSpc>
                <a:spcPct val="110000"/>
              </a:lnSpc>
              <a:buNone/>
            </a:pPr>
            <a:r>
              <a:rPr lang="en-US" sz="1300" dirty="0">
                <a:solidFill>
                  <a:srgbClr val="222222"/>
                </a:solidFill>
                <a:latin typeface="Arial" pitchFamily="34" charset="0"/>
                <a:ea typeface="Arial" pitchFamily="34" charset="-122"/>
                <a:cs typeface="Arial" pitchFamily="34" charset="-120"/>
              </a:rPr>
              <a:t>(Router &amp; Planner)  ·  Researcher: Agentic RAG  ·  Shared State</a:t>
            </a:r>
            <a:endParaRPr lang="en-US" sz="1600" dirty="0"/>
          </a:p>
        </p:txBody>
      </p:sp>
      <p:sp>
        <p:nvSpPr>
          <p:cNvPr id="9" name="Shape 6"/>
          <p:cNvSpPr/>
          <p:nvPr/>
        </p:nvSpPr>
        <p:spPr>
          <a:xfrm>
            <a:off x="1975104" y="3858768"/>
            <a:ext cx="14301216" cy="0"/>
          </a:xfrm>
          <a:prstGeom prst="line">
            <a:avLst/>
          </a:prstGeom>
          <a:noFill/>
          <a:ln w="19050">
            <a:solidFill>
              <a:srgbClr val="7B5CC9"/>
            </a:solidFill>
            <a:prstDash val="solid"/>
          </a:ln>
        </p:spPr>
      </p:sp>
      <p:sp>
        <p:nvSpPr>
          <p:cNvPr id="10" name="Shape 7"/>
          <p:cNvSpPr/>
          <p:nvPr/>
        </p:nvSpPr>
        <p:spPr>
          <a:xfrm>
            <a:off x="9144000" y="3566160"/>
            <a:ext cx="0" cy="292608"/>
          </a:xfrm>
          <a:prstGeom prst="line">
            <a:avLst/>
          </a:prstGeom>
          <a:noFill/>
          <a:ln w="19050">
            <a:solidFill>
              <a:srgbClr val="7B5CC9"/>
            </a:solidFill>
            <a:prstDash val="solid"/>
          </a:ln>
        </p:spPr>
      </p:sp>
      <p:sp>
        <p:nvSpPr>
          <p:cNvPr id="11" name="Shape 8"/>
          <p:cNvSpPr/>
          <p:nvPr/>
        </p:nvSpPr>
        <p:spPr>
          <a:xfrm>
            <a:off x="1975104" y="3858768"/>
            <a:ext cx="0" cy="301752"/>
          </a:xfrm>
          <a:prstGeom prst="line">
            <a:avLst/>
          </a:prstGeom>
          <a:noFill/>
          <a:ln w="19050">
            <a:solidFill>
              <a:srgbClr val="7B5CC9"/>
            </a:solidFill>
            <a:prstDash val="solid"/>
            <a:tailEnd type="triangle"/>
          </a:ln>
        </p:spPr>
      </p:sp>
      <p:sp>
        <p:nvSpPr>
          <p:cNvPr id="12" name="Sleep agent"/>
          <p:cNvSpPr/>
          <p:nvPr/>
        </p:nvSpPr>
        <p:spPr>
          <a:xfrm>
            <a:off x="1143000" y="4160520"/>
            <a:ext cx="1664208" cy="2331720"/>
          </a:xfrm>
          <a:prstGeom prst="roundRect">
            <a:avLst>
              <a:gd name="adj" fmla="val 4396"/>
            </a:avLst>
          </a:prstGeom>
          <a:solidFill>
            <a:srgbClr val="E6F7EC"/>
          </a:solidFill>
          <a:ln w="15875">
            <a:solidFill>
              <a:srgbClr val="3C9A54"/>
            </a:solidFill>
            <a:prstDash val="solid"/>
          </a:ln>
        </p:spPr>
      </p:sp>
      <p:pic>
        <p:nvPicPr>
          <p:cNvPr id="13" name="Image 1" descr="/home/claude/ppt2/assets/FaBed_d.png">    </p:cNvPr>
          <p:cNvPicPr>
            <a:picLocks noChangeAspect="1"/>
          </p:cNvPicPr>
          <p:nvPr/>
        </p:nvPicPr>
        <p:blipFill>
          <a:blip r:embed="rId2"/>
          <a:stretch>
            <a:fillRect/>
          </a:stretch>
        </p:blipFill>
        <p:spPr>
          <a:xfrm>
            <a:off x="1700784" y="4325112"/>
            <a:ext cx="548640" cy="548640"/>
          </a:xfrm>
          <a:prstGeom prst="rect">
            <a:avLst/>
          </a:prstGeom>
        </p:spPr>
      </p:pic>
      <p:sp>
        <p:nvSpPr>
          <p:cNvPr id="14" name="Text 10"/>
          <p:cNvSpPr/>
          <p:nvPr/>
        </p:nvSpPr>
        <p:spPr>
          <a:xfrm>
            <a:off x="1188720"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SLEEP</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(Sleep agent)</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log habits, sleep trend</a:t>
            </a:r>
            <a:endParaRPr lang="en-US" sz="1600" dirty="0"/>
          </a:p>
        </p:txBody>
      </p:sp>
      <p:sp>
        <p:nvSpPr>
          <p:cNvPr id="15" name="Shape 11"/>
          <p:cNvSpPr/>
          <p:nvPr/>
        </p:nvSpPr>
        <p:spPr>
          <a:xfrm>
            <a:off x="2807208" y="5326380"/>
            <a:ext cx="123444" cy="0"/>
          </a:xfrm>
          <a:prstGeom prst="line">
            <a:avLst/>
          </a:prstGeom>
          <a:noFill/>
          <a:ln w="12700">
            <a:solidFill>
              <a:srgbClr val="777777"/>
            </a:solidFill>
            <a:prstDash val="solid"/>
            <a:tailEnd type="triangle"/>
          </a:ln>
        </p:spPr>
      </p:sp>
      <p:sp>
        <p:nvSpPr>
          <p:cNvPr id="16" name="Shape 12"/>
          <p:cNvSpPr/>
          <p:nvPr/>
        </p:nvSpPr>
        <p:spPr>
          <a:xfrm>
            <a:off x="3762756" y="3858768"/>
            <a:ext cx="0" cy="301752"/>
          </a:xfrm>
          <a:prstGeom prst="line">
            <a:avLst/>
          </a:prstGeom>
          <a:noFill/>
          <a:ln w="19050">
            <a:solidFill>
              <a:srgbClr val="7B5CC9"/>
            </a:solidFill>
            <a:prstDash val="solid"/>
            <a:tailEnd type="triangle"/>
          </a:ln>
        </p:spPr>
      </p:sp>
      <p:sp>
        <p:nvSpPr>
          <p:cNvPr id="17" name="Fitness agent"/>
          <p:cNvSpPr/>
          <p:nvPr/>
        </p:nvSpPr>
        <p:spPr>
          <a:xfrm>
            <a:off x="2930652" y="4160520"/>
            <a:ext cx="1664208" cy="2331720"/>
          </a:xfrm>
          <a:prstGeom prst="roundRect">
            <a:avLst>
              <a:gd name="adj" fmla="val 4396"/>
            </a:avLst>
          </a:prstGeom>
          <a:solidFill>
            <a:srgbClr val="FFF6DA"/>
          </a:solidFill>
          <a:ln w="15875">
            <a:solidFill>
              <a:srgbClr val="D49A1A"/>
            </a:solidFill>
            <a:prstDash val="solid"/>
          </a:ln>
        </p:spPr>
      </p:sp>
      <p:pic>
        <p:nvPicPr>
          <p:cNvPr id="18" name="Image 2" descr="/home/claude/ppt2/assets/FaDumbbell_d.png">    </p:cNvPr>
          <p:cNvPicPr>
            <a:picLocks noChangeAspect="1"/>
          </p:cNvPicPr>
          <p:nvPr/>
        </p:nvPicPr>
        <p:blipFill>
          <a:blip r:embed="rId3"/>
          <a:stretch>
            <a:fillRect/>
          </a:stretch>
        </p:blipFill>
        <p:spPr>
          <a:xfrm>
            <a:off x="3488436" y="4325112"/>
            <a:ext cx="548640" cy="548640"/>
          </a:xfrm>
          <a:prstGeom prst="rect">
            <a:avLst/>
          </a:prstGeom>
        </p:spPr>
      </p:pic>
      <p:sp>
        <p:nvSpPr>
          <p:cNvPr id="19" name="Text 14"/>
          <p:cNvSpPr/>
          <p:nvPr/>
        </p:nvSpPr>
        <p:spPr>
          <a:xfrm>
            <a:off x="2976372"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FITNESS</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(Fitness agent)</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safe exercises, today's plan</a:t>
            </a:r>
            <a:endParaRPr lang="en-US" sz="1600" dirty="0"/>
          </a:p>
        </p:txBody>
      </p:sp>
      <p:sp>
        <p:nvSpPr>
          <p:cNvPr id="20" name="Shape 15"/>
          <p:cNvSpPr/>
          <p:nvPr/>
        </p:nvSpPr>
        <p:spPr>
          <a:xfrm>
            <a:off x="4594860" y="5326380"/>
            <a:ext cx="123444" cy="0"/>
          </a:xfrm>
          <a:prstGeom prst="line">
            <a:avLst/>
          </a:prstGeom>
          <a:noFill/>
          <a:ln w="12700">
            <a:solidFill>
              <a:srgbClr val="777777"/>
            </a:solidFill>
            <a:prstDash val="solid"/>
            <a:tailEnd type="triangle"/>
          </a:ln>
        </p:spPr>
      </p:sp>
      <p:sp>
        <p:nvSpPr>
          <p:cNvPr id="21" name="Shape 16"/>
          <p:cNvSpPr/>
          <p:nvPr/>
        </p:nvSpPr>
        <p:spPr>
          <a:xfrm>
            <a:off x="5550408" y="3858768"/>
            <a:ext cx="0" cy="301752"/>
          </a:xfrm>
          <a:prstGeom prst="line">
            <a:avLst/>
          </a:prstGeom>
          <a:noFill/>
          <a:ln w="19050">
            <a:solidFill>
              <a:srgbClr val="7B5CC9"/>
            </a:solidFill>
            <a:prstDash val="solid"/>
            <a:tailEnd type="triangle"/>
          </a:ln>
        </p:spPr>
      </p:sp>
      <p:sp>
        <p:nvSpPr>
          <p:cNvPr id="22" name="Nutrition agent"/>
          <p:cNvSpPr/>
          <p:nvPr/>
        </p:nvSpPr>
        <p:spPr>
          <a:xfrm>
            <a:off x="4718304" y="4160520"/>
            <a:ext cx="1664208" cy="2331720"/>
          </a:xfrm>
          <a:prstGeom prst="roundRect">
            <a:avLst>
              <a:gd name="adj" fmla="val 4396"/>
            </a:avLst>
          </a:prstGeom>
          <a:solidFill>
            <a:srgbClr val="FFE9DD"/>
          </a:solidFill>
          <a:ln w="15875">
            <a:solidFill>
              <a:srgbClr val="E07A30"/>
            </a:solidFill>
            <a:prstDash val="solid"/>
          </a:ln>
        </p:spPr>
      </p:sp>
      <p:pic>
        <p:nvPicPr>
          <p:cNvPr id="23" name="Image 3" descr="/home/claude/ppt2/assets/FaAppleAlt_d.png">    </p:cNvPr>
          <p:cNvPicPr>
            <a:picLocks noChangeAspect="1"/>
          </p:cNvPicPr>
          <p:nvPr/>
        </p:nvPicPr>
        <p:blipFill>
          <a:blip r:embed="rId4"/>
          <a:stretch>
            <a:fillRect/>
          </a:stretch>
        </p:blipFill>
        <p:spPr>
          <a:xfrm>
            <a:off x="5276088" y="4325112"/>
            <a:ext cx="548640" cy="548640"/>
          </a:xfrm>
          <a:prstGeom prst="rect">
            <a:avLst/>
          </a:prstGeom>
        </p:spPr>
      </p:pic>
      <p:sp>
        <p:nvSpPr>
          <p:cNvPr id="24" name="Text 18"/>
          <p:cNvSpPr/>
          <p:nvPr/>
        </p:nvSpPr>
        <p:spPr>
          <a:xfrm>
            <a:off x="4764024"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NUTRITION</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(Nutrition agent)</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diet engine, BMI, swaps</a:t>
            </a:r>
            <a:endParaRPr lang="en-US" sz="1600" dirty="0"/>
          </a:p>
        </p:txBody>
      </p:sp>
      <p:sp>
        <p:nvSpPr>
          <p:cNvPr id="25" name="Shape 19"/>
          <p:cNvSpPr/>
          <p:nvPr/>
        </p:nvSpPr>
        <p:spPr>
          <a:xfrm>
            <a:off x="6382512" y="5326380"/>
            <a:ext cx="123444" cy="0"/>
          </a:xfrm>
          <a:prstGeom prst="line">
            <a:avLst/>
          </a:prstGeom>
          <a:noFill/>
          <a:ln w="12700">
            <a:solidFill>
              <a:srgbClr val="777777"/>
            </a:solidFill>
            <a:prstDash val="solid"/>
            <a:tailEnd type="triangle"/>
          </a:ln>
        </p:spPr>
      </p:sp>
      <p:sp>
        <p:nvSpPr>
          <p:cNvPr id="26" name="Shape 20"/>
          <p:cNvSpPr/>
          <p:nvPr/>
        </p:nvSpPr>
        <p:spPr>
          <a:xfrm>
            <a:off x="7338060" y="3858768"/>
            <a:ext cx="0" cy="301752"/>
          </a:xfrm>
          <a:prstGeom prst="line">
            <a:avLst/>
          </a:prstGeom>
          <a:noFill/>
          <a:ln w="19050">
            <a:solidFill>
              <a:srgbClr val="7B5CC9"/>
            </a:solidFill>
            <a:prstDash val="solid"/>
            <a:tailEnd type="triangle"/>
          </a:ln>
        </p:spPr>
      </p:sp>
      <p:sp>
        <p:nvSpPr>
          <p:cNvPr id="27" name="Mind agent"/>
          <p:cNvSpPr/>
          <p:nvPr/>
        </p:nvSpPr>
        <p:spPr>
          <a:xfrm>
            <a:off x="6505956" y="4160520"/>
            <a:ext cx="1664208" cy="2331720"/>
          </a:xfrm>
          <a:prstGeom prst="roundRect">
            <a:avLst>
              <a:gd name="adj" fmla="val 4396"/>
            </a:avLst>
          </a:prstGeom>
          <a:solidFill>
            <a:srgbClr val="FCE6F2"/>
          </a:solidFill>
          <a:ln w="15875">
            <a:solidFill>
              <a:srgbClr val="C2448F"/>
            </a:solidFill>
            <a:prstDash val="solid"/>
          </a:ln>
        </p:spPr>
      </p:sp>
      <p:pic>
        <p:nvPicPr>
          <p:cNvPr id="28" name="Image 4" descr="/home/claude/ppt2/assets/FaBrain_d.png">    </p:cNvPr>
          <p:cNvPicPr>
            <a:picLocks noChangeAspect="1"/>
          </p:cNvPicPr>
          <p:nvPr/>
        </p:nvPicPr>
        <p:blipFill>
          <a:blip r:embed="rId5"/>
          <a:stretch>
            <a:fillRect/>
          </a:stretch>
        </p:blipFill>
        <p:spPr>
          <a:xfrm>
            <a:off x="7063740" y="4325112"/>
            <a:ext cx="548640" cy="548640"/>
          </a:xfrm>
          <a:prstGeom prst="rect">
            <a:avLst/>
          </a:prstGeom>
        </p:spPr>
      </p:pic>
      <p:sp>
        <p:nvSpPr>
          <p:cNvPr id="29" name="Text 22"/>
          <p:cNvSpPr/>
          <p:nvPr/>
        </p:nvSpPr>
        <p:spPr>
          <a:xfrm>
            <a:off x="6551676"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MIND</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(Mind agent)</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stress, mood, exams</a:t>
            </a:r>
            <a:endParaRPr lang="en-US" sz="1600" dirty="0"/>
          </a:p>
        </p:txBody>
      </p:sp>
      <p:sp>
        <p:nvSpPr>
          <p:cNvPr id="30" name="Shape 23"/>
          <p:cNvSpPr/>
          <p:nvPr/>
        </p:nvSpPr>
        <p:spPr>
          <a:xfrm>
            <a:off x="8170164" y="5326380"/>
            <a:ext cx="123444" cy="0"/>
          </a:xfrm>
          <a:prstGeom prst="line">
            <a:avLst/>
          </a:prstGeom>
          <a:noFill/>
          <a:ln w="12700">
            <a:solidFill>
              <a:srgbClr val="777777"/>
            </a:solidFill>
            <a:prstDash val="solid"/>
            <a:tailEnd type="triangle"/>
          </a:ln>
        </p:spPr>
      </p:sp>
      <p:sp>
        <p:nvSpPr>
          <p:cNvPr id="31" name="Shape 24"/>
          <p:cNvSpPr/>
          <p:nvPr/>
        </p:nvSpPr>
        <p:spPr>
          <a:xfrm>
            <a:off x="9125712" y="3858768"/>
            <a:ext cx="0" cy="301752"/>
          </a:xfrm>
          <a:prstGeom prst="line">
            <a:avLst/>
          </a:prstGeom>
          <a:noFill/>
          <a:ln w="19050">
            <a:solidFill>
              <a:srgbClr val="7B5CC9"/>
            </a:solidFill>
            <a:prstDash val="solid"/>
            <a:tailEnd type="triangle"/>
          </a:ln>
        </p:spPr>
      </p:sp>
      <p:sp>
        <p:nvSpPr>
          <p:cNvPr id="32" name="Mediator agent"/>
          <p:cNvSpPr/>
          <p:nvPr/>
        </p:nvSpPr>
        <p:spPr>
          <a:xfrm>
            <a:off x="8293608" y="4160520"/>
            <a:ext cx="1664208" cy="2331720"/>
          </a:xfrm>
          <a:prstGeom prst="roundRect">
            <a:avLst>
              <a:gd name="adj" fmla="val 4396"/>
            </a:avLst>
          </a:prstGeom>
          <a:solidFill>
            <a:srgbClr val="E6F0FF"/>
          </a:solidFill>
          <a:ln w="15875">
            <a:solidFill>
              <a:srgbClr val="4A6FD8"/>
            </a:solidFill>
            <a:prstDash val="solid"/>
          </a:ln>
        </p:spPr>
      </p:sp>
      <p:pic>
        <p:nvPicPr>
          <p:cNvPr id="33" name="Image 5" descr="/home/claude/ppt2/assets/FaBalanceScale_d.png">    </p:cNvPr>
          <p:cNvPicPr>
            <a:picLocks noChangeAspect="1"/>
          </p:cNvPicPr>
          <p:nvPr/>
        </p:nvPicPr>
        <p:blipFill>
          <a:blip r:embed="rId6"/>
          <a:stretch>
            <a:fillRect/>
          </a:stretch>
        </p:blipFill>
        <p:spPr>
          <a:xfrm>
            <a:off x="8851392" y="4325112"/>
            <a:ext cx="548640" cy="548640"/>
          </a:xfrm>
          <a:prstGeom prst="rect">
            <a:avLst/>
          </a:prstGeom>
        </p:spPr>
      </p:pic>
      <p:sp>
        <p:nvSpPr>
          <p:cNvPr id="34" name="Text 26"/>
          <p:cNvSpPr/>
          <p:nvPr/>
        </p:nvSpPr>
        <p:spPr>
          <a:xfrm>
            <a:off x="8339328"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MEDIATOR</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(Conflict resolution)</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rest / light / normal</a:t>
            </a:r>
            <a:endParaRPr lang="en-US" sz="1600" dirty="0"/>
          </a:p>
        </p:txBody>
      </p:sp>
      <p:sp>
        <p:nvSpPr>
          <p:cNvPr id="35" name="Shape 27"/>
          <p:cNvSpPr/>
          <p:nvPr/>
        </p:nvSpPr>
        <p:spPr>
          <a:xfrm>
            <a:off x="9957816" y="5326380"/>
            <a:ext cx="123444" cy="0"/>
          </a:xfrm>
          <a:prstGeom prst="line">
            <a:avLst/>
          </a:prstGeom>
          <a:noFill/>
          <a:ln w="12700">
            <a:solidFill>
              <a:srgbClr val="777777"/>
            </a:solidFill>
            <a:prstDash val="solid"/>
            <a:tailEnd type="triangle"/>
          </a:ln>
        </p:spPr>
      </p:sp>
      <p:sp>
        <p:nvSpPr>
          <p:cNvPr id="36" name="Shape 28"/>
          <p:cNvSpPr/>
          <p:nvPr/>
        </p:nvSpPr>
        <p:spPr>
          <a:xfrm>
            <a:off x="10913364" y="3858768"/>
            <a:ext cx="0" cy="301752"/>
          </a:xfrm>
          <a:prstGeom prst="line">
            <a:avLst/>
          </a:prstGeom>
          <a:noFill/>
          <a:ln w="19050">
            <a:solidFill>
              <a:srgbClr val="7B5CC9"/>
            </a:solidFill>
            <a:prstDash val="solid"/>
            <a:tailEnd type="triangle"/>
          </a:ln>
        </p:spPr>
      </p:sp>
      <p:sp>
        <p:nvSpPr>
          <p:cNvPr id="37" name="Synthesizer agent"/>
          <p:cNvSpPr/>
          <p:nvPr/>
        </p:nvSpPr>
        <p:spPr>
          <a:xfrm>
            <a:off x="10081260" y="4160520"/>
            <a:ext cx="1664208" cy="2331720"/>
          </a:xfrm>
          <a:prstGeom prst="roundRect">
            <a:avLst>
              <a:gd name="adj" fmla="val 4396"/>
            </a:avLst>
          </a:prstGeom>
          <a:solidFill>
            <a:srgbClr val="ECEBFF"/>
          </a:solidFill>
          <a:ln w="15875">
            <a:solidFill>
              <a:srgbClr val="5B5BD6"/>
            </a:solidFill>
            <a:prstDash val="solid"/>
          </a:ln>
        </p:spPr>
      </p:sp>
      <p:pic>
        <p:nvPicPr>
          <p:cNvPr id="38" name="Image 6" descr="/home/claude/ppt2/assets/FaPenNib_d.png">    </p:cNvPr>
          <p:cNvPicPr>
            <a:picLocks noChangeAspect="1"/>
          </p:cNvPicPr>
          <p:nvPr/>
        </p:nvPicPr>
        <p:blipFill>
          <a:blip r:embed="rId7"/>
          <a:stretch>
            <a:fillRect/>
          </a:stretch>
        </p:blipFill>
        <p:spPr>
          <a:xfrm>
            <a:off x="10639044" y="4325112"/>
            <a:ext cx="548640" cy="548640"/>
          </a:xfrm>
          <a:prstGeom prst="rect">
            <a:avLst/>
          </a:prstGeom>
        </p:spPr>
      </p:pic>
      <p:sp>
        <p:nvSpPr>
          <p:cNvPr id="39" name="Text 30"/>
          <p:cNvSpPr/>
          <p:nvPr/>
        </p:nvSpPr>
        <p:spPr>
          <a:xfrm>
            <a:off x="10126980"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SYNTHESIZER</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(Answer writer)</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one cited answer</a:t>
            </a:r>
            <a:endParaRPr lang="en-US" sz="1600" dirty="0"/>
          </a:p>
        </p:txBody>
      </p:sp>
      <p:sp>
        <p:nvSpPr>
          <p:cNvPr id="40" name="Shape 31"/>
          <p:cNvSpPr/>
          <p:nvPr/>
        </p:nvSpPr>
        <p:spPr>
          <a:xfrm>
            <a:off x="11745468" y="5326380"/>
            <a:ext cx="123444" cy="0"/>
          </a:xfrm>
          <a:prstGeom prst="line">
            <a:avLst/>
          </a:prstGeom>
          <a:noFill/>
          <a:ln w="12700">
            <a:solidFill>
              <a:srgbClr val="777777"/>
            </a:solidFill>
            <a:prstDash val="solid"/>
            <a:tailEnd type="triangle"/>
          </a:ln>
        </p:spPr>
      </p:sp>
      <p:sp>
        <p:nvSpPr>
          <p:cNvPr id="41" name="Shape 32"/>
          <p:cNvSpPr/>
          <p:nvPr/>
        </p:nvSpPr>
        <p:spPr>
          <a:xfrm>
            <a:off x="12701016" y="3858768"/>
            <a:ext cx="0" cy="301752"/>
          </a:xfrm>
          <a:prstGeom prst="line">
            <a:avLst/>
          </a:prstGeom>
          <a:noFill/>
          <a:ln w="19050">
            <a:solidFill>
              <a:srgbClr val="7B5CC9"/>
            </a:solidFill>
            <a:prstDash val="solid"/>
            <a:tailEnd type="triangle"/>
          </a:ln>
        </p:spPr>
      </p:sp>
      <p:sp>
        <p:nvSpPr>
          <p:cNvPr id="42" name="Guardian agent"/>
          <p:cNvSpPr/>
          <p:nvPr/>
        </p:nvSpPr>
        <p:spPr>
          <a:xfrm>
            <a:off x="11868912" y="4160520"/>
            <a:ext cx="1664208" cy="2331720"/>
          </a:xfrm>
          <a:prstGeom prst="roundRect">
            <a:avLst>
              <a:gd name="adj" fmla="val 4396"/>
            </a:avLst>
          </a:prstGeom>
          <a:solidFill>
            <a:srgbClr val="FFE6E6"/>
          </a:solidFill>
          <a:ln w="15875">
            <a:solidFill>
              <a:srgbClr val="D9534F"/>
            </a:solidFill>
            <a:prstDash val="solid"/>
          </a:ln>
        </p:spPr>
      </p:sp>
      <p:pic>
        <p:nvPicPr>
          <p:cNvPr id="43" name="Image 7" descr="/home/claude/ppt2/assets/FaShieldAlt_d.png">    </p:cNvPr>
          <p:cNvPicPr>
            <a:picLocks noChangeAspect="1"/>
          </p:cNvPicPr>
          <p:nvPr/>
        </p:nvPicPr>
        <p:blipFill>
          <a:blip r:embed="rId8"/>
          <a:stretch>
            <a:fillRect/>
          </a:stretch>
        </p:blipFill>
        <p:spPr>
          <a:xfrm>
            <a:off x="12426696" y="4325112"/>
            <a:ext cx="548640" cy="548640"/>
          </a:xfrm>
          <a:prstGeom prst="rect">
            <a:avLst/>
          </a:prstGeom>
        </p:spPr>
      </p:pic>
      <p:sp>
        <p:nvSpPr>
          <p:cNvPr id="44" name="Text 34"/>
          <p:cNvSpPr/>
          <p:nvPr/>
        </p:nvSpPr>
        <p:spPr>
          <a:xfrm>
            <a:off x="11914632"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GUARDIAN</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(Safety (rules))</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veto + auto-fix</a:t>
            </a:r>
            <a:endParaRPr lang="en-US" sz="1600" dirty="0"/>
          </a:p>
        </p:txBody>
      </p:sp>
      <p:sp>
        <p:nvSpPr>
          <p:cNvPr id="45" name="Shape 35"/>
          <p:cNvSpPr/>
          <p:nvPr/>
        </p:nvSpPr>
        <p:spPr>
          <a:xfrm>
            <a:off x="13533120" y="5326380"/>
            <a:ext cx="123444" cy="0"/>
          </a:xfrm>
          <a:prstGeom prst="line">
            <a:avLst/>
          </a:prstGeom>
          <a:noFill/>
          <a:ln w="12700">
            <a:solidFill>
              <a:srgbClr val="777777"/>
            </a:solidFill>
            <a:prstDash val="solid"/>
            <a:tailEnd type="triangle"/>
          </a:ln>
        </p:spPr>
      </p:sp>
      <p:sp>
        <p:nvSpPr>
          <p:cNvPr id="46" name="Shape 36"/>
          <p:cNvSpPr/>
          <p:nvPr/>
        </p:nvSpPr>
        <p:spPr>
          <a:xfrm>
            <a:off x="14488668" y="3858768"/>
            <a:ext cx="0" cy="301752"/>
          </a:xfrm>
          <a:prstGeom prst="line">
            <a:avLst/>
          </a:prstGeom>
          <a:noFill/>
          <a:ln w="19050">
            <a:solidFill>
              <a:srgbClr val="7B5CC9"/>
            </a:solidFill>
            <a:prstDash val="solid"/>
            <a:tailEnd type="triangle"/>
          </a:ln>
        </p:spPr>
      </p:sp>
      <p:sp>
        <p:nvSpPr>
          <p:cNvPr id="47" name="Critic agent"/>
          <p:cNvSpPr/>
          <p:nvPr/>
        </p:nvSpPr>
        <p:spPr>
          <a:xfrm>
            <a:off x="13656564" y="4160520"/>
            <a:ext cx="1664208" cy="2331720"/>
          </a:xfrm>
          <a:prstGeom prst="roundRect">
            <a:avLst>
              <a:gd name="adj" fmla="val 4396"/>
            </a:avLst>
          </a:prstGeom>
          <a:solidFill>
            <a:srgbClr val="E3F7F5"/>
          </a:solidFill>
          <a:ln w="15875">
            <a:solidFill>
              <a:srgbClr val="2A9D8F"/>
            </a:solidFill>
            <a:prstDash val="solid"/>
          </a:ln>
        </p:spPr>
      </p:sp>
      <p:pic>
        <p:nvPicPr>
          <p:cNvPr id="48" name="Image 8" descr="/home/claude/ppt2/assets/FaSearch_d.png">    </p:cNvPr>
          <p:cNvPicPr>
            <a:picLocks noChangeAspect="1"/>
          </p:cNvPicPr>
          <p:nvPr/>
        </p:nvPicPr>
        <p:blipFill>
          <a:blip r:embed="rId9"/>
          <a:stretch>
            <a:fillRect/>
          </a:stretch>
        </p:blipFill>
        <p:spPr>
          <a:xfrm>
            <a:off x="14214348" y="4325112"/>
            <a:ext cx="548640" cy="548640"/>
          </a:xfrm>
          <a:prstGeom prst="rect">
            <a:avLst/>
          </a:prstGeom>
        </p:spPr>
      </p:pic>
      <p:sp>
        <p:nvSpPr>
          <p:cNvPr id="49" name="Text 38"/>
          <p:cNvSpPr/>
          <p:nvPr/>
        </p:nvSpPr>
        <p:spPr>
          <a:xfrm>
            <a:off x="13702284"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CRITIC</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(Second LLM)</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reviews the answer</a:t>
            </a:r>
            <a:endParaRPr lang="en-US" sz="1600" dirty="0"/>
          </a:p>
        </p:txBody>
      </p:sp>
      <p:sp>
        <p:nvSpPr>
          <p:cNvPr id="50" name="Shape 39"/>
          <p:cNvSpPr/>
          <p:nvPr/>
        </p:nvSpPr>
        <p:spPr>
          <a:xfrm>
            <a:off x="15320772" y="5326380"/>
            <a:ext cx="123444" cy="0"/>
          </a:xfrm>
          <a:prstGeom prst="line">
            <a:avLst/>
          </a:prstGeom>
          <a:noFill/>
          <a:ln w="12700">
            <a:solidFill>
              <a:srgbClr val="777777"/>
            </a:solidFill>
            <a:prstDash val="solid"/>
            <a:tailEnd type="triangle"/>
          </a:ln>
        </p:spPr>
      </p:sp>
      <p:sp>
        <p:nvSpPr>
          <p:cNvPr id="51" name="Shape 40"/>
          <p:cNvSpPr/>
          <p:nvPr/>
        </p:nvSpPr>
        <p:spPr>
          <a:xfrm>
            <a:off x="16276320" y="3858768"/>
            <a:ext cx="0" cy="301752"/>
          </a:xfrm>
          <a:prstGeom prst="line">
            <a:avLst/>
          </a:prstGeom>
          <a:noFill/>
          <a:ln w="19050">
            <a:solidFill>
              <a:srgbClr val="7B5CC9"/>
            </a:solidFill>
            <a:prstDash val="solid"/>
            <a:tailEnd type="triangle"/>
          </a:ln>
        </p:spPr>
      </p:sp>
      <p:sp>
        <p:nvSpPr>
          <p:cNvPr id="52" name="HITL agent"/>
          <p:cNvSpPr/>
          <p:nvPr/>
        </p:nvSpPr>
        <p:spPr>
          <a:xfrm>
            <a:off x="15444216" y="4160520"/>
            <a:ext cx="1664208" cy="2331720"/>
          </a:xfrm>
          <a:prstGeom prst="roundRect">
            <a:avLst>
              <a:gd name="adj" fmla="val 4396"/>
            </a:avLst>
          </a:prstGeom>
          <a:solidFill>
            <a:srgbClr val="F3EBFF"/>
          </a:solidFill>
          <a:ln w="15875">
            <a:solidFill>
              <a:srgbClr val="7B5CC9"/>
            </a:solidFill>
            <a:prstDash val="solid"/>
          </a:ln>
        </p:spPr>
      </p:sp>
      <p:pic>
        <p:nvPicPr>
          <p:cNvPr id="53" name="Image 9" descr="/home/claude/ppt2/assets/FaUserCheck_d.png">    </p:cNvPr>
          <p:cNvPicPr>
            <a:picLocks noChangeAspect="1"/>
          </p:cNvPicPr>
          <p:nvPr/>
        </p:nvPicPr>
        <p:blipFill>
          <a:blip r:embed="rId10"/>
          <a:stretch>
            <a:fillRect/>
          </a:stretch>
        </p:blipFill>
        <p:spPr>
          <a:xfrm>
            <a:off x="16002000" y="4325112"/>
            <a:ext cx="548640" cy="548640"/>
          </a:xfrm>
          <a:prstGeom prst="rect">
            <a:avLst/>
          </a:prstGeom>
        </p:spPr>
      </p:pic>
      <p:sp>
        <p:nvSpPr>
          <p:cNvPr id="54" name="Text 42"/>
          <p:cNvSpPr/>
          <p:nvPr/>
        </p:nvSpPr>
        <p:spPr>
          <a:xfrm>
            <a:off x="15489936" y="4937760"/>
            <a:ext cx="1572768" cy="1463040"/>
          </a:xfrm>
          <a:prstGeom prst="rect">
            <a:avLst/>
          </a:prstGeom>
          <a:noFill/>
          <a:ln/>
        </p:spPr>
        <p:txBody>
          <a:bodyPr wrap="square" lIns="0" tIns="0" rIns="0" bIns="0" rtlCol="0" anchor="t"/>
          <a:lstStyle/>
          <a:p>
            <a:pPr algn="ctr" indent="0" marL="0">
              <a:lnSpc>
                <a:spcPct val="105000"/>
              </a:lnSpc>
              <a:spcAft>
                <a:spcPts val="300"/>
              </a:spcAft>
              <a:buNone/>
            </a:pPr>
            <a:r>
              <a:rPr lang="en-US" sz="1400" b="1" dirty="0">
                <a:solidFill>
                  <a:srgbClr val="222222"/>
                </a:solidFill>
                <a:latin typeface="Arial" pitchFamily="34" charset="0"/>
                <a:ea typeface="Arial" pitchFamily="34" charset="-122"/>
                <a:cs typeface="Arial" pitchFamily="34" charset="-120"/>
              </a:rPr>
              <a:t>HITL</a:t>
            </a:r>
            <a:endParaRPr lang="en-US" sz="1600" dirty="0"/>
          </a:p>
          <a:p>
            <a:pPr algn="ctr" indent="0" marL="0">
              <a:lnSpc>
                <a:spcPct val="105000"/>
              </a:lnSpc>
              <a:spcAft>
                <a:spcPts val="300"/>
              </a:spcAft>
              <a:buNone/>
            </a:pPr>
            <a:r>
              <a:rPr lang="en-US" sz="1100" dirty="0">
                <a:solidFill>
                  <a:srgbClr val="555555"/>
                </a:solidFill>
                <a:latin typeface="Arial" pitchFamily="34" charset="0"/>
                <a:ea typeface="Arial" pitchFamily="34" charset="-122"/>
                <a:cs typeface="Arial" pitchFamily="34" charset="-120"/>
              </a:rPr>
              <a:t>(Human approval)</a:t>
            </a:r>
            <a:endParaRPr lang="en-US" sz="1600" dirty="0"/>
          </a:p>
          <a:p>
            <a:pPr algn="ctr" indent="0" marL="0">
              <a:lnSpc>
                <a:spcPct val="105000"/>
              </a:lnSpc>
              <a:spcAft>
                <a:spcPts val="300"/>
              </a:spcAft>
              <a:buNone/>
            </a:pPr>
            <a:r>
              <a:rPr lang="en-US" sz="1200" dirty="0">
                <a:solidFill>
                  <a:srgbClr val="222222"/>
                </a:solidFill>
                <a:latin typeface="Arial" pitchFamily="34" charset="0"/>
                <a:ea typeface="Arial" pitchFamily="34" charset="-122"/>
                <a:cs typeface="Arial" pitchFamily="34" charset="-120"/>
              </a:rPr>
              <a:t>approve / edit / reject</a:t>
            </a:r>
            <a:endParaRPr lang="en-US" sz="1600" dirty="0"/>
          </a:p>
        </p:txBody>
      </p:sp>
      <p:sp>
        <p:nvSpPr>
          <p:cNvPr id="55" name="Shape 43"/>
          <p:cNvSpPr/>
          <p:nvPr/>
        </p:nvSpPr>
        <p:spPr>
          <a:xfrm>
            <a:off x="14488668" y="6492240"/>
            <a:ext cx="0" cy="320040"/>
          </a:xfrm>
          <a:prstGeom prst="line">
            <a:avLst/>
          </a:prstGeom>
          <a:noFill/>
          <a:ln w="15875">
            <a:solidFill>
              <a:srgbClr val="7B5CC9"/>
            </a:solidFill>
            <a:prstDash val="dash"/>
          </a:ln>
        </p:spPr>
      </p:sp>
      <p:sp>
        <p:nvSpPr>
          <p:cNvPr id="56" name="Shape 44"/>
          <p:cNvSpPr/>
          <p:nvPr/>
        </p:nvSpPr>
        <p:spPr>
          <a:xfrm>
            <a:off x="10913364" y="6812280"/>
            <a:ext cx="3575304" cy="0"/>
          </a:xfrm>
          <a:prstGeom prst="line">
            <a:avLst/>
          </a:prstGeom>
          <a:noFill/>
          <a:ln w="15875">
            <a:solidFill>
              <a:srgbClr val="7B5CC9"/>
            </a:solidFill>
            <a:prstDash val="dash"/>
          </a:ln>
        </p:spPr>
      </p:sp>
      <p:sp>
        <p:nvSpPr>
          <p:cNvPr id="57" name="Shape 45"/>
          <p:cNvSpPr/>
          <p:nvPr/>
        </p:nvSpPr>
        <p:spPr>
          <a:xfrm flipV="1">
            <a:off x="10913364" y="6492240"/>
            <a:ext cx="0" cy="320040"/>
          </a:xfrm>
          <a:prstGeom prst="line">
            <a:avLst/>
          </a:prstGeom>
          <a:noFill/>
          <a:ln w="15875">
            <a:solidFill>
              <a:srgbClr val="7B5CC9"/>
            </a:solidFill>
            <a:prstDash val="dash"/>
            <a:tailEnd type="triangle"/>
          </a:ln>
        </p:spPr>
      </p:sp>
      <p:sp>
        <p:nvSpPr>
          <p:cNvPr id="58" name="Shape 46"/>
          <p:cNvSpPr/>
          <p:nvPr/>
        </p:nvSpPr>
        <p:spPr>
          <a:xfrm>
            <a:off x="11324844" y="6647688"/>
            <a:ext cx="2743200" cy="347472"/>
          </a:xfrm>
          <a:prstGeom prst="roundRect">
            <a:avLst>
              <a:gd name="adj" fmla="val 21053"/>
            </a:avLst>
          </a:prstGeom>
          <a:solidFill>
            <a:srgbClr val="ECEBFF"/>
          </a:solidFill>
          <a:ln w="12700">
            <a:solidFill>
              <a:srgbClr val="7B5CC9"/>
            </a:solidFill>
            <a:prstDash val="solid"/>
          </a:ln>
        </p:spPr>
      </p:sp>
      <p:sp>
        <p:nvSpPr>
          <p:cNvPr id="59" name="Text 47"/>
          <p:cNvSpPr/>
          <p:nvPr/>
        </p:nvSpPr>
        <p:spPr>
          <a:xfrm>
            <a:off x="11324844" y="6647688"/>
            <a:ext cx="2743200" cy="347472"/>
          </a:xfrm>
          <a:prstGeom prst="rect">
            <a:avLst/>
          </a:prstGeom>
          <a:noFill/>
          <a:ln/>
        </p:spPr>
        <p:txBody>
          <a:bodyPr wrap="square" lIns="0" tIns="0" rIns="0" bIns="0" rtlCol="0" anchor="ctr"/>
          <a:lstStyle/>
          <a:p>
            <a:pPr algn="ctr" indent="0" marL="0">
              <a:lnSpc>
                <a:spcPct val="110000"/>
              </a:lnSpc>
              <a:buNone/>
            </a:pPr>
            <a:r>
              <a:rPr lang="en-US" sz="1100" dirty="0">
                <a:solidFill>
                  <a:srgbClr val="222222"/>
                </a:solidFill>
                <a:latin typeface="Arial" pitchFamily="34" charset="0"/>
                <a:ea typeface="Arial" pitchFamily="34" charset="-122"/>
                <a:cs typeface="Arial" pitchFamily="34" charset="-120"/>
              </a:rPr>
              <a:t>Reflection &amp; Self-Correction (max 2)</a:t>
            </a:r>
            <a:endParaRPr lang="en-US" sz="1100" dirty="0"/>
          </a:p>
        </p:txBody>
      </p:sp>
      <p:sp>
        <p:nvSpPr>
          <p:cNvPr id="60" name="Shape 48"/>
          <p:cNvSpPr/>
          <p:nvPr/>
        </p:nvSpPr>
        <p:spPr>
          <a:xfrm flipV="1">
            <a:off x="1975104" y="6492240"/>
            <a:ext cx="0" cy="1234440"/>
          </a:xfrm>
          <a:prstGeom prst="line">
            <a:avLst/>
          </a:prstGeom>
          <a:noFill/>
          <a:ln w="12700">
            <a:solidFill>
              <a:srgbClr val="8A8A8A"/>
            </a:solidFill>
            <a:prstDash val="solid"/>
            <a:tailEnd type="triangle"/>
          </a:ln>
        </p:spPr>
      </p:sp>
      <p:sp>
        <p:nvSpPr>
          <p:cNvPr id="61" name="Shape 49"/>
          <p:cNvSpPr/>
          <p:nvPr/>
        </p:nvSpPr>
        <p:spPr>
          <a:xfrm flipV="1">
            <a:off x="3762756" y="6492240"/>
            <a:ext cx="0" cy="1234440"/>
          </a:xfrm>
          <a:prstGeom prst="line">
            <a:avLst/>
          </a:prstGeom>
          <a:noFill/>
          <a:ln w="12700">
            <a:solidFill>
              <a:srgbClr val="8A8A8A"/>
            </a:solidFill>
            <a:prstDash val="solid"/>
            <a:tailEnd type="triangle"/>
          </a:ln>
        </p:spPr>
      </p:sp>
      <p:sp>
        <p:nvSpPr>
          <p:cNvPr id="62" name="Shape 50"/>
          <p:cNvSpPr/>
          <p:nvPr/>
        </p:nvSpPr>
        <p:spPr>
          <a:xfrm flipV="1">
            <a:off x="5550408" y="6492240"/>
            <a:ext cx="0" cy="1234440"/>
          </a:xfrm>
          <a:prstGeom prst="line">
            <a:avLst/>
          </a:prstGeom>
          <a:noFill/>
          <a:ln w="12700">
            <a:solidFill>
              <a:srgbClr val="8A8A8A"/>
            </a:solidFill>
            <a:prstDash val="solid"/>
            <a:tailEnd type="triangle"/>
          </a:ln>
        </p:spPr>
      </p:sp>
      <p:sp>
        <p:nvSpPr>
          <p:cNvPr id="63" name="Shape 51"/>
          <p:cNvSpPr/>
          <p:nvPr/>
        </p:nvSpPr>
        <p:spPr>
          <a:xfrm flipV="1">
            <a:off x="7338060" y="6492240"/>
            <a:ext cx="0" cy="1234440"/>
          </a:xfrm>
          <a:prstGeom prst="line">
            <a:avLst/>
          </a:prstGeom>
          <a:noFill/>
          <a:ln w="12700">
            <a:solidFill>
              <a:srgbClr val="8A8A8A"/>
            </a:solidFill>
            <a:prstDash val="solid"/>
            <a:tailEnd type="triangle"/>
          </a:ln>
        </p:spPr>
      </p:sp>
      <p:sp>
        <p:nvSpPr>
          <p:cNvPr id="64" name="Shape 52"/>
          <p:cNvSpPr/>
          <p:nvPr/>
        </p:nvSpPr>
        <p:spPr>
          <a:xfrm flipV="1">
            <a:off x="16276320" y="6492240"/>
            <a:ext cx="0" cy="1234440"/>
          </a:xfrm>
          <a:prstGeom prst="line">
            <a:avLst/>
          </a:prstGeom>
          <a:noFill/>
          <a:ln w="12700">
            <a:solidFill>
              <a:srgbClr val="8A8A8A"/>
            </a:solidFill>
            <a:prstDash val="solid"/>
            <a:tailEnd type="triangle"/>
          </a:ln>
        </p:spPr>
      </p:sp>
      <p:sp>
        <p:nvSpPr>
          <p:cNvPr id="65" name="Shared state bar"/>
          <p:cNvSpPr/>
          <p:nvPr/>
        </p:nvSpPr>
        <p:spPr>
          <a:xfrm>
            <a:off x="1143000" y="7726680"/>
            <a:ext cx="16002000" cy="1097280"/>
          </a:xfrm>
          <a:prstGeom prst="roundRect">
            <a:avLst>
              <a:gd name="adj" fmla="val 8333"/>
            </a:avLst>
          </a:prstGeom>
          <a:solidFill>
            <a:srgbClr val="E8F1FB"/>
          </a:solidFill>
          <a:ln w="12700">
            <a:solidFill>
              <a:srgbClr val="9AA9C6"/>
            </a:solidFill>
            <a:prstDash val="solid"/>
          </a:ln>
        </p:spPr>
      </p:sp>
      <p:pic>
        <p:nvPicPr>
          <p:cNvPr id="66" name="Image 10" descr="/home/claude/ppt2/assets/FaDatabase_d.png">    </p:cNvPr>
          <p:cNvPicPr>
            <a:picLocks noChangeAspect="1"/>
          </p:cNvPicPr>
          <p:nvPr/>
        </p:nvPicPr>
        <p:blipFill>
          <a:blip r:embed="rId11"/>
          <a:stretch>
            <a:fillRect/>
          </a:stretch>
        </p:blipFill>
        <p:spPr>
          <a:xfrm>
            <a:off x="5577840" y="7882128"/>
            <a:ext cx="777240" cy="777240"/>
          </a:xfrm>
          <a:prstGeom prst="rect">
            <a:avLst/>
          </a:prstGeom>
        </p:spPr>
      </p:pic>
      <p:sp>
        <p:nvSpPr>
          <p:cNvPr id="67" name="Text 54"/>
          <p:cNvSpPr/>
          <p:nvPr/>
        </p:nvSpPr>
        <p:spPr>
          <a:xfrm>
            <a:off x="6537960" y="7772400"/>
            <a:ext cx="8229600" cy="1005840"/>
          </a:xfrm>
          <a:prstGeom prst="rect">
            <a:avLst/>
          </a:prstGeom>
          <a:noFill/>
          <a:ln/>
        </p:spPr>
        <p:txBody>
          <a:bodyPr wrap="square" lIns="0" tIns="0" rIns="0" bIns="0" rtlCol="0" anchor="ctr"/>
          <a:lstStyle/>
          <a:p>
            <a:pPr algn="l" indent="0" marL="0">
              <a:lnSpc>
                <a:spcPct val="110000"/>
              </a:lnSpc>
              <a:buNone/>
            </a:pPr>
            <a:r>
              <a:rPr lang="en-US" sz="1700" b="1" dirty="0">
                <a:solidFill>
                  <a:srgbClr val="222222"/>
                </a:solidFill>
                <a:latin typeface="Arial" pitchFamily="34" charset="0"/>
                <a:ea typeface="Arial" pitchFamily="34" charset="-122"/>
                <a:cs typeface="Arial" pitchFamily="34" charset="-120"/>
              </a:rPr>
              <a:t>Shared State &amp; Persistent Memory</a:t>
            </a:r>
            <a:endParaRPr lang="en-US" sz="1600" dirty="0"/>
          </a:p>
          <a:p>
            <a:pPr algn="l" indent="0" marL="0">
              <a:lnSpc>
                <a:spcPct val="110000"/>
              </a:lnSpc>
              <a:buNone/>
            </a:pPr>
            <a:r>
              <a:rPr lang="en-US" sz="1300" dirty="0">
                <a:solidFill>
                  <a:srgbClr val="222222"/>
                </a:solidFill>
                <a:latin typeface="Arial" pitchFamily="34" charset="0"/>
                <a:ea typeface="Arial" pitchFamily="34" charset="-122"/>
                <a:cs typeface="Arial" pitchFamily="34" charset="-120"/>
              </a:rPr>
              <a:t>LangGraph AgentState + SQLite: profile, habits, chat, plans, diet, weekly goals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7</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AGENTS RESPONSIBILITIES</a:t>
            </a:r>
            <a:endParaRPr lang="en-US" sz="4000" dirty="0"/>
          </a:p>
        </p:txBody>
      </p:sp>
      <p:sp>
        <p:nvSpPr>
          <p:cNvPr id="5" name="Panel"/>
          <p:cNvSpPr/>
          <p:nvPr/>
        </p:nvSpPr>
        <p:spPr>
          <a:xfrm>
            <a:off x="914400" y="2148840"/>
            <a:ext cx="16459200" cy="6949440"/>
          </a:xfrm>
          <a:prstGeom prst="roundRect">
            <a:avLst>
              <a:gd name="adj" fmla="val 1579"/>
            </a:avLst>
          </a:prstGeom>
          <a:solidFill>
            <a:srgbClr val="F4F1F8"/>
          </a:solidFill>
          <a:ln w="12700">
            <a:solidFill>
              <a:srgbClr val="E2DCEB"/>
            </a:solidFill>
            <a:prstDash val="solid"/>
          </a:ln>
        </p:spPr>
      </p:sp>
      <p:sp>
        <p:nvSpPr>
          <p:cNvPr id="6" name="Text 4"/>
          <p:cNvSpPr/>
          <p:nvPr/>
        </p:nvSpPr>
        <p:spPr>
          <a:xfrm>
            <a:off x="1280160" y="2313432"/>
            <a:ext cx="15727680" cy="457200"/>
          </a:xfrm>
          <a:prstGeom prst="rect">
            <a:avLst/>
          </a:prstGeom>
          <a:noFill/>
          <a:ln/>
        </p:spPr>
        <p:txBody>
          <a:bodyPr wrap="square" lIns="0" tIns="0" rIns="0" bIns="0" rtlCol="0" anchor="t"/>
          <a:lstStyle/>
          <a:p>
            <a:pPr algn="l" indent="0" marL="0">
              <a:lnSpc>
                <a:spcPct val="110000"/>
              </a:lnSpc>
              <a:buNone/>
            </a:pPr>
            <a:r>
              <a:rPr lang="en-US" sz="1700" i="1" dirty="0">
                <a:solidFill>
                  <a:srgbClr val="222222"/>
                </a:solidFill>
                <a:latin typeface="Arial" pitchFamily="34" charset="0"/>
                <a:ea typeface="Arial" pitchFamily="34" charset="-122"/>
                <a:cs typeface="Arial" pitchFamily="34" charset="-120"/>
              </a:rPr>
              <a:t>Specialised agents coordinated by LangGraph; numbers and safety rules are deterministic code, the LLM adds reasoning and language.</a:t>
            </a:r>
            <a:endParaRPr lang="en-US" sz="1700" dirty="0"/>
          </a:p>
        </p:txBody>
      </p:sp>
      <p:sp>
        <p:nvSpPr>
          <p:cNvPr id="7" name="Supervisor — Router"/>
          <p:cNvSpPr/>
          <p:nvPr/>
        </p:nvSpPr>
        <p:spPr>
          <a:xfrm>
            <a:off x="1280160" y="292608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8" name="Text 6"/>
          <p:cNvSpPr/>
          <p:nvPr/>
        </p:nvSpPr>
        <p:spPr>
          <a:xfrm>
            <a:off x="1481328" y="306324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Supervisor — Router</a:t>
            </a:r>
            <a:endParaRPr lang="en-US" sz="1900" dirty="0"/>
          </a:p>
        </p:txBody>
      </p:sp>
      <p:sp>
        <p:nvSpPr>
          <p:cNvPr id="9" name="Text 7"/>
          <p:cNvSpPr/>
          <p:nvPr/>
        </p:nvSpPr>
        <p:spPr>
          <a:xfrm>
            <a:off x="1481328" y="349300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Routes each message</a:t>
            </a:r>
            <a:endParaRPr lang="en-US" sz="1600" dirty="0"/>
          </a:p>
        </p:txBody>
      </p:sp>
      <p:sp>
        <p:nvSpPr>
          <p:cNvPr id="10" name="Text 8"/>
          <p:cNvSpPr/>
          <p:nvPr/>
        </p:nvSpPr>
        <p:spPr>
          <a:xfrm>
            <a:off x="1554480" y="393192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reads mood, intent, entities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picks 1–3 specialists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LLM + keyword fallback</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spots diet-change requests</a:t>
            </a:r>
            <a:endParaRPr lang="en-US" sz="1600" dirty="0"/>
          </a:p>
        </p:txBody>
      </p:sp>
      <p:sp>
        <p:nvSpPr>
          <p:cNvPr id="11" name="Researcher — Agentic RAG"/>
          <p:cNvSpPr/>
          <p:nvPr/>
        </p:nvSpPr>
        <p:spPr>
          <a:xfrm>
            <a:off x="5239512" y="292608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2" name="Text 10"/>
          <p:cNvSpPr/>
          <p:nvPr/>
        </p:nvSpPr>
        <p:spPr>
          <a:xfrm>
            <a:off x="5440680" y="306324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Researcher — Agentic RAG</a:t>
            </a:r>
            <a:endParaRPr lang="en-US" sz="1900" dirty="0"/>
          </a:p>
        </p:txBody>
      </p:sp>
      <p:sp>
        <p:nvSpPr>
          <p:cNvPr id="13" name="Text 11"/>
          <p:cNvSpPr/>
          <p:nvPr/>
        </p:nvSpPr>
        <p:spPr>
          <a:xfrm>
            <a:off x="5440680" y="349300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Finds the evidence</a:t>
            </a:r>
            <a:endParaRPr lang="en-US" sz="1600" dirty="0"/>
          </a:p>
        </p:txBody>
      </p:sp>
      <p:sp>
        <p:nvSpPr>
          <p:cNvPr id="14" name="Text 12"/>
          <p:cNvSpPr/>
          <p:nvPr/>
        </p:nvSpPr>
        <p:spPr>
          <a:xfrm>
            <a:off x="5513832" y="393192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rewrites query + topic</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hybrid search (top-4)</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grades relevance</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retries up to 2 times</a:t>
            </a:r>
            <a:endParaRPr lang="en-US" sz="1600" dirty="0"/>
          </a:p>
        </p:txBody>
      </p:sp>
      <p:sp>
        <p:nvSpPr>
          <p:cNvPr id="15" name="Sleep Agent"/>
          <p:cNvSpPr/>
          <p:nvPr/>
        </p:nvSpPr>
        <p:spPr>
          <a:xfrm>
            <a:off x="9198864" y="292608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6" name="Text 14"/>
          <p:cNvSpPr/>
          <p:nvPr/>
        </p:nvSpPr>
        <p:spPr>
          <a:xfrm>
            <a:off x="9400032" y="306324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Sleep Agent</a:t>
            </a:r>
            <a:endParaRPr lang="en-US" sz="1900" dirty="0"/>
          </a:p>
        </p:txBody>
      </p:sp>
      <p:sp>
        <p:nvSpPr>
          <p:cNvPr id="17" name="Text 15"/>
          <p:cNvSpPr/>
          <p:nvPr/>
        </p:nvSpPr>
        <p:spPr>
          <a:xfrm>
            <a:off x="9400032" y="349300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Rest and recovery</a:t>
            </a:r>
            <a:endParaRPr lang="en-US" sz="1600" dirty="0"/>
          </a:p>
        </p:txBody>
      </p:sp>
      <p:sp>
        <p:nvSpPr>
          <p:cNvPr id="18" name="Text 16"/>
          <p:cNvSpPr/>
          <p:nvPr/>
        </p:nvSpPr>
        <p:spPr>
          <a:xfrm>
            <a:off x="9473184" y="393192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logs sleep / water</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7-day sleep trend</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sleep guidelines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gives workout stance</a:t>
            </a:r>
            <a:endParaRPr lang="en-US" sz="1600" dirty="0"/>
          </a:p>
        </p:txBody>
      </p:sp>
      <p:sp>
        <p:nvSpPr>
          <p:cNvPr id="19" name="Fitness Agent"/>
          <p:cNvSpPr/>
          <p:nvPr/>
        </p:nvSpPr>
        <p:spPr>
          <a:xfrm>
            <a:off x="13158216" y="292608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0" name="Text 18"/>
          <p:cNvSpPr/>
          <p:nvPr/>
        </p:nvSpPr>
        <p:spPr>
          <a:xfrm>
            <a:off x="13359384" y="306324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Fitness Agent</a:t>
            </a:r>
            <a:endParaRPr lang="en-US" sz="1900" dirty="0"/>
          </a:p>
        </p:txBody>
      </p:sp>
      <p:sp>
        <p:nvSpPr>
          <p:cNvPr id="21" name="Text 19"/>
          <p:cNvSpPr/>
          <p:nvPr/>
        </p:nvSpPr>
        <p:spPr>
          <a:xfrm>
            <a:off x="13359384" y="349300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Safe movement</a:t>
            </a:r>
            <a:endParaRPr lang="en-US" sz="1600" dirty="0"/>
          </a:p>
        </p:txBody>
      </p:sp>
      <p:sp>
        <p:nvSpPr>
          <p:cNvPr id="22" name="Text 20"/>
          <p:cNvSpPr/>
          <p:nvPr/>
        </p:nvSpPr>
        <p:spPr>
          <a:xfrm>
            <a:off x="13432536" y="393192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today's plan + progress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joint-safe exercise search</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low intensity when strained</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gives workout stance</a:t>
            </a:r>
            <a:endParaRPr lang="en-US" sz="1600" dirty="0"/>
          </a:p>
        </p:txBody>
      </p:sp>
      <p:sp>
        <p:nvSpPr>
          <p:cNvPr id="23" name="Nutrition Agent"/>
          <p:cNvSpPr/>
          <p:nvPr/>
        </p:nvSpPr>
        <p:spPr>
          <a:xfrm>
            <a:off x="1280160" y="594360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4" name="Text 22"/>
          <p:cNvSpPr/>
          <p:nvPr/>
        </p:nvSpPr>
        <p:spPr>
          <a:xfrm>
            <a:off x="1481328" y="608076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Nutrition Agent</a:t>
            </a:r>
            <a:endParaRPr lang="en-US" sz="1900" dirty="0"/>
          </a:p>
        </p:txBody>
      </p:sp>
      <p:sp>
        <p:nvSpPr>
          <p:cNvPr id="25" name="Text 23"/>
          <p:cNvSpPr/>
          <p:nvPr/>
        </p:nvSpPr>
        <p:spPr>
          <a:xfrm>
            <a:off x="1481328" y="651052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Food and hydration</a:t>
            </a:r>
            <a:endParaRPr lang="en-US" sz="1600" dirty="0"/>
          </a:p>
        </p:txBody>
      </p:sp>
      <p:sp>
        <p:nvSpPr>
          <p:cNvPr id="26" name="Text 24"/>
          <p:cNvSpPr/>
          <p:nvPr/>
        </p:nvSpPr>
        <p:spPr>
          <a:xfrm>
            <a:off x="1554480" y="694944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diet-engine food ideas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BMI (Asian cut-offs)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meal swaps, dislikes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hydration guidance</a:t>
            </a:r>
            <a:endParaRPr lang="en-US" sz="1600" dirty="0"/>
          </a:p>
        </p:txBody>
      </p:sp>
      <p:sp>
        <p:nvSpPr>
          <p:cNvPr id="27" name="Mind Agent"/>
          <p:cNvSpPr/>
          <p:nvPr/>
        </p:nvSpPr>
        <p:spPr>
          <a:xfrm>
            <a:off x="5239512" y="594360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8" name="Text 26"/>
          <p:cNvSpPr/>
          <p:nvPr/>
        </p:nvSpPr>
        <p:spPr>
          <a:xfrm>
            <a:off x="5440680" y="608076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Mind Agent</a:t>
            </a:r>
            <a:endParaRPr lang="en-US" sz="1900" dirty="0"/>
          </a:p>
        </p:txBody>
      </p:sp>
      <p:sp>
        <p:nvSpPr>
          <p:cNvPr id="29" name="Text 27"/>
          <p:cNvSpPr/>
          <p:nvPr/>
        </p:nvSpPr>
        <p:spPr>
          <a:xfrm>
            <a:off x="5440680" y="651052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Stress and mood</a:t>
            </a:r>
            <a:endParaRPr lang="en-US" sz="1600" dirty="0"/>
          </a:p>
        </p:txBody>
      </p:sp>
      <p:sp>
        <p:nvSpPr>
          <p:cNvPr id="30" name="Text 28"/>
          <p:cNvSpPr/>
          <p:nvPr/>
        </p:nvSpPr>
        <p:spPr>
          <a:xfrm>
            <a:off x="5513832" y="694944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uses NLP mood</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exam / stress guidance</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mental-health passages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crisis → helplines</a:t>
            </a:r>
            <a:endParaRPr lang="en-US" sz="1600" dirty="0"/>
          </a:p>
        </p:txBody>
      </p:sp>
      <p:sp>
        <p:nvSpPr>
          <p:cNvPr id="31" name="Mediator + Synthesizer"/>
          <p:cNvSpPr/>
          <p:nvPr/>
        </p:nvSpPr>
        <p:spPr>
          <a:xfrm>
            <a:off x="9198864" y="594360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32" name="Text 30"/>
          <p:cNvSpPr/>
          <p:nvPr/>
        </p:nvSpPr>
        <p:spPr>
          <a:xfrm>
            <a:off x="9400032" y="608076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Mediator + Synthesizer</a:t>
            </a:r>
            <a:endParaRPr lang="en-US" sz="1900" dirty="0"/>
          </a:p>
        </p:txBody>
      </p:sp>
      <p:sp>
        <p:nvSpPr>
          <p:cNvPr id="33" name="Text 31"/>
          <p:cNvSpPr/>
          <p:nvPr/>
        </p:nvSpPr>
        <p:spPr>
          <a:xfrm>
            <a:off x="9400032" y="651052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One decision, one answer</a:t>
            </a:r>
            <a:endParaRPr lang="en-US" sz="1600" dirty="0"/>
          </a:p>
        </p:txBody>
      </p:sp>
      <p:sp>
        <p:nvSpPr>
          <p:cNvPr id="34" name="Text 32"/>
          <p:cNvSpPr/>
          <p:nvPr/>
        </p:nvSpPr>
        <p:spPr>
          <a:xfrm>
            <a:off x="9473184" y="694944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resolves rest / light / normal</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safety cap: pain or &lt;5 h sleep</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merges advice</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cites passages</a:t>
            </a:r>
            <a:endParaRPr lang="en-US" sz="1600" dirty="0"/>
          </a:p>
        </p:txBody>
      </p:sp>
      <p:sp>
        <p:nvSpPr>
          <p:cNvPr id="35" name="Guardian + Critic"/>
          <p:cNvSpPr/>
          <p:nvPr/>
        </p:nvSpPr>
        <p:spPr>
          <a:xfrm>
            <a:off x="13158216" y="5943600"/>
            <a:ext cx="3749040" cy="2788920"/>
          </a:xfrm>
          <a:prstGeom prst="roundRect">
            <a:avLst>
              <a:gd name="adj" fmla="val 3279"/>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36" name="Text 34"/>
          <p:cNvSpPr/>
          <p:nvPr/>
        </p:nvSpPr>
        <p:spPr>
          <a:xfrm>
            <a:off x="13359384" y="6080760"/>
            <a:ext cx="3474720" cy="411480"/>
          </a:xfrm>
          <a:prstGeom prst="rect">
            <a:avLst/>
          </a:prstGeom>
          <a:noFill/>
          <a:ln/>
        </p:spPr>
        <p:txBody>
          <a:bodyPr wrap="square" lIns="0" tIns="0" rIns="0" bIns="0" rtlCol="0" anchor="t"/>
          <a:lstStyle/>
          <a:p>
            <a:pPr algn="l" indent="0" marL="0">
              <a:lnSpc>
                <a:spcPct val="110000"/>
              </a:lnSpc>
              <a:buNone/>
            </a:pPr>
            <a:r>
              <a:rPr lang="en-US" sz="1900" b="1" dirty="0">
                <a:solidFill>
                  <a:srgbClr val="5B2D8F"/>
                </a:solidFill>
                <a:latin typeface="Arial" pitchFamily="34" charset="0"/>
                <a:ea typeface="Arial" pitchFamily="34" charset="-122"/>
                <a:cs typeface="Arial" pitchFamily="34" charset="-120"/>
              </a:rPr>
              <a:t>Guardian + Critic</a:t>
            </a:r>
            <a:endParaRPr lang="en-US" sz="1900" dirty="0"/>
          </a:p>
        </p:txBody>
      </p:sp>
      <p:sp>
        <p:nvSpPr>
          <p:cNvPr id="37" name="Text 35"/>
          <p:cNvSpPr/>
          <p:nvPr/>
        </p:nvSpPr>
        <p:spPr>
          <a:xfrm>
            <a:off x="13359384" y="6510528"/>
            <a:ext cx="34747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22222"/>
                </a:solidFill>
                <a:latin typeface="Arial" pitchFamily="34" charset="0"/>
                <a:ea typeface="Arial" pitchFamily="34" charset="-122"/>
                <a:cs typeface="Arial" pitchFamily="34" charset="-120"/>
              </a:rPr>
              <a:t>Independent checks</a:t>
            </a:r>
            <a:endParaRPr lang="en-US" sz="1600" dirty="0"/>
          </a:p>
        </p:txBody>
      </p:sp>
      <p:sp>
        <p:nvSpPr>
          <p:cNvPr id="38" name="Text 36"/>
          <p:cNvSpPr/>
          <p:nvPr/>
        </p:nvSpPr>
        <p:spPr>
          <a:xfrm>
            <a:off x="13432536" y="6949440"/>
            <a:ext cx="3383280" cy="1737360"/>
          </a:xfrm>
          <a:prstGeom prst="rect">
            <a:avLst/>
          </a:prstGeom>
          <a:noFill/>
          <a:ln/>
        </p:spPr>
        <p:txBody>
          <a:bodyPr wrap="square" lIns="0" tIns="0" rIns="0" bIns="0" rtlCol="0" anchor="t"/>
          <a:lstStyle/>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removes fake citations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blocks medication / diagnosis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vetoes unsafe exercises</a:t>
            </a:r>
            <a:endParaRPr lang="en-US" sz="1600" dirty="0"/>
          </a:p>
          <a:p>
            <a:pPr marL="228600" indent="-228600">
              <a:lnSpc>
                <a:spcPct val="105000"/>
              </a:lnSpc>
              <a:spcAft>
                <a:spcPts val="300"/>
              </a:spcAft>
              <a:buSzPct val="100000"/>
              <a:buChar char="•"/>
            </a:pPr>
            <a:r>
              <a:rPr lang="en-US" sz="1600" dirty="0">
                <a:solidFill>
                  <a:srgbClr val="222222"/>
                </a:solidFill>
                <a:latin typeface="Arial" pitchFamily="34" charset="0"/>
                <a:ea typeface="Arial" pitchFamily="34" charset="-122"/>
                <a:cs typeface="Arial" pitchFamily="34" charset="-120"/>
              </a:rPr>
              <a:t>other LLM reviews answer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8</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AGENT WORKFLOW AND ORCHESTRATION</a:t>
            </a:r>
            <a:endParaRPr lang="en-US" sz="4000" dirty="0"/>
          </a:p>
        </p:txBody>
      </p:sp>
      <p:sp>
        <p:nvSpPr>
          <p:cNvPr id="5" name="Workflow area"/>
          <p:cNvSpPr/>
          <p:nvPr/>
        </p:nvSpPr>
        <p:spPr>
          <a:xfrm>
            <a:off x="914400" y="2148840"/>
            <a:ext cx="16459200" cy="6949440"/>
          </a:xfrm>
          <a:prstGeom prst="roundRect">
            <a:avLst>
              <a:gd name="adj" fmla="val 1316"/>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6" name="User"/>
          <p:cNvSpPr/>
          <p:nvPr/>
        </p:nvSpPr>
        <p:spPr>
          <a:xfrm>
            <a:off x="1143000" y="4572000"/>
            <a:ext cx="1188720" cy="1417320"/>
          </a:xfrm>
          <a:prstGeom prst="roundRect">
            <a:avLst>
              <a:gd name="adj" fmla="val 6154"/>
            </a:avLst>
          </a:prstGeom>
          <a:solidFill>
            <a:srgbClr val="E8F1FB"/>
          </a:solidFill>
          <a:ln w="15875">
            <a:solidFill>
              <a:srgbClr val="4A6FD8"/>
            </a:solidFill>
            <a:prstDash val="solid"/>
          </a:ln>
        </p:spPr>
      </p:sp>
      <p:pic>
        <p:nvPicPr>
          <p:cNvPr id="7" name="Image 0" descr="/home/claude/ppt2/assets/FaUser_d.png">    </p:cNvPr>
          <p:cNvPicPr>
            <a:picLocks noChangeAspect="1"/>
          </p:cNvPicPr>
          <p:nvPr/>
        </p:nvPicPr>
        <p:blipFill>
          <a:blip r:embed="rId1"/>
          <a:stretch>
            <a:fillRect/>
          </a:stretch>
        </p:blipFill>
        <p:spPr>
          <a:xfrm>
            <a:off x="1508760" y="4681728"/>
            <a:ext cx="457200" cy="457200"/>
          </a:xfrm>
          <a:prstGeom prst="rect">
            <a:avLst/>
          </a:prstGeom>
        </p:spPr>
      </p:pic>
      <p:sp>
        <p:nvSpPr>
          <p:cNvPr id="8" name="Text 5"/>
          <p:cNvSpPr/>
          <p:nvPr/>
        </p:nvSpPr>
        <p:spPr>
          <a:xfrm>
            <a:off x="1179576"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User</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message</a:t>
            </a:r>
            <a:endParaRPr lang="en-US" sz="1600" dirty="0"/>
          </a:p>
        </p:txBody>
      </p:sp>
      <p:sp>
        <p:nvSpPr>
          <p:cNvPr id="9" name="Shape 6"/>
          <p:cNvSpPr/>
          <p:nvPr/>
        </p:nvSpPr>
        <p:spPr>
          <a:xfrm>
            <a:off x="2331720" y="5280660"/>
            <a:ext cx="141732" cy="0"/>
          </a:xfrm>
          <a:prstGeom prst="line">
            <a:avLst/>
          </a:prstGeom>
          <a:noFill/>
          <a:ln w="15875">
            <a:solidFill>
              <a:srgbClr val="555555"/>
            </a:solidFill>
            <a:prstDash val="solid"/>
            <a:tailEnd type="triangle"/>
          </a:ln>
        </p:spPr>
      </p:sp>
      <p:sp>
        <p:nvSpPr>
          <p:cNvPr id="10" name="Memory + NLP"/>
          <p:cNvSpPr/>
          <p:nvPr/>
        </p:nvSpPr>
        <p:spPr>
          <a:xfrm>
            <a:off x="2473452" y="4572000"/>
            <a:ext cx="1188720" cy="1417320"/>
          </a:xfrm>
          <a:prstGeom prst="roundRect">
            <a:avLst>
              <a:gd name="adj" fmla="val 6154"/>
            </a:avLst>
          </a:prstGeom>
          <a:solidFill>
            <a:srgbClr val="F1ECFB"/>
          </a:solidFill>
          <a:ln w="15875">
            <a:solidFill>
              <a:srgbClr val="7B5CC9"/>
            </a:solidFill>
            <a:prstDash val="solid"/>
          </a:ln>
        </p:spPr>
      </p:sp>
      <p:pic>
        <p:nvPicPr>
          <p:cNvPr id="11" name="Image 1" descr="/home/claude/ppt2/assets/FaBrain_d.png">    </p:cNvPr>
          <p:cNvPicPr>
            <a:picLocks noChangeAspect="1"/>
          </p:cNvPicPr>
          <p:nvPr/>
        </p:nvPicPr>
        <p:blipFill>
          <a:blip r:embed="rId2"/>
          <a:stretch>
            <a:fillRect/>
          </a:stretch>
        </p:blipFill>
        <p:spPr>
          <a:xfrm>
            <a:off x="2839212" y="4681728"/>
            <a:ext cx="457200" cy="457200"/>
          </a:xfrm>
          <a:prstGeom prst="rect">
            <a:avLst/>
          </a:prstGeom>
        </p:spPr>
      </p:pic>
      <p:sp>
        <p:nvSpPr>
          <p:cNvPr id="12" name="Text 8"/>
          <p:cNvSpPr/>
          <p:nvPr/>
        </p:nvSpPr>
        <p:spPr>
          <a:xfrm>
            <a:off x="2510028"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Memory + NLP</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mood · intent</a:t>
            </a:r>
            <a:endParaRPr lang="en-US" sz="1600" dirty="0"/>
          </a:p>
        </p:txBody>
      </p:sp>
      <p:sp>
        <p:nvSpPr>
          <p:cNvPr id="13" name="Shape 9"/>
          <p:cNvSpPr/>
          <p:nvPr/>
        </p:nvSpPr>
        <p:spPr>
          <a:xfrm>
            <a:off x="3662172" y="5280660"/>
            <a:ext cx="141732" cy="0"/>
          </a:xfrm>
          <a:prstGeom prst="line">
            <a:avLst/>
          </a:prstGeom>
          <a:noFill/>
          <a:ln w="15875">
            <a:solidFill>
              <a:srgbClr val="555555"/>
            </a:solidFill>
            <a:prstDash val="solid"/>
            <a:tailEnd type="triangle"/>
          </a:ln>
        </p:spPr>
      </p:sp>
      <p:sp>
        <p:nvSpPr>
          <p:cNvPr id="14" name="Red flag?"/>
          <p:cNvSpPr/>
          <p:nvPr/>
        </p:nvSpPr>
        <p:spPr>
          <a:xfrm>
            <a:off x="3758184" y="4526280"/>
            <a:ext cx="1280160" cy="1508760"/>
          </a:xfrm>
          <a:prstGeom prst="diamond">
            <a:avLst/>
          </a:prstGeom>
          <a:solidFill>
            <a:srgbClr val="EEF0FA"/>
          </a:solidFill>
          <a:ln w="15875">
            <a:solidFill>
              <a:srgbClr val="7B5CC9"/>
            </a:solidFill>
            <a:prstDash val="solid"/>
          </a:ln>
        </p:spPr>
      </p:sp>
      <p:sp>
        <p:nvSpPr>
          <p:cNvPr id="15" name="Text 11"/>
          <p:cNvSpPr/>
          <p:nvPr/>
        </p:nvSpPr>
        <p:spPr>
          <a:xfrm>
            <a:off x="3803904" y="4572000"/>
            <a:ext cx="1188720" cy="1417320"/>
          </a:xfrm>
          <a:prstGeom prst="rect">
            <a:avLst/>
          </a:prstGeom>
          <a:noFill/>
          <a:ln/>
        </p:spPr>
        <p:txBody>
          <a:bodyPr wrap="square" lIns="0" tIns="0" rIns="0" bIns="0" rtlCol="0" anchor="ctr"/>
          <a:lstStyle/>
          <a:p>
            <a:pPr algn="ctr" indent="0" marL="0">
              <a:lnSpc>
                <a:spcPct val="110000"/>
              </a:lnSpc>
              <a:buNone/>
            </a:pPr>
            <a:r>
              <a:rPr lang="en-US" sz="1200" b="1" dirty="0">
                <a:solidFill>
                  <a:srgbClr val="222222"/>
                </a:solidFill>
                <a:latin typeface="Arial" pitchFamily="34" charset="0"/>
                <a:ea typeface="Arial" pitchFamily="34" charset="-122"/>
                <a:cs typeface="Arial" pitchFamily="34" charset="-120"/>
              </a:rPr>
              <a:t>Red flag?</a:t>
            </a:r>
            <a:endParaRPr lang="en-US" sz="1200" dirty="0"/>
          </a:p>
        </p:txBody>
      </p:sp>
      <p:sp>
        <p:nvSpPr>
          <p:cNvPr id="16" name="Shape 12"/>
          <p:cNvSpPr/>
          <p:nvPr/>
        </p:nvSpPr>
        <p:spPr>
          <a:xfrm>
            <a:off x="4992624" y="5280660"/>
            <a:ext cx="141732" cy="0"/>
          </a:xfrm>
          <a:prstGeom prst="line">
            <a:avLst/>
          </a:prstGeom>
          <a:noFill/>
          <a:ln w="15875">
            <a:solidFill>
              <a:srgbClr val="555555"/>
            </a:solidFill>
            <a:prstDash val="solid"/>
            <a:tailEnd type="triangle"/>
          </a:ln>
        </p:spPr>
      </p:sp>
      <p:sp>
        <p:nvSpPr>
          <p:cNvPr id="17" name="Supervisor"/>
          <p:cNvSpPr/>
          <p:nvPr/>
        </p:nvSpPr>
        <p:spPr>
          <a:xfrm>
            <a:off x="5134356" y="4572000"/>
            <a:ext cx="1188720" cy="1417320"/>
          </a:xfrm>
          <a:prstGeom prst="roundRect">
            <a:avLst>
              <a:gd name="adj" fmla="val 6154"/>
            </a:avLst>
          </a:prstGeom>
          <a:solidFill>
            <a:srgbClr val="F1ECFB"/>
          </a:solidFill>
          <a:ln w="15875">
            <a:solidFill>
              <a:srgbClr val="7B5CC9"/>
            </a:solidFill>
            <a:prstDash val="solid"/>
          </a:ln>
        </p:spPr>
      </p:sp>
      <p:pic>
        <p:nvPicPr>
          <p:cNvPr id="18" name="Image 2" descr="/home/claude/ppt2/assets/FaRobot_d.png">    </p:cNvPr>
          <p:cNvPicPr>
            <a:picLocks noChangeAspect="1"/>
          </p:cNvPicPr>
          <p:nvPr/>
        </p:nvPicPr>
        <p:blipFill>
          <a:blip r:embed="rId3"/>
          <a:stretch>
            <a:fillRect/>
          </a:stretch>
        </p:blipFill>
        <p:spPr>
          <a:xfrm>
            <a:off x="5500116" y="4681728"/>
            <a:ext cx="457200" cy="457200"/>
          </a:xfrm>
          <a:prstGeom prst="rect">
            <a:avLst/>
          </a:prstGeom>
        </p:spPr>
      </p:pic>
      <p:sp>
        <p:nvSpPr>
          <p:cNvPr id="19" name="Text 14"/>
          <p:cNvSpPr/>
          <p:nvPr/>
        </p:nvSpPr>
        <p:spPr>
          <a:xfrm>
            <a:off x="5170932"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Supervisor</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routing</a:t>
            </a:r>
            <a:endParaRPr lang="en-US" sz="1600" dirty="0"/>
          </a:p>
        </p:txBody>
      </p:sp>
      <p:sp>
        <p:nvSpPr>
          <p:cNvPr id="20" name="Shape 15"/>
          <p:cNvSpPr/>
          <p:nvPr/>
        </p:nvSpPr>
        <p:spPr>
          <a:xfrm>
            <a:off x="6323076" y="5280660"/>
            <a:ext cx="141732" cy="0"/>
          </a:xfrm>
          <a:prstGeom prst="line">
            <a:avLst/>
          </a:prstGeom>
          <a:noFill/>
          <a:ln w="15875">
            <a:solidFill>
              <a:srgbClr val="555555"/>
            </a:solidFill>
            <a:prstDash val="solid"/>
            <a:tailEnd type="triangle"/>
          </a:ln>
        </p:spPr>
      </p:sp>
      <p:sp>
        <p:nvSpPr>
          <p:cNvPr id="21" name="Researcher"/>
          <p:cNvSpPr/>
          <p:nvPr/>
        </p:nvSpPr>
        <p:spPr>
          <a:xfrm>
            <a:off x="6464808" y="4572000"/>
            <a:ext cx="1188720" cy="1417320"/>
          </a:xfrm>
          <a:prstGeom prst="roundRect">
            <a:avLst>
              <a:gd name="adj" fmla="val 6154"/>
            </a:avLst>
          </a:prstGeom>
          <a:solidFill>
            <a:srgbClr val="E6F7EC"/>
          </a:solidFill>
          <a:ln w="15875">
            <a:solidFill>
              <a:srgbClr val="3C9A54"/>
            </a:solidFill>
            <a:prstDash val="solid"/>
          </a:ln>
        </p:spPr>
      </p:sp>
      <p:pic>
        <p:nvPicPr>
          <p:cNvPr id="22" name="Image 3" descr="/home/claude/ppt2/assets/FaSearch_d.png">    </p:cNvPr>
          <p:cNvPicPr>
            <a:picLocks noChangeAspect="1"/>
          </p:cNvPicPr>
          <p:nvPr/>
        </p:nvPicPr>
        <p:blipFill>
          <a:blip r:embed="rId4"/>
          <a:stretch>
            <a:fillRect/>
          </a:stretch>
        </p:blipFill>
        <p:spPr>
          <a:xfrm>
            <a:off x="6830568" y="4681728"/>
            <a:ext cx="457200" cy="457200"/>
          </a:xfrm>
          <a:prstGeom prst="rect">
            <a:avLst/>
          </a:prstGeom>
        </p:spPr>
      </p:pic>
      <p:sp>
        <p:nvSpPr>
          <p:cNvPr id="23" name="Text 17"/>
          <p:cNvSpPr/>
          <p:nvPr/>
        </p:nvSpPr>
        <p:spPr>
          <a:xfrm>
            <a:off x="6501384"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Researcher</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agentic RAG</a:t>
            </a:r>
            <a:endParaRPr lang="en-US" sz="1600" dirty="0"/>
          </a:p>
        </p:txBody>
      </p:sp>
      <p:sp>
        <p:nvSpPr>
          <p:cNvPr id="24" name="Shape 18"/>
          <p:cNvSpPr/>
          <p:nvPr/>
        </p:nvSpPr>
        <p:spPr>
          <a:xfrm>
            <a:off x="7653528" y="5280660"/>
            <a:ext cx="141732" cy="0"/>
          </a:xfrm>
          <a:prstGeom prst="line">
            <a:avLst/>
          </a:prstGeom>
          <a:noFill/>
          <a:ln w="15875">
            <a:solidFill>
              <a:srgbClr val="555555"/>
            </a:solidFill>
            <a:prstDash val="solid"/>
            <a:tailEnd type="triangle"/>
          </a:ln>
        </p:spPr>
      </p:sp>
      <p:sp>
        <p:nvSpPr>
          <p:cNvPr id="25" name="Specialists ×4"/>
          <p:cNvSpPr/>
          <p:nvPr/>
        </p:nvSpPr>
        <p:spPr>
          <a:xfrm>
            <a:off x="7795260" y="4572000"/>
            <a:ext cx="1188720" cy="1417320"/>
          </a:xfrm>
          <a:prstGeom prst="roundRect">
            <a:avLst>
              <a:gd name="adj" fmla="val 6154"/>
            </a:avLst>
          </a:prstGeom>
          <a:solidFill>
            <a:srgbClr val="FFF6DA"/>
          </a:solidFill>
          <a:ln w="15875">
            <a:solidFill>
              <a:srgbClr val="D49A1A"/>
            </a:solidFill>
            <a:prstDash val="solid"/>
          </a:ln>
        </p:spPr>
      </p:sp>
      <p:pic>
        <p:nvPicPr>
          <p:cNvPr id="26" name="Image 4" descr="/home/claude/ppt2/assets/FaUserFriends_d.png">    </p:cNvPr>
          <p:cNvPicPr>
            <a:picLocks noChangeAspect="1"/>
          </p:cNvPicPr>
          <p:nvPr/>
        </p:nvPicPr>
        <p:blipFill>
          <a:blip r:embed="rId5"/>
          <a:stretch>
            <a:fillRect/>
          </a:stretch>
        </p:blipFill>
        <p:spPr>
          <a:xfrm>
            <a:off x="8161020" y="4681728"/>
            <a:ext cx="457200" cy="457200"/>
          </a:xfrm>
          <a:prstGeom prst="rect">
            <a:avLst/>
          </a:prstGeom>
        </p:spPr>
      </p:pic>
      <p:sp>
        <p:nvSpPr>
          <p:cNvPr id="27" name="Text 20"/>
          <p:cNvSpPr/>
          <p:nvPr/>
        </p:nvSpPr>
        <p:spPr>
          <a:xfrm>
            <a:off x="7831836"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Specialists ×4</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in parallel</a:t>
            </a:r>
            <a:endParaRPr lang="en-US" sz="1600" dirty="0"/>
          </a:p>
        </p:txBody>
      </p:sp>
      <p:sp>
        <p:nvSpPr>
          <p:cNvPr id="28" name="Shape 21"/>
          <p:cNvSpPr/>
          <p:nvPr/>
        </p:nvSpPr>
        <p:spPr>
          <a:xfrm>
            <a:off x="8983980" y="5280660"/>
            <a:ext cx="141732" cy="0"/>
          </a:xfrm>
          <a:prstGeom prst="line">
            <a:avLst/>
          </a:prstGeom>
          <a:noFill/>
          <a:ln w="15875">
            <a:solidFill>
              <a:srgbClr val="555555"/>
            </a:solidFill>
            <a:prstDash val="solid"/>
            <a:tailEnd type="triangle"/>
          </a:ln>
        </p:spPr>
      </p:sp>
      <p:sp>
        <p:nvSpPr>
          <p:cNvPr id="29" name="Mediator + Synth"/>
          <p:cNvSpPr/>
          <p:nvPr/>
        </p:nvSpPr>
        <p:spPr>
          <a:xfrm>
            <a:off x="9125712" y="4572000"/>
            <a:ext cx="1188720" cy="1417320"/>
          </a:xfrm>
          <a:prstGeom prst="roundRect">
            <a:avLst>
              <a:gd name="adj" fmla="val 6154"/>
            </a:avLst>
          </a:prstGeom>
          <a:solidFill>
            <a:srgbClr val="E6F0FF"/>
          </a:solidFill>
          <a:ln w="15875">
            <a:solidFill>
              <a:srgbClr val="4A6FD8"/>
            </a:solidFill>
            <a:prstDash val="solid"/>
          </a:ln>
        </p:spPr>
      </p:sp>
      <p:pic>
        <p:nvPicPr>
          <p:cNvPr id="30" name="Image 5" descr="/home/claude/ppt2/assets/FaBalanceScale_d.png">    </p:cNvPr>
          <p:cNvPicPr>
            <a:picLocks noChangeAspect="1"/>
          </p:cNvPicPr>
          <p:nvPr/>
        </p:nvPicPr>
        <p:blipFill>
          <a:blip r:embed="rId6"/>
          <a:stretch>
            <a:fillRect/>
          </a:stretch>
        </p:blipFill>
        <p:spPr>
          <a:xfrm>
            <a:off x="9491472" y="4681728"/>
            <a:ext cx="457200" cy="457200"/>
          </a:xfrm>
          <a:prstGeom prst="rect">
            <a:avLst/>
          </a:prstGeom>
        </p:spPr>
      </p:pic>
      <p:sp>
        <p:nvSpPr>
          <p:cNvPr id="31" name="Text 23"/>
          <p:cNvSpPr/>
          <p:nvPr/>
        </p:nvSpPr>
        <p:spPr>
          <a:xfrm>
            <a:off x="9162288"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Mediator + Synth</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one answer</a:t>
            </a:r>
            <a:endParaRPr lang="en-US" sz="1600" dirty="0"/>
          </a:p>
        </p:txBody>
      </p:sp>
      <p:sp>
        <p:nvSpPr>
          <p:cNvPr id="32" name="Shape 24"/>
          <p:cNvSpPr/>
          <p:nvPr/>
        </p:nvSpPr>
        <p:spPr>
          <a:xfrm>
            <a:off x="10314432" y="5280660"/>
            <a:ext cx="141732" cy="0"/>
          </a:xfrm>
          <a:prstGeom prst="line">
            <a:avLst/>
          </a:prstGeom>
          <a:noFill/>
          <a:ln w="15875">
            <a:solidFill>
              <a:srgbClr val="555555"/>
            </a:solidFill>
            <a:prstDash val="solid"/>
            <a:tailEnd type="triangle"/>
          </a:ln>
        </p:spPr>
      </p:sp>
      <p:sp>
        <p:nvSpPr>
          <p:cNvPr id="33" name="Guardian"/>
          <p:cNvSpPr/>
          <p:nvPr/>
        </p:nvSpPr>
        <p:spPr>
          <a:xfrm>
            <a:off x="10456164" y="4572000"/>
            <a:ext cx="1188720" cy="1417320"/>
          </a:xfrm>
          <a:prstGeom prst="roundRect">
            <a:avLst>
              <a:gd name="adj" fmla="val 6154"/>
            </a:avLst>
          </a:prstGeom>
          <a:solidFill>
            <a:srgbClr val="FFE6E6"/>
          </a:solidFill>
          <a:ln w="15875">
            <a:solidFill>
              <a:srgbClr val="D9534F"/>
            </a:solidFill>
            <a:prstDash val="solid"/>
          </a:ln>
        </p:spPr>
      </p:sp>
      <p:pic>
        <p:nvPicPr>
          <p:cNvPr id="34" name="Image 6" descr="/home/claude/ppt2/assets/FaShieldAlt_d.png">    </p:cNvPr>
          <p:cNvPicPr>
            <a:picLocks noChangeAspect="1"/>
          </p:cNvPicPr>
          <p:nvPr/>
        </p:nvPicPr>
        <p:blipFill>
          <a:blip r:embed="rId7"/>
          <a:stretch>
            <a:fillRect/>
          </a:stretch>
        </p:blipFill>
        <p:spPr>
          <a:xfrm>
            <a:off x="10821924" y="4681728"/>
            <a:ext cx="457200" cy="457200"/>
          </a:xfrm>
          <a:prstGeom prst="rect">
            <a:avLst/>
          </a:prstGeom>
        </p:spPr>
      </p:pic>
      <p:sp>
        <p:nvSpPr>
          <p:cNvPr id="35" name="Text 26"/>
          <p:cNvSpPr/>
          <p:nvPr/>
        </p:nvSpPr>
        <p:spPr>
          <a:xfrm>
            <a:off x="10492740"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Guardian</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rules + veto</a:t>
            </a:r>
            <a:endParaRPr lang="en-US" sz="1600" dirty="0"/>
          </a:p>
        </p:txBody>
      </p:sp>
      <p:sp>
        <p:nvSpPr>
          <p:cNvPr id="36" name="Shape 27"/>
          <p:cNvSpPr/>
          <p:nvPr/>
        </p:nvSpPr>
        <p:spPr>
          <a:xfrm>
            <a:off x="11644884" y="5280660"/>
            <a:ext cx="141732" cy="0"/>
          </a:xfrm>
          <a:prstGeom prst="line">
            <a:avLst/>
          </a:prstGeom>
          <a:noFill/>
          <a:ln w="15875">
            <a:solidFill>
              <a:srgbClr val="555555"/>
            </a:solidFill>
            <a:prstDash val="solid"/>
            <a:tailEnd type="triangle"/>
          </a:ln>
        </p:spPr>
      </p:sp>
      <p:sp>
        <p:nvSpPr>
          <p:cNvPr id="37" name="Critic"/>
          <p:cNvSpPr/>
          <p:nvPr/>
        </p:nvSpPr>
        <p:spPr>
          <a:xfrm>
            <a:off x="11786616" y="4572000"/>
            <a:ext cx="1188720" cy="1417320"/>
          </a:xfrm>
          <a:prstGeom prst="roundRect">
            <a:avLst>
              <a:gd name="adj" fmla="val 6154"/>
            </a:avLst>
          </a:prstGeom>
          <a:solidFill>
            <a:srgbClr val="E3F7F5"/>
          </a:solidFill>
          <a:ln w="15875">
            <a:solidFill>
              <a:srgbClr val="2A9D8F"/>
            </a:solidFill>
            <a:prstDash val="solid"/>
          </a:ln>
        </p:spPr>
      </p:sp>
      <p:pic>
        <p:nvPicPr>
          <p:cNvPr id="38" name="Image 7" descr="/home/claude/ppt2/assets/FaSearch_d.png">    </p:cNvPr>
          <p:cNvPicPr>
            <a:picLocks noChangeAspect="1"/>
          </p:cNvPicPr>
          <p:nvPr/>
        </p:nvPicPr>
        <p:blipFill>
          <a:blip r:embed="rId8"/>
          <a:stretch>
            <a:fillRect/>
          </a:stretch>
        </p:blipFill>
        <p:spPr>
          <a:xfrm>
            <a:off x="12152376" y="4681728"/>
            <a:ext cx="457200" cy="457200"/>
          </a:xfrm>
          <a:prstGeom prst="rect">
            <a:avLst/>
          </a:prstGeom>
        </p:spPr>
      </p:pic>
      <p:sp>
        <p:nvSpPr>
          <p:cNvPr id="39" name="Text 29"/>
          <p:cNvSpPr/>
          <p:nvPr/>
        </p:nvSpPr>
        <p:spPr>
          <a:xfrm>
            <a:off x="11823192"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Critic</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other LLM</a:t>
            </a:r>
            <a:endParaRPr lang="en-US" sz="1600" dirty="0"/>
          </a:p>
        </p:txBody>
      </p:sp>
      <p:sp>
        <p:nvSpPr>
          <p:cNvPr id="40" name="Shape 30"/>
          <p:cNvSpPr/>
          <p:nvPr/>
        </p:nvSpPr>
        <p:spPr>
          <a:xfrm>
            <a:off x="12975336" y="5280660"/>
            <a:ext cx="141732" cy="0"/>
          </a:xfrm>
          <a:prstGeom prst="line">
            <a:avLst/>
          </a:prstGeom>
          <a:noFill/>
          <a:ln w="15875">
            <a:solidFill>
              <a:srgbClr val="555555"/>
            </a:solidFill>
            <a:prstDash val="solid"/>
            <a:tailEnd type="triangle"/>
          </a:ln>
        </p:spPr>
      </p:sp>
      <p:sp>
        <p:nvSpPr>
          <p:cNvPr id="41" name="Pass?"/>
          <p:cNvSpPr/>
          <p:nvPr/>
        </p:nvSpPr>
        <p:spPr>
          <a:xfrm>
            <a:off x="13071348" y="4526280"/>
            <a:ext cx="1280160" cy="1508760"/>
          </a:xfrm>
          <a:prstGeom prst="diamond">
            <a:avLst/>
          </a:prstGeom>
          <a:solidFill>
            <a:srgbClr val="EEF0FA"/>
          </a:solidFill>
          <a:ln w="15875">
            <a:solidFill>
              <a:srgbClr val="7B5CC9"/>
            </a:solidFill>
            <a:prstDash val="solid"/>
          </a:ln>
        </p:spPr>
      </p:sp>
      <p:sp>
        <p:nvSpPr>
          <p:cNvPr id="42" name="Text 32"/>
          <p:cNvSpPr/>
          <p:nvPr/>
        </p:nvSpPr>
        <p:spPr>
          <a:xfrm>
            <a:off x="13117068" y="4572000"/>
            <a:ext cx="1188720" cy="1417320"/>
          </a:xfrm>
          <a:prstGeom prst="rect">
            <a:avLst/>
          </a:prstGeom>
          <a:noFill/>
          <a:ln/>
        </p:spPr>
        <p:txBody>
          <a:bodyPr wrap="square" lIns="0" tIns="0" rIns="0" bIns="0" rtlCol="0" anchor="ctr"/>
          <a:lstStyle/>
          <a:p>
            <a:pPr algn="ctr" indent="0" marL="0">
              <a:lnSpc>
                <a:spcPct val="110000"/>
              </a:lnSpc>
              <a:buNone/>
            </a:pPr>
            <a:r>
              <a:rPr lang="en-US" sz="1200" b="1" dirty="0">
                <a:solidFill>
                  <a:srgbClr val="222222"/>
                </a:solidFill>
                <a:latin typeface="Arial" pitchFamily="34" charset="0"/>
                <a:ea typeface="Arial" pitchFamily="34" charset="-122"/>
                <a:cs typeface="Arial" pitchFamily="34" charset="-120"/>
              </a:rPr>
              <a:t>Pass?</a:t>
            </a:r>
            <a:endParaRPr lang="en-US" sz="1200" dirty="0"/>
          </a:p>
        </p:txBody>
      </p:sp>
      <p:sp>
        <p:nvSpPr>
          <p:cNvPr id="43" name="Shape 33"/>
          <p:cNvSpPr/>
          <p:nvPr/>
        </p:nvSpPr>
        <p:spPr>
          <a:xfrm>
            <a:off x="14305788" y="5280660"/>
            <a:ext cx="141732" cy="0"/>
          </a:xfrm>
          <a:prstGeom prst="line">
            <a:avLst/>
          </a:prstGeom>
          <a:noFill/>
          <a:ln w="15875">
            <a:solidFill>
              <a:srgbClr val="555555"/>
            </a:solidFill>
            <a:prstDash val="solid"/>
            <a:tailEnd type="triangle"/>
          </a:ln>
        </p:spPr>
      </p:sp>
      <p:sp>
        <p:nvSpPr>
          <p:cNvPr id="44" name="Human Approval"/>
          <p:cNvSpPr/>
          <p:nvPr/>
        </p:nvSpPr>
        <p:spPr>
          <a:xfrm>
            <a:off x="14447520" y="4572000"/>
            <a:ext cx="1188720" cy="1417320"/>
          </a:xfrm>
          <a:prstGeom prst="roundRect">
            <a:avLst>
              <a:gd name="adj" fmla="val 6154"/>
            </a:avLst>
          </a:prstGeom>
          <a:solidFill>
            <a:srgbClr val="FFEBDD"/>
          </a:solidFill>
          <a:ln w="15875">
            <a:solidFill>
              <a:srgbClr val="E07A30"/>
            </a:solidFill>
            <a:prstDash val="solid"/>
          </a:ln>
        </p:spPr>
      </p:sp>
      <p:pic>
        <p:nvPicPr>
          <p:cNvPr id="45" name="Image 8" descr="/home/claude/ppt2/assets/FaUserCheck_d.png">    </p:cNvPr>
          <p:cNvPicPr>
            <a:picLocks noChangeAspect="1"/>
          </p:cNvPicPr>
          <p:nvPr/>
        </p:nvPicPr>
        <p:blipFill>
          <a:blip r:embed="rId9"/>
          <a:stretch>
            <a:fillRect/>
          </a:stretch>
        </p:blipFill>
        <p:spPr>
          <a:xfrm>
            <a:off x="14813280" y="4681728"/>
            <a:ext cx="457200" cy="457200"/>
          </a:xfrm>
          <a:prstGeom prst="rect">
            <a:avLst/>
          </a:prstGeom>
        </p:spPr>
      </p:pic>
      <p:sp>
        <p:nvSpPr>
          <p:cNvPr id="46" name="Text 35"/>
          <p:cNvSpPr/>
          <p:nvPr/>
        </p:nvSpPr>
        <p:spPr>
          <a:xfrm>
            <a:off x="14484096"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Human Approval</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approve / edit</a:t>
            </a:r>
            <a:endParaRPr lang="en-US" sz="1600" dirty="0"/>
          </a:p>
        </p:txBody>
      </p:sp>
      <p:sp>
        <p:nvSpPr>
          <p:cNvPr id="47" name="Shape 36"/>
          <p:cNvSpPr/>
          <p:nvPr/>
        </p:nvSpPr>
        <p:spPr>
          <a:xfrm>
            <a:off x="15636240" y="5280660"/>
            <a:ext cx="141732" cy="0"/>
          </a:xfrm>
          <a:prstGeom prst="line">
            <a:avLst/>
          </a:prstGeom>
          <a:noFill/>
          <a:ln w="15875">
            <a:solidFill>
              <a:srgbClr val="555555"/>
            </a:solidFill>
            <a:prstDash val="solid"/>
            <a:tailEnd type="triangle"/>
          </a:ln>
        </p:spPr>
      </p:sp>
      <p:sp>
        <p:nvSpPr>
          <p:cNvPr id="48" name="Save"/>
          <p:cNvSpPr/>
          <p:nvPr/>
        </p:nvSpPr>
        <p:spPr>
          <a:xfrm>
            <a:off x="15777972" y="4572000"/>
            <a:ext cx="1188720" cy="1417320"/>
          </a:xfrm>
          <a:prstGeom prst="roundRect">
            <a:avLst>
              <a:gd name="adj" fmla="val 6154"/>
            </a:avLst>
          </a:prstGeom>
          <a:solidFill>
            <a:srgbClr val="E6F7EC"/>
          </a:solidFill>
          <a:ln w="15875">
            <a:solidFill>
              <a:srgbClr val="3C9A54"/>
            </a:solidFill>
            <a:prstDash val="solid"/>
          </a:ln>
        </p:spPr>
      </p:sp>
      <p:pic>
        <p:nvPicPr>
          <p:cNvPr id="49" name="Image 9" descr="/home/claude/ppt2/assets/FaFileAlt_d.png">    </p:cNvPr>
          <p:cNvPicPr>
            <a:picLocks noChangeAspect="1"/>
          </p:cNvPicPr>
          <p:nvPr/>
        </p:nvPicPr>
        <p:blipFill>
          <a:blip r:embed="rId10"/>
          <a:stretch>
            <a:fillRect/>
          </a:stretch>
        </p:blipFill>
        <p:spPr>
          <a:xfrm>
            <a:off x="16143732" y="4681728"/>
            <a:ext cx="457200" cy="457200"/>
          </a:xfrm>
          <a:prstGeom prst="rect">
            <a:avLst/>
          </a:prstGeom>
        </p:spPr>
      </p:pic>
      <p:sp>
        <p:nvSpPr>
          <p:cNvPr id="50" name="Text 38"/>
          <p:cNvSpPr/>
          <p:nvPr/>
        </p:nvSpPr>
        <p:spPr>
          <a:xfrm>
            <a:off x="15814548" y="5166360"/>
            <a:ext cx="1115568" cy="804672"/>
          </a:xfrm>
          <a:prstGeom prst="rect">
            <a:avLst/>
          </a:prstGeom>
          <a:noFill/>
          <a:ln/>
        </p:spPr>
        <p:txBody>
          <a:bodyPr wrap="square" lIns="0" tIns="0" rIns="0" bIns="0" rtlCol="0" anchor="t"/>
          <a:lstStyle/>
          <a:p>
            <a:pPr algn="ctr" indent="0" marL="0">
              <a:lnSpc>
                <a:spcPct val="100000"/>
              </a:lnSpc>
              <a:buNone/>
            </a:pPr>
            <a:r>
              <a:rPr lang="en-US" sz="1200" b="1" dirty="0">
                <a:solidFill>
                  <a:srgbClr val="222222"/>
                </a:solidFill>
                <a:latin typeface="Arial" pitchFamily="34" charset="0"/>
                <a:ea typeface="Arial" pitchFamily="34" charset="-122"/>
                <a:cs typeface="Arial" pitchFamily="34" charset="-120"/>
              </a:rPr>
              <a:t>Save</a:t>
            </a:r>
            <a:endParaRPr lang="en-US" sz="1600" dirty="0"/>
          </a:p>
          <a:p>
            <a:pPr algn="ctr" indent="0" marL="0">
              <a:lnSpc>
                <a:spcPct val="100000"/>
              </a:lnSpc>
              <a:buNone/>
            </a:pPr>
            <a:r>
              <a:rPr lang="en-US" sz="1000" dirty="0">
                <a:solidFill>
                  <a:srgbClr val="555555"/>
                </a:solidFill>
                <a:latin typeface="Arial" pitchFamily="34" charset="0"/>
                <a:ea typeface="Arial" pitchFamily="34" charset="-122"/>
                <a:cs typeface="Arial" pitchFamily="34" charset="-120"/>
              </a:rPr>
              <a:t>plan + memory</a:t>
            </a:r>
            <a:endParaRPr lang="en-US" sz="1600" dirty="0"/>
          </a:p>
        </p:txBody>
      </p:sp>
      <p:sp>
        <p:nvSpPr>
          <p:cNvPr id="51" name="Emergency"/>
          <p:cNvSpPr/>
          <p:nvPr/>
        </p:nvSpPr>
        <p:spPr>
          <a:xfrm>
            <a:off x="3575304" y="2514600"/>
            <a:ext cx="1645920" cy="1143000"/>
          </a:xfrm>
          <a:prstGeom prst="roundRect">
            <a:avLst>
              <a:gd name="adj" fmla="val 6400"/>
            </a:avLst>
          </a:prstGeom>
          <a:solidFill>
            <a:srgbClr val="FFE3E3"/>
          </a:solidFill>
          <a:ln w="15875">
            <a:solidFill>
              <a:srgbClr val="D9534F"/>
            </a:solidFill>
            <a:prstDash val="solid"/>
          </a:ln>
        </p:spPr>
      </p:sp>
      <p:sp>
        <p:nvSpPr>
          <p:cNvPr id="52" name="Text 40"/>
          <p:cNvSpPr/>
          <p:nvPr/>
        </p:nvSpPr>
        <p:spPr>
          <a:xfrm>
            <a:off x="3575304" y="2542032"/>
            <a:ext cx="1645920" cy="1097280"/>
          </a:xfrm>
          <a:prstGeom prst="rect">
            <a:avLst/>
          </a:prstGeom>
          <a:noFill/>
          <a:ln/>
        </p:spPr>
        <p:txBody>
          <a:bodyPr wrap="square" lIns="0" tIns="0" rIns="0" bIns="0" rtlCol="0" anchor="ctr"/>
          <a:lstStyle/>
          <a:p>
            <a:pPr algn="ctr" indent="0" marL="0">
              <a:lnSpc>
                <a:spcPct val="110000"/>
              </a:lnSpc>
              <a:buNone/>
            </a:pPr>
            <a:r>
              <a:rPr lang="en-US" sz="1300" b="1" dirty="0">
                <a:solidFill>
                  <a:srgbClr val="A12A26"/>
                </a:solidFill>
                <a:latin typeface="Arial" pitchFamily="34" charset="0"/>
                <a:ea typeface="Arial" pitchFamily="34" charset="-122"/>
                <a:cs typeface="Arial" pitchFamily="34" charset="-120"/>
              </a:rPr>
              <a:t>Emergency</a:t>
            </a:r>
            <a:endParaRPr lang="en-US" sz="1300" dirty="0"/>
          </a:p>
          <a:p>
            <a:pPr algn="ctr" indent="0" marL="0">
              <a:lnSpc>
                <a:spcPct val="110000"/>
              </a:lnSpc>
              <a:buNone/>
            </a:pPr>
            <a:r>
              <a:rPr lang="en-US" sz="1100" dirty="0">
                <a:solidFill>
                  <a:srgbClr val="A12A26"/>
                </a:solidFill>
                <a:latin typeface="Arial" pitchFamily="34" charset="0"/>
                <a:ea typeface="Arial" pitchFamily="34" charset="-122"/>
                <a:cs typeface="Arial" pitchFamily="34" charset="-120"/>
              </a:rPr>
              <a:t>112 / Tele-MANAS 14416</a:t>
            </a:r>
            <a:endParaRPr lang="en-US" sz="1300" dirty="0"/>
          </a:p>
        </p:txBody>
      </p:sp>
      <p:sp>
        <p:nvSpPr>
          <p:cNvPr id="53" name="Shape 41"/>
          <p:cNvSpPr/>
          <p:nvPr/>
        </p:nvSpPr>
        <p:spPr>
          <a:xfrm flipV="1">
            <a:off x="4398264" y="3657600"/>
            <a:ext cx="0" cy="868680"/>
          </a:xfrm>
          <a:prstGeom prst="line">
            <a:avLst/>
          </a:prstGeom>
          <a:noFill/>
          <a:ln w="19050">
            <a:solidFill>
              <a:srgbClr val="D9534F"/>
            </a:solidFill>
            <a:prstDash val="solid"/>
            <a:tailEnd type="triangle"/>
          </a:ln>
        </p:spPr>
      </p:sp>
      <p:sp>
        <p:nvSpPr>
          <p:cNvPr id="54" name="Text 42"/>
          <p:cNvSpPr/>
          <p:nvPr/>
        </p:nvSpPr>
        <p:spPr>
          <a:xfrm>
            <a:off x="4471416" y="3886200"/>
            <a:ext cx="548640" cy="274320"/>
          </a:xfrm>
          <a:prstGeom prst="rect">
            <a:avLst/>
          </a:prstGeom>
          <a:noFill/>
          <a:ln/>
        </p:spPr>
        <p:txBody>
          <a:bodyPr wrap="square" lIns="0" tIns="0" rIns="0" bIns="0" rtlCol="0" anchor="t"/>
          <a:lstStyle/>
          <a:p>
            <a:pPr algn="l" indent="0" marL="0">
              <a:lnSpc>
                <a:spcPct val="110000"/>
              </a:lnSpc>
              <a:buNone/>
            </a:pPr>
            <a:r>
              <a:rPr lang="en-US" sz="1100" dirty="0">
                <a:solidFill>
                  <a:srgbClr val="D9534F"/>
                </a:solidFill>
                <a:latin typeface="Arial" pitchFamily="34" charset="0"/>
                <a:ea typeface="Arial" pitchFamily="34" charset="-122"/>
                <a:cs typeface="Arial" pitchFamily="34" charset="-120"/>
              </a:rPr>
              <a:t>yes</a:t>
            </a:r>
            <a:endParaRPr lang="en-US" sz="1100" dirty="0"/>
          </a:p>
        </p:txBody>
      </p:sp>
      <p:sp>
        <p:nvSpPr>
          <p:cNvPr id="55" name="Shape 43"/>
          <p:cNvSpPr/>
          <p:nvPr/>
        </p:nvSpPr>
        <p:spPr>
          <a:xfrm>
            <a:off x="5221224" y="3081528"/>
            <a:ext cx="11151108" cy="0"/>
          </a:xfrm>
          <a:prstGeom prst="line">
            <a:avLst/>
          </a:prstGeom>
          <a:noFill/>
          <a:ln w="15875">
            <a:solidFill>
              <a:srgbClr val="D9534F"/>
            </a:solidFill>
            <a:prstDash val="dash"/>
          </a:ln>
        </p:spPr>
      </p:sp>
      <p:sp>
        <p:nvSpPr>
          <p:cNvPr id="56" name="Shape 44"/>
          <p:cNvSpPr/>
          <p:nvPr/>
        </p:nvSpPr>
        <p:spPr>
          <a:xfrm>
            <a:off x="16372332" y="3081528"/>
            <a:ext cx="0" cy="1490472"/>
          </a:xfrm>
          <a:prstGeom prst="line">
            <a:avLst/>
          </a:prstGeom>
          <a:noFill/>
          <a:ln w="19050">
            <a:solidFill>
              <a:srgbClr val="D9534F"/>
            </a:solidFill>
            <a:prstDash val="dash"/>
            <a:tailEnd type="triangle"/>
          </a:ln>
        </p:spPr>
      </p:sp>
      <p:sp>
        <p:nvSpPr>
          <p:cNvPr id="57" name="Text 45"/>
          <p:cNvSpPr/>
          <p:nvPr/>
        </p:nvSpPr>
        <p:spPr>
          <a:xfrm>
            <a:off x="8229600" y="2743200"/>
            <a:ext cx="4114800" cy="320040"/>
          </a:xfrm>
          <a:prstGeom prst="rect">
            <a:avLst/>
          </a:prstGeom>
          <a:noFill/>
          <a:ln/>
        </p:spPr>
        <p:txBody>
          <a:bodyPr wrap="square" lIns="0" tIns="0" rIns="0" bIns="0" rtlCol="0" anchor="t"/>
          <a:lstStyle/>
          <a:p>
            <a:pPr algn="ctr" indent="0" marL="0">
              <a:lnSpc>
                <a:spcPct val="110000"/>
              </a:lnSpc>
              <a:buNone/>
            </a:pPr>
            <a:r>
              <a:rPr lang="en-US" sz="1100" i="1" dirty="0">
                <a:solidFill>
                  <a:srgbClr val="D9534F"/>
                </a:solidFill>
                <a:latin typeface="Arial" pitchFamily="34" charset="0"/>
                <a:ea typeface="Arial" pitchFamily="34" charset="-122"/>
                <a:cs typeface="Arial" pitchFamily="34" charset="-120"/>
              </a:rPr>
              <a:t>specialists and plan changes skipped</a:t>
            </a:r>
            <a:endParaRPr lang="en-US" sz="1100" dirty="0"/>
          </a:p>
        </p:txBody>
      </p:sp>
      <p:sp>
        <p:nvSpPr>
          <p:cNvPr id="58" name="Knowledge sources"/>
          <p:cNvSpPr/>
          <p:nvPr/>
        </p:nvSpPr>
        <p:spPr>
          <a:xfrm>
            <a:off x="5916168" y="3291840"/>
            <a:ext cx="2286000" cy="868680"/>
          </a:xfrm>
          <a:prstGeom prst="roundRect">
            <a:avLst>
              <a:gd name="adj" fmla="val 8421"/>
            </a:avLst>
          </a:prstGeom>
          <a:solidFill>
            <a:srgbClr val="F2F2F2"/>
          </a:solidFill>
          <a:ln w="12700">
            <a:solidFill>
              <a:srgbClr val="8A8A8A"/>
            </a:solidFill>
            <a:prstDash val="solid"/>
          </a:ln>
        </p:spPr>
      </p:sp>
      <p:sp>
        <p:nvSpPr>
          <p:cNvPr id="59" name="Text 47"/>
          <p:cNvSpPr/>
          <p:nvPr/>
        </p:nvSpPr>
        <p:spPr>
          <a:xfrm>
            <a:off x="5916168" y="3291840"/>
            <a:ext cx="2286000" cy="868680"/>
          </a:xfrm>
          <a:prstGeom prst="rect">
            <a:avLst/>
          </a:prstGeom>
          <a:noFill/>
          <a:ln/>
        </p:spPr>
        <p:txBody>
          <a:bodyPr wrap="square" lIns="0" tIns="0" rIns="0" bIns="0" rtlCol="0" anchor="ctr"/>
          <a:lstStyle/>
          <a:p>
            <a:pPr algn="ctr" indent="0" marL="0">
              <a:lnSpc>
                <a:spcPct val="110000"/>
              </a:lnSpc>
              <a:buNone/>
            </a:pPr>
            <a:r>
              <a:rPr lang="en-US" sz="1200" b="1" dirty="0">
                <a:solidFill>
                  <a:srgbClr val="222222"/>
                </a:solidFill>
                <a:latin typeface="Arial" pitchFamily="34" charset="0"/>
                <a:ea typeface="Arial" pitchFamily="34" charset="-122"/>
                <a:cs typeface="Arial" pitchFamily="34" charset="-120"/>
              </a:rPr>
              <a:t>Knowledge Sources</a:t>
            </a:r>
            <a:endParaRPr lang="en-US" sz="1200" dirty="0"/>
          </a:p>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49 guideline passages</a:t>
            </a:r>
            <a:endParaRPr lang="en-US" sz="1200" dirty="0"/>
          </a:p>
        </p:txBody>
      </p:sp>
      <p:sp>
        <p:nvSpPr>
          <p:cNvPr id="60" name="Shape 48"/>
          <p:cNvSpPr/>
          <p:nvPr/>
        </p:nvSpPr>
        <p:spPr>
          <a:xfrm>
            <a:off x="7059168" y="4160520"/>
            <a:ext cx="0" cy="411480"/>
          </a:xfrm>
          <a:prstGeom prst="line">
            <a:avLst/>
          </a:prstGeom>
          <a:noFill/>
          <a:ln w="12700">
            <a:solidFill>
              <a:srgbClr val="8A8A8A"/>
            </a:solidFill>
            <a:prstDash val="dash"/>
          </a:ln>
        </p:spPr>
      </p:sp>
      <p:sp>
        <p:nvSpPr>
          <p:cNvPr id="61" name="Shape 49"/>
          <p:cNvSpPr/>
          <p:nvPr/>
        </p:nvSpPr>
        <p:spPr>
          <a:xfrm>
            <a:off x="13711428" y="6035040"/>
            <a:ext cx="0" cy="548640"/>
          </a:xfrm>
          <a:prstGeom prst="line">
            <a:avLst/>
          </a:prstGeom>
          <a:noFill/>
          <a:ln w="15875">
            <a:solidFill>
              <a:srgbClr val="333333"/>
            </a:solidFill>
            <a:prstDash val="solid"/>
          </a:ln>
        </p:spPr>
      </p:sp>
      <p:sp>
        <p:nvSpPr>
          <p:cNvPr id="62" name="Shape 50"/>
          <p:cNvSpPr/>
          <p:nvPr/>
        </p:nvSpPr>
        <p:spPr>
          <a:xfrm>
            <a:off x="9720072" y="6583680"/>
            <a:ext cx="3991356" cy="0"/>
          </a:xfrm>
          <a:prstGeom prst="line">
            <a:avLst/>
          </a:prstGeom>
          <a:noFill/>
          <a:ln w="15875">
            <a:solidFill>
              <a:srgbClr val="333333"/>
            </a:solidFill>
            <a:prstDash val="solid"/>
          </a:ln>
        </p:spPr>
      </p:sp>
      <p:sp>
        <p:nvSpPr>
          <p:cNvPr id="63" name="Shape 51"/>
          <p:cNvSpPr/>
          <p:nvPr/>
        </p:nvSpPr>
        <p:spPr>
          <a:xfrm flipV="1">
            <a:off x="9720072" y="5989320"/>
            <a:ext cx="0" cy="594360"/>
          </a:xfrm>
          <a:prstGeom prst="line">
            <a:avLst/>
          </a:prstGeom>
          <a:noFill/>
          <a:ln w="15875">
            <a:solidFill>
              <a:srgbClr val="555555"/>
            </a:solidFill>
            <a:prstDash val="solid"/>
            <a:tailEnd type="triangle"/>
          </a:ln>
        </p:spPr>
      </p:sp>
      <p:sp>
        <p:nvSpPr>
          <p:cNvPr id="64" name="Text 52"/>
          <p:cNvSpPr/>
          <p:nvPr/>
        </p:nvSpPr>
        <p:spPr>
          <a:xfrm>
            <a:off x="9994392" y="6647688"/>
            <a:ext cx="3840480" cy="320040"/>
          </a:xfrm>
          <a:prstGeom prst="rect">
            <a:avLst/>
          </a:prstGeom>
          <a:noFill/>
          <a:ln/>
        </p:spPr>
        <p:txBody>
          <a:bodyPr wrap="square" lIns="0" tIns="0" rIns="0" bIns="0" rtlCol="0" anchor="t"/>
          <a:lstStyle/>
          <a:p>
            <a:pPr algn="ctr" indent="0" marL="0">
              <a:lnSpc>
                <a:spcPct val="110000"/>
              </a:lnSpc>
              <a:buNone/>
            </a:pPr>
            <a:r>
              <a:rPr lang="en-US" sz="1200" dirty="0">
                <a:solidFill>
                  <a:srgbClr val="222222"/>
                </a:solidFill>
                <a:latin typeface="Arial" pitchFamily="34" charset="0"/>
                <a:ea typeface="Arial" pitchFamily="34" charset="-122"/>
                <a:cs typeface="Arial" pitchFamily="34" charset="-120"/>
              </a:rPr>
              <a:t>No → Revise &amp; re-check (max 2)</a:t>
            </a:r>
            <a:endParaRPr lang="en-US" sz="1200" dirty="0"/>
          </a:p>
        </p:txBody>
      </p:sp>
      <p:sp>
        <p:nvSpPr>
          <p:cNvPr id="65" name="Text 53"/>
          <p:cNvSpPr/>
          <p:nvPr/>
        </p:nvSpPr>
        <p:spPr>
          <a:xfrm>
            <a:off x="14168628" y="4754880"/>
            <a:ext cx="548640" cy="274320"/>
          </a:xfrm>
          <a:prstGeom prst="rect">
            <a:avLst/>
          </a:prstGeom>
          <a:noFill/>
          <a:ln/>
        </p:spPr>
        <p:txBody>
          <a:bodyPr wrap="square" lIns="0" tIns="0" rIns="0" bIns="0" rtlCol="0" anchor="t"/>
          <a:lstStyle/>
          <a:p>
            <a:pPr algn="l" indent="0" marL="0">
              <a:lnSpc>
                <a:spcPct val="110000"/>
              </a:lnSpc>
              <a:buNone/>
            </a:pPr>
            <a:r>
              <a:rPr lang="en-US" sz="1100" dirty="0">
                <a:solidFill>
                  <a:srgbClr val="222222"/>
                </a:solidFill>
                <a:latin typeface="Arial" pitchFamily="34" charset="0"/>
                <a:ea typeface="Arial" pitchFamily="34" charset="-122"/>
                <a:cs typeface="Arial" pitchFamily="34" charset="-120"/>
              </a:rPr>
              <a:t>Yes</a:t>
            </a:r>
            <a:endParaRPr lang="en-US" sz="1100" dirty="0"/>
          </a:p>
        </p:txBody>
      </p:sp>
      <p:sp>
        <p:nvSpPr>
          <p:cNvPr id="66" name="Persistent data layer"/>
          <p:cNvSpPr/>
          <p:nvPr/>
        </p:nvSpPr>
        <p:spPr>
          <a:xfrm>
            <a:off x="6858000" y="7543800"/>
            <a:ext cx="4572000" cy="914400"/>
          </a:xfrm>
          <a:prstGeom prst="roundRect">
            <a:avLst>
              <a:gd name="adj" fmla="val 8000"/>
            </a:avLst>
          </a:prstGeom>
          <a:solidFill>
            <a:srgbClr val="F2F2F2"/>
          </a:solidFill>
          <a:ln w="12700">
            <a:solidFill>
              <a:srgbClr val="8A8A8A"/>
            </a:solidFill>
            <a:prstDash val="solid"/>
          </a:ln>
        </p:spPr>
      </p:sp>
      <p:sp>
        <p:nvSpPr>
          <p:cNvPr id="67" name="Text 55"/>
          <p:cNvSpPr/>
          <p:nvPr/>
        </p:nvSpPr>
        <p:spPr>
          <a:xfrm>
            <a:off x="6858000" y="7543800"/>
            <a:ext cx="4572000" cy="914400"/>
          </a:xfrm>
          <a:prstGeom prst="rect">
            <a:avLst/>
          </a:prstGeom>
          <a:noFill/>
          <a:ln/>
        </p:spPr>
        <p:txBody>
          <a:bodyPr wrap="square" lIns="0" tIns="0" rIns="0" bIns="0" rtlCol="0" anchor="ctr"/>
          <a:lstStyle/>
          <a:p>
            <a:pPr algn="ctr" indent="0" marL="0">
              <a:lnSpc>
                <a:spcPct val="110000"/>
              </a:lnSpc>
              <a:buNone/>
            </a:pPr>
            <a:r>
              <a:rPr lang="en-US" sz="1300" b="1" dirty="0">
                <a:solidFill>
                  <a:srgbClr val="222222"/>
                </a:solidFill>
                <a:latin typeface="Arial" pitchFamily="34" charset="0"/>
                <a:ea typeface="Arial" pitchFamily="34" charset="-122"/>
                <a:cs typeface="Arial" pitchFamily="34" charset="-120"/>
              </a:rPr>
              <a:t>Persistent Data Layer</a:t>
            </a:r>
            <a:endParaRPr lang="en-US" sz="1300" dirty="0"/>
          </a:p>
          <a:p>
            <a:pPr algn="ctr" indent="0" marL="0">
              <a:lnSpc>
                <a:spcPct val="110000"/>
              </a:lnSpc>
              <a:buNone/>
            </a:pPr>
            <a:r>
              <a:rPr lang="en-US" sz="1100" dirty="0">
                <a:solidFill>
                  <a:srgbClr val="222222"/>
                </a:solidFill>
                <a:latin typeface="Arial" pitchFamily="34" charset="0"/>
                <a:ea typeface="Arial" pitchFamily="34" charset="-122"/>
                <a:cs typeface="Arial" pitchFamily="34" charset="-120"/>
              </a:rPr>
              <a:t>SQLite: profile · habits · chat · plans · goals</a:t>
            </a:r>
            <a:endParaRPr lang="en-US" sz="1300" dirty="0"/>
          </a:p>
        </p:txBody>
      </p:sp>
      <p:sp>
        <p:nvSpPr>
          <p:cNvPr id="68" name="Shape 56"/>
          <p:cNvSpPr/>
          <p:nvPr/>
        </p:nvSpPr>
        <p:spPr>
          <a:xfrm>
            <a:off x="3067812" y="5989320"/>
            <a:ext cx="0" cy="2011680"/>
          </a:xfrm>
          <a:prstGeom prst="line">
            <a:avLst/>
          </a:prstGeom>
          <a:noFill/>
          <a:ln w="12700">
            <a:solidFill>
              <a:srgbClr val="8A8A8A"/>
            </a:solidFill>
            <a:prstDash val="dash"/>
          </a:ln>
        </p:spPr>
      </p:sp>
      <p:sp>
        <p:nvSpPr>
          <p:cNvPr id="69" name="Shape 57"/>
          <p:cNvSpPr/>
          <p:nvPr/>
        </p:nvSpPr>
        <p:spPr>
          <a:xfrm>
            <a:off x="3067812" y="8001000"/>
            <a:ext cx="3790188" cy="0"/>
          </a:xfrm>
          <a:prstGeom prst="line">
            <a:avLst/>
          </a:prstGeom>
          <a:noFill/>
          <a:ln w="12700">
            <a:solidFill>
              <a:srgbClr val="8A8A8A"/>
            </a:solidFill>
            <a:prstDash val="dash"/>
          </a:ln>
        </p:spPr>
      </p:sp>
      <p:sp>
        <p:nvSpPr>
          <p:cNvPr id="70" name="Shape 58"/>
          <p:cNvSpPr/>
          <p:nvPr/>
        </p:nvSpPr>
        <p:spPr>
          <a:xfrm>
            <a:off x="16372332" y="5989320"/>
            <a:ext cx="0" cy="2011680"/>
          </a:xfrm>
          <a:prstGeom prst="line">
            <a:avLst/>
          </a:prstGeom>
          <a:noFill/>
          <a:ln w="12700">
            <a:solidFill>
              <a:srgbClr val="8A8A8A"/>
            </a:solidFill>
            <a:prstDash val="dash"/>
          </a:ln>
        </p:spPr>
      </p:sp>
      <p:sp>
        <p:nvSpPr>
          <p:cNvPr id="71" name="Shape 59"/>
          <p:cNvSpPr/>
          <p:nvPr/>
        </p:nvSpPr>
        <p:spPr>
          <a:xfrm>
            <a:off x="11430000" y="8001000"/>
            <a:ext cx="4942332" cy="0"/>
          </a:xfrm>
          <a:prstGeom prst="line">
            <a:avLst/>
          </a:prstGeom>
          <a:noFill/>
          <a:ln w="12700">
            <a:solidFill>
              <a:srgbClr val="8A8A8A"/>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9</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ORCHESTRATION: THREE AGENT TEAMS</a:t>
            </a:r>
            <a:endParaRPr lang="en-US" sz="4000" dirty="0"/>
          </a:p>
        </p:txBody>
      </p:sp>
      <p:sp>
        <p:nvSpPr>
          <p:cNvPr id="5" name="Panel"/>
          <p:cNvSpPr/>
          <p:nvPr/>
        </p:nvSpPr>
        <p:spPr>
          <a:xfrm>
            <a:off x="914400" y="2148840"/>
            <a:ext cx="16459200" cy="6949440"/>
          </a:xfrm>
          <a:prstGeom prst="roundRect">
            <a:avLst>
              <a:gd name="adj" fmla="val 1579"/>
            </a:avLst>
          </a:prstGeom>
          <a:solidFill>
            <a:srgbClr val="F4F1F8"/>
          </a:solidFill>
          <a:ln w="12700">
            <a:solidFill>
              <a:srgbClr val="E2DCEB"/>
            </a:solidFill>
            <a:prstDash val="solid"/>
          </a:ln>
        </p:spPr>
      </p:sp>
      <p:sp>
        <p:nvSpPr>
          <p:cNvPr id="6" name="Coach team"/>
          <p:cNvSpPr/>
          <p:nvPr/>
        </p:nvSpPr>
        <p:spPr>
          <a:xfrm>
            <a:off x="1280160" y="2423160"/>
            <a:ext cx="4937760" cy="6400800"/>
          </a:xfrm>
          <a:prstGeom prst="roundRect">
            <a:avLst>
              <a:gd name="adj" fmla="val 1852"/>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7" name="Shape 5"/>
          <p:cNvSpPr/>
          <p:nvPr/>
        </p:nvSpPr>
        <p:spPr>
          <a:xfrm>
            <a:off x="1508760" y="2606040"/>
            <a:ext cx="438912" cy="438912"/>
          </a:xfrm>
          <a:prstGeom prst="ellipse">
            <a:avLst/>
          </a:prstGeom>
          <a:solidFill>
            <a:srgbClr val="F5C519"/>
          </a:solidFill>
          <a:ln w="12700">
            <a:solidFill>
              <a:srgbClr val="F5C519"/>
            </a:solidFill>
            <a:prstDash val="solid"/>
          </a:ln>
        </p:spPr>
      </p:sp>
      <p:sp>
        <p:nvSpPr>
          <p:cNvPr id="8" name="Text 6"/>
          <p:cNvSpPr/>
          <p:nvPr/>
        </p:nvSpPr>
        <p:spPr>
          <a:xfrm>
            <a:off x="1508760" y="260604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1</a:t>
            </a:r>
            <a:endParaRPr lang="en-US" sz="1200" dirty="0"/>
          </a:p>
        </p:txBody>
      </p:sp>
      <p:sp>
        <p:nvSpPr>
          <p:cNvPr id="9" name="Text 7"/>
          <p:cNvSpPr/>
          <p:nvPr/>
        </p:nvSpPr>
        <p:spPr>
          <a:xfrm>
            <a:off x="2103120" y="2606040"/>
            <a:ext cx="4023360" cy="41148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AI Coach Team (chat)</a:t>
            </a:r>
            <a:endParaRPr lang="en-US" sz="1600" dirty="0"/>
          </a:p>
        </p:txBody>
      </p:sp>
      <p:sp>
        <p:nvSpPr>
          <p:cNvPr id="10" name="Text 8"/>
          <p:cNvSpPr/>
          <p:nvPr/>
        </p:nvSpPr>
        <p:spPr>
          <a:xfrm>
            <a:off x="1600200" y="3200400"/>
            <a:ext cx="4480560" cy="548640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600" dirty="0">
                <a:solidFill>
                  <a:srgbClr val="333333"/>
                </a:solidFill>
              </a:rPr>
              <a:t>User message</a:t>
            </a:r>
            <a:endParaRPr lang="en-US" sz="1600" dirty="0"/>
          </a:p>
          <a:p>
            <a:pPr marL="342900" indent="-342900">
              <a:spcAft>
                <a:spcPts val="400"/>
              </a:spcAft>
              <a:buSzPct val="100000"/>
              <a:buFont typeface="+mj-lt"/>
              <a:buAutoNum type="arabicPeriod" startAt="1"/>
            </a:pPr>
            <a:r>
              <a:rPr lang="en-US" sz="1600" dirty="0">
                <a:solidFill>
                  <a:srgbClr val="333333"/>
                </a:solidFill>
              </a:rPr>
              <a:t>load_memory</a:t>
            </a:r>
            <a:endParaRPr lang="en-US" sz="1600" dirty="0"/>
          </a:p>
          <a:p>
            <a:pPr marL="342900" indent="-342900">
              <a:spcAft>
                <a:spcPts val="400"/>
              </a:spcAft>
              <a:buSzPct val="100000"/>
              <a:buFont typeface="+mj-lt"/>
              <a:buAutoNum type="arabicPeriod" startAt="1"/>
            </a:pPr>
            <a:r>
              <a:rPr lang="en-US" sz="1600" dirty="0">
                <a:solidFill>
                  <a:srgbClr val="333333"/>
                </a:solidFill>
              </a:rPr>
              <a:t>nlp_analysis</a:t>
            </a:r>
            <a:endParaRPr lang="en-US" sz="1600" dirty="0"/>
          </a:p>
          <a:p>
            <a:pPr marL="342900" indent="-342900">
              <a:spcAft>
                <a:spcPts val="400"/>
              </a:spcAft>
              <a:buSzPct val="100000"/>
              <a:buFont typeface="+mj-lt"/>
              <a:buAutoNum type="arabicPeriod" startAt="1"/>
            </a:pPr>
            <a:r>
              <a:rPr lang="en-US" sz="1600" dirty="0">
                <a:solidFill>
                  <a:srgbClr val="333333"/>
                </a:solidFill>
              </a:rPr>
              <a:t>emergency_guardian (red flag)</a:t>
            </a:r>
            <a:endParaRPr lang="en-US" sz="1600" dirty="0"/>
          </a:p>
          <a:p>
            <a:pPr marL="342900" indent="-342900">
              <a:spcAft>
                <a:spcPts val="400"/>
              </a:spcAft>
              <a:buSzPct val="100000"/>
              <a:buFont typeface="+mj-lt"/>
              <a:buAutoNum type="arabicPeriod" startAt="1"/>
            </a:pPr>
            <a:r>
              <a:rPr lang="en-US" sz="1600" dirty="0">
                <a:solidFill>
                  <a:srgbClr val="333333"/>
                </a:solidFill>
              </a:rPr>
              <a:t>supervisor</a:t>
            </a:r>
            <a:endParaRPr lang="en-US" sz="1600" dirty="0"/>
          </a:p>
          <a:p>
            <a:pPr marL="342900" indent="-342900">
              <a:spcAft>
                <a:spcPts val="400"/>
              </a:spcAft>
              <a:buSzPct val="100000"/>
              <a:buFont typeface="+mj-lt"/>
              <a:buAutoNum type="arabicPeriod" startAt="1"/>
            </a:pPr>
            <a:r>
              <a:rPr lang="en-US" sz="1600" dirty="0">
                <a:solidFill>
                  <a:srgbClr val="333333"/>
                </a:solidFill>
              </a:rPr>
              <a:t>researcher (agentic RAG)</a:t>
            </a:r>
            <a:endParaRPr lang="en-US" sz="1600" dirty="0"/>
          </a:p>
          <a:p>
            <a:pPr marL="342900" indent="-342900">
              <a:spcAft>
                <a:spcPts val="400"/>
              </a:spcAft>
              <a:buSzPct val="100000"/>
              <a:buFont typeface="+mj-lt"/>
              <a:buAutoNum type="arabicPeriod" startAt="1"/>
            </a:pPr>
            <a:r>
              <a:rPr lang="en-US" sz="1600" dirty="0">
                <a:solidFill>
                  <a:srgbClr val="333333"/>
                </a:solidFill>
              </a:rPr>
              <a:t>4 specialists — parallel Send</a:t>
            </a:r>
            <a:endParaRPr lang="en-US" sz="1600" dirty="0"/>
          </a:p>
          <a:p>
            <a:pPr marL="342900" indent="-342900">
              <a:spcAft>
                <a:spcPts val="400"/>
              </a:spcAft>
              <a:buSzPct val="100000"/>
              <a:buFont typeface="+mj-lt"/>
              <a:buAutoNum type="arabicPeriod" startAt="1"/>
            </a:pPr>
            <a:r>
              <a:rPr lang="en-US" sz="1600" dirty="0">
                <a:solidFill>
                  <a:srgbClr val="333333"/>
                </a:solidFill>
              </a:rPr>
              <a:t>mediate → diet_edit</a:t>
            </a:r>
            <a:endParaRPr lang="en-US" sz="1600" dirty="0"/>
          </a:p>
          <a:p>
            <a:pPr marL="342900" indent="-342900">
              <a:spcAft>
                <a:spcPts val="400"/>
              </a:spcAft>
              <a:buSzPct val="100000"/>
              <a:buFont typeface="+mj-lt"/>
              <a:buAutoNum type="arabicPeriod" startAt="1"/>
            </a:pPr>
            <a:r>
              <a:rPr lang="en-US" sz="1600" dirty="0">
                <a:solidFill>
                  <a:srgbClr val="333333"/>
                </a:solidFill>
              </a:rPr>
              <a:t>synthesizer</a:t>
            </a:r>
            <a:endParaRPr lang="en-US" sz="1600" dirty="0"/>
          </a:p>
          <a:p>
            <a:pPr marL="342900" indent="-342900">
              <a:spcAft>
                <a:spcPts val="400"/>
              </a:spcAft>
              <a:buSzPct val="100000"/>
              <a:buFont typeface="+mj-lt"/>
              <a:buAutoNum type="arabicPeriod" startAt="1"/>
            </a:pPr>
            <a:r>
              <a:rPr lang="en-US" sz="1600" dirty="0">
                <a:solidFill>
                  <a:srgbClr val="333333"/>
                </a:solidFill>
              </a:rPr>
              <a:t>guardian → critic → revise</a:t>
            </a:r>
            <a:endParaRPr lang="en-US" sz="1600" dirty="0"/>
          </a:p>
          <a:p>
            <a:pPr marL="342900" indent="-342900">
              <a:spcAft>
                <a:spcPts val="400"/>
              </a:spcAft>
              <a:buSzPct val="100000"/>
              <a:buFont typeface="+mj-lt"/>
              <a:buAutoNum type="arabicPeriod" startAt="1"/>
            </a:pPr>
            <a:r>
              <a:rPr lang="en-US" sz="1600" dirty="0">
                <a:solidFill>
                  <a:srgbClr val="333333"/>
                </a:solidFill>
              </a:rPr>
              <a:t>human_review → diet_review</a:t>
            </a:r>
            <a:endParaRPr lang="en-US" sz="1600" dirty="0"/>
          </a:p>
          <a:p>
            <a:pPr marL="342900" indent="-342900">
              <a:spcAft>
                <a:spcPts val="400"/>
              </a:spcAft>
              <a:buSzPct val="100000"/>
              <a:buFont typeface="+mj-lt"/>
              <a:buAutoNum type="arabicPeriod" startAt="1"/>
            </a:pPr>
            <a:r>
              <a:rPr lang="en-US" sz="1600" dirty="0">
                <a:solidFill>
                  <a:srgbClr val="333333"/>
                </a:solidFill>
              </a:rPr>
              <a:t>save_memory</a:t>
            </a:r>
            <a:endParaRPr lang="en-US" sz="1600" dirty="0"/>
          </a:p>
        </p:txBody>
      </p:sp>
      <p:sp>
        <p:nvSpPr>
          <p:cNvPr id="11" name="Diet team"/>
          <p:cNvSpPr/>
          <p:nvPr/>
        </p:nvSpPr>
        <p:spPr>
          <a:xfrm>
            <a:off x="6537960" y="2423160"/>
            <a:ext cx="5120640" cy="3246120"/>
          </a:xfrm>
          <a:prstGeom prst="roundRect">
            <a:avLst>
              <a:gd name="adj" fmla="val 281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2" name="Shape 10"/>
          <p:cNvSpPr/>
          <p:nvPr/>
        </p:nvSpPr>
        <p:spPr>
          <a:xfrm>
            <a:off x="6766560" y="2606040"/>
            <a:ext cx="438912" cy="438912"/>
          </a:xfrm>
          <a:prstGeom prst="ellipse">
            <a:avLst/>
          </a:prstGeom>
          <a:solidFill>
            <a:srgbClr val="F5C519"/>
          </a:solidFill>
          <a:ln w="12700">
            <a:solidFill>
              <a:srgbClr val="F5C519"/>
            </a:solidFill>
            <a:prstDash val="solid"/>
          </a:ln>
        </p:spPr>
      </p:sp>
      <p:sp>
        <p:nvSpPr>
          <p:cNvPr id="13" name="Text 11"/>
          <p:cNvSpPr/>
          <p:nvPr/>
        </p:nvSpPr>
        <p:spPr>
          <a:xfrm>
            <a:off x="6766560" y="260604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2</a:t>
            </a:r>
            <a:endParaRPr lang="en-US" sz="1200" dirty="0"/>
          </a:p>
        </p:txBody>
      </p:sp>
      <p:sp>
        <p:nvSpPr>
          <p:cNvPr id="14" name="Text 12"/>
          <p:cNvSpPr/>
          <p:nvPr/>
        </p:nvSpPr>
        <p:spPr>
          <a:xfrm>
            <a:off x="7360920" y="2606040"/>
            <a:ext cx="4206240" cy="41148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Diet Team (builds the plan)</a:t>
            </a:r>
            <a:endParaRPr lang="en-US" sz="1600" dirty="0"/>
          </a:p>
        </p:txBody>
      </p:sp>
      <p:sp>
        <p:nvSpPr>
          <p:cNvPr id="15" name="Text 13"/>
          <p:cNvSpPr/>
          <p:nvPr/>
        </p:nvSpPr>
        <p:spPr>
          <a:xfrm>
            <a:off x="6812280" y="3200400"/>
            <a:ext cx="4663440" cy="1737360"/>
          </a:xfrm>
          <a:prstGeom prst="rect">
            <a:avLst/>
          </a:prstGeom>
          <a:noFill/>
          <a:ln/>
        </p:spPr>
        <p:txBody>
          <a:bodyPr wrap="square" lIns="0" tIns="0" rIns="0" bIns="0" rtlCol="0" anchor="t"/>
          <a:lstStyle/>
          <a:p>
            <a:pPr algn="l" indent="0" marL="0">
              <a:lnSpc>
                <a:spcPct val="115000"/>
              </a:lnSpc>
              <a:buNone/>
            </a:pPr>
            <a:r>
              <a:rPr lang="en-US" sz="1600" dirty="0">
                <a:solidFill>
                  <a:srgbClr val="333333"/>
                </a:solidFill>
                <a:latin typeface="Arial" pitchFamily="34" charset="0"/>
                <a:ea typeface="Arial" pitchFamily="34" charset="-122"/>
                <a:cs typeface="Arial" pitchFamily="34" charset="-120"/>
              </a:rPr>
              <a:t>clinical → nutritionist → guardian (repair / veto) → critic (other LLM) → explainer → review (approve / regenerate / reject) → save</a:t>
            </a:r>
            <a:endParaRPr lang="en-US" sz="1600" dirty="0"/>
          </a:p>
        </p:txBody>
      </p:sp>
      <p:sp>
        <p:nvSpPr>
          <p:cNvPr id="16" name="Text 14"/>
          <p:cNvSpPr/>
          <p:nvPr/>
        </p:nvSpPr>
        <p:spPr>
          <a:xfrm>
            <a:off x="6812280" y="5074920"/>
            <a:ext cx="4663440" cy="457200"/>
          </a:xfrm>
          <a:prstGeom prst="rect">
            <a:avLst/>
          </a:prstGeom>
          <a:noFill/>
          <a:ln/>
        </p:spPr>
        <p:txBody>
          <a:bodyPr wrap="square" lIns="0" tIns="0" rIns="0" bIns="0" rtlCol="0" anchor="t"/>
          <a:lstStyle/>
          <a:p>
            <a:pPr algn="l" indent="0" marL="0">
              <a:lnSpc>
                <a:spcPct val="110000"/>
              </a:lnSpc>
              <a:buNone/>
            </a:pPr>
            <a:r>
              <a:rPr lang="en-US" sz="1500" i="1" dirty="0">
                <a:solidFill>
                  <a:srgbClr val="555555"/>
                </a:solidFill>
                <a:latin typeface="Arial" pitchFamily="34" charset="0"/>
                <a:ea typeface="Arial" pitchFamily="34" charset="-122"/>
                <a:cs typeface="Arial" pitchFamily="34" charset="-120"/>
              </a:rPr>
              <a:t>A plan the guardian vetoes is never saved.</a:t>
            </a:r>
            <a:endParaRPr lang="en-US" sz="1500" dirty="0"/>
          </a:p>
        </p:txBody>
      </p:sp>
      <p:sp>
        <p:nvSpPr>
          <p:cNvPr id="17" name="Text 15"/>
          <p:cNvSpPr/>
          <p:nvPr/>
        </p:nvSpPr>
        <p:spPr>
          <a:xfrm>
            <a:off x="6537960" y="5852160"/>
            <a:ext cx="5120640" cy="1828800"/>
          </a:xfrm>
          <a:prstGeom prst="rect">
            <a:avLst/>
          </a:prstGeom>
          <a:noFill/>
          <a:ln/>
        </p:spPr>
        <p:txBody>
          <a:bodyPr wrap="square" lIns="0" tIns="0" rIns="0" bIns="0" rtlCol="0" anchor="t"/>
          <a:lstStyle/>
          <a:p>
            <a:pPr algn="l" indent="0" marL="0">
              <a:lnSpc>
                <a:spcPct val="115000"/>
              </a:lnSpc>
              <a:buNone/>
            </a:pPr>
            <a:r>
              <a:rPr lang="en-US" sz="1700" b="1" dirty="0">
                <a:solidFill>
                  <a:srgbClr val="5B2D8F"/>
                </a:solidFill>
                <a:latin typeface="Arial" pitchFamily="34" charset="0"/>
                <a:ea typeface="Arial" pitchFamily="34" charset="-122"/>
                <a:cs typeface="Arial" pitchFamily="34" charset="-120"/>
              </a:rPr>
              <a:t>“LangGraph is the orchestration backbone: agents share one state, run in parallel, branch on conditions, loop to correct themselves and pause for human approval.”</a:t>
            </a:r>
            <a:endParaRPr lang="en-US" sz="1700" dirty="0"/>
          </a:p>
        </p:txBody>
      </p:sp>
      <p:sp>
        <p:nvSpPr>
          <p:cNvPr id="18" name="Weekly team"/>
          <p:cNvSpPr/>
          <p:nvPr/>
        </p:nvSpPr>
        <p:spPr>
          <a:xfrm>
            <a:off x="11978640" y="2423160"/>
            <a:ext cx="5029200" cy="3246120"/>
          </a:xfrm>
          <a:prstGeom prst="roundRect">
            <a:avLst>
              <a:gd name="adj" fmla="val 281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9" name="Shape 17"/>
          <p:cNvSpPr/>
          <p:nvPr/>
        </p:nvSpPr>
        <p:spPr>
          <a:xfrm>
            <a:off x="12207240" y="2606040"/>
            <a:ext cx="438912" cy="438912"/>
          </a:xfrm>
          <a:prstGeom prst="ellipse">
            <a:avLst/>
          </a:prstGeom>
          <a:solidFill>
            <a:srgbClr val="F5C519"/>
          </a:solidFill>
          <a:ln w="12700">
            <a:solidFill>
              <a:srgbClr val="F5C519"/>
            </a:solidFill>
            <a:prstDash val="solid"/>
          </a:ln>
        </p:spPr>
      </p:sp>
      <p:sp>
        <p:nvSpPr>
          <p:cNvPr id="20" name="Text 18"/>
          <p:cNvSpPr/>
          <p:nvPr/>
        </p:nvSpPr>
        <p:spPr>
          <a:xfrm>
            <a:off x="12207240" y="260604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3</a:t>
            </a:r>
            <a:endParaRPr lang="en-US" sz="1200" dirty="0"/>
          </a:p>
        </p:txBody>
      </p:sp>
      <p:sp>
        <p:nvSpPr>
          <p:cNvPr id="21" name="Text 19"/>
          <p:cNvSpPr/>
          <p:nvPr/>
        </p:nvSpPr>
        <p:spPr>
          <a:xfrm>
            <a:off x="12801600" y="2606040"/>
            <a:ext cx="4114800" cy="41148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Weekly Review Team</a:t>
            </a:r>
            <a:endParaRPr lang="en-US" sz="1600" dirty="0"/>
          </a:p>
        </p:txBody>
      </p:sp>
      <p:sp>
        <p:nvSpPr>
          <p:cNvPr id="22" name="Text 20"/>
          <p:cNvSpPr/>
          <p:nvPr/>
        </p:nvSpPr>
        <p:spPr>
          <a:xfrm>
            <a:off x="12252960" y="3200400"/>
            <a:ext cx="4572000" cy="1188720"/>
          </a:xfrm>
          <a:prstGeom prst="rect">
            <a:avLst/>
          </a:prstGeom>
          <a:noFill/>
          <a:ln/>
        </p:spPr>
        <p:txBody>
          <a:bodyPr wrap="square" lIns="0" tIns="0" rIns="0" bIns="0" rtlCol="0" anchor="t"/>
          <a:lstStyle/>
          <a:p>
            <a:pPr algn="l" indent="0" marL="0">
              <a:lnSpc>
                <a:spcPct val="115000"/>
              </a:lnSpc>
              <a:buNone/>
            </a:pPr>
            <a:r>
              <a:rPr lang="en-US" sz="1600" dirty="0">
                <a:solidFill>
                  <a:srgbClr val="333333"/>
                </a:solidFill>
                <a:latin typeface="Arial" pitchFamily="34" charset="0"/>
                <a:ea typeface="Arial" pitchFamily="34" charset="-122"/>
                <a:cs typeface="Arial" pitchFamily="34" charset="-120"/>
              </a:rPr>
              <a:t>gather → analyst → coach → diet_adapt → guardian → human_review → save</a:t>
            </a:r>
            <a:endParaRPr lang="en-US" sz="1600" dirty="0"/>
          </a:p>
        </p:txBody>
      </p:sp>
      <p:sp>
        <p:nvSpPr>
          <p:cNvPr id="23" name="Text 21"/>
          <p:cNvSpPr/>
          <p:nvPr/>
        </p:nvSpPr>
        <p:spPr>
          <a:xfrm>
            <a:off x="12252960" y="4526280"/>
            <a:ext cx="4572000" cy="914400"/>
          </a:xfrm>
          <a:prstGeom prst="rect">
            <a:avLst/>
          </a:prstGeom>
          <a:noFill/>
          <a:ln/>
        </p:spPr>
        <p:txBody>
          <a:bodyPr wrap="square" lIns="0" tIns="0" rIns="0" bIns="0" rtlCol="0" anchor="t"/>
          <a:lstStyle/>
          <a:p>
            <a:pPr algn="l" indent="0" marL="0">
              <a:lnSpc>
                <a:spcPct val="110000"/>
              </a:lnSpc>
              <a:buNone/>
            </a:pPr>
            <a:r>
              <a:rPr lang="en-US" sz="1500" i="1" dirty="0">
                <a:solidFill>
                  <a:srgbClr val="555555"/>
                </a:solidFill>
                <a:latin typeface="Arial" pitchFamily="34" charset="0"/>
                <a:ea typeface="Arial" pitchFamily="34" charset="-122"/>
                <a:cs typeface="Arial" pitchFamily="34" charset="-120"/>
              </a:rPr>
              <a:t>Runs without a question; approved goals feed every later chat.</a:t>
            </a:r>
            <a:endParaRPr lang="en-US" sz="1500" dirty="0"/>
          </a:p>
        </p:txBody>
      </p:sp>
      <p:sp>
        <p:nvSpPr>
          <p:cNvPr id="24" name="LangGraph features"/>
          <p:cNvSpPr/>
          <p:nvPr/>
        </p:nvSpPr>
        <p:spPr>
          <a:xfrm>
            <a:off x="6537960" y="7726680"/>
            <a:ext cx="5120640" cy="1097280"/>
          </a:xfrm>
          <a:prstGeom prst="roundRect">
            <a:avLst>
              <a:gd name="adj" fmla="val 833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5" name="Text 23"/>
          <p:cNvSpPr/>
          <p:nvPr/>
        </p:nvSpPr>
        <p:spPr>
          <a:xfrm>
            <a:off x="6720840" y="7772400"/>
            <a:ext cx="4846320" cy="1005840"/>
          </a:xfrm>
          <a:prstGeom prst="rect">
            <a:avLst/>
          </a:prstGeom>
          <a:noFill/>
          <a:ln/>
        </p:spPr>
        <p:txBody>
          <a:bodyPr wrap="square" lIns="0" tIns="0" rIns="0" bIns="0" rtlCol="0" anchor="ctr"/>
          <a:lstStyle/>
          <a:p>
            <a:pPr algn="l" indent="0" marL="0">
              <a:lnSpc>
                <a:spcPct val="110000"/>
              </a:lnSpc>
              <a:buNone/>
            </a:pPr>
            <a:r>
              <a:rPr lang="en-US" sz="1400" b="1" dirty="0">
                <a:solidFill>
                  <a:srgbClr val="222222"/>
                </a:solidFill>
                <a:latin typeface="Arial" pitchFamily="34" charset="0"/>
                <a:ea typeface="Arial" pitchFamily="34" charset="-122"/>
                <a:cs typeface="Arial" pitchFamily="34" charset="-120"/>
              </a:rPr>
              <a:t>LangGraph features used: </a:t>
            </a:r>
            <a:pPr algn="l" indent="0" marL="0">
              <a:lnSpc>
                <a:spcPct val="110000"/>
              </a:lnSpc>
              <a:buNone/>
            </a:pPr>
            <a:r>
              <a:rPr lang="en-US" sz="1400" dirty="0">
                <a:solidFill>
                  <a:srgbClr val="222222"/>
                </a:solidFill>
                <a:latin typeface="Arial" pitchFamily="34" charset="0"/>
                <a:ea typeface="Arial" pitchFamily="34" charset="-122"/>
                <a:cs typeface="Arial" pitchFamily="34" charset="-120"/>
              </a:rPr>
              <a:t>StateGraph · Send fan-out · conditional edges · interrupt() / Command(resume) · MemorySaver</a:t>
            </a:r>
            <a:endParaRPr lang="en-US" sz="1400" dirty="0"/>
          </a:p>
        </p:txBody>
      </p:sp>
      <p:sp>
        <p:nvSpPr>
          <p:cNvPr id="26" name="Data layer"/>
          <p:cNvSpPr/>
          <p:nvPr/>
        </p:nvSpPr>
        <p:spPr>
          <a:xfrm>
            <a:off x="11978640" y="589788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7" name="Text 25"/>
          <p:cNvSpPr/>
          <p:nvPr/>
        </p:nvSpPr>
        <p:spPr>
          <a:xfrm>
            <a:off x="12207240" y="6035040"/>
            <a:ext cx="4663440" cy="411480"/>
          </a:xfrm>
          <a:prstGeom prst="rect">
            <a:avLst/>
          </a:prstGeom>
          <a:noFill/>
          <a:ln/>
        </p:spPr>
        <p:txBody>
          <a:bodyPr wrap="square" lIns="0" tIns="0" rIns="0" bIns="0" rtlCol="0" anchor="t"/>
          <a:lstStyle/>
          <a:p>
            <a:pPr algn="l" indent="0" marL="0">
              <a:lnSpc>
                <a:spcPct val="110000"/>
              </a:lnSpc>
              <a:buNone/>
            </a:pPr>
            <a:r>
              <a:rPr lang="en-US" sz="1500" b="1" dirty="0">
                <a:solidFill>
                  <a:srgbClr val="5B2D8F"/>
                </a:solidFill>
                <a:latin typeface="Arial" pitchFamily="34" charset="0"/>
                <a:ea typeface="Arial" pitchFamily="34" charset="-122"/>
                <a:cs typeface="Arial" pitchFamily="34" charset="-120"/>
              </a:rPr>
              <a:t>Persistent Data Layer — SQLite</a:t>
            </a:r>
            <a:endParaRPr lang="en-US" sz="1500" dirty="0"/>
          </a:p>
        </p:txBody>
      </p:sp>
      <p:sp>
        <p:nvSpPr>
          <p:cNvPr id="28" name="Text 26"/>
          <p:cNvSpPr/>
          <p:nvPr/>
        </p:nvSpPr>
        <p:spPr>
          <a:xfrm>
            <a:off x="12298680" y="6537960"/>
            <a:ext cx="4572000" cy="2194560"/>
          </a:xfrm>
          <a:prstGeom prst="rect">
            <a:avLst/>
          </a:prstGeom>
          <a:noFill/>
          <a:ln/>
        </p:spPr>
        <p:txBody>
          <a:bodyPr wrap="square" lIns="0" tIns="0" rIns="0" bIns="0" rtlCol="0" anchor="t"/>
          <a:lstStyle/>
          <a:p>
            <a:pPr marL="228600" indent="-228600">
              <a:lnSpc>
                <a:spcPct val="105000"/>
              </a:lnSpc>
              <a:spcAft>
                <a:spcPts val="400"/>
              </a:spcAft>
              <a:buSzPct val="100000"/>
              <a:buChar char="•"/>
            </a:pPr>
            <a:r>
              <a:rPr lang="en-US" sz="1500" dirty="0">
                <a:solidFill>
                  <a:srgbClr val="222222"/>
                </a:solidFill>
                <a:latin typeface="Arial" pitchFamily="34" charset="0"/>
                <a:ea typeface="Arial" pitchFamily="34" charset="-122"/>
                <a:cs typeface="Arial" pitchFamily="34" charset="-120"/>
              </a:rPr>
              <a:t>users, plans, logs, agent_logs</a:t>
            </a:r>
            <a:endParaRPr lang="en-US" sz="1500" dirty="0"/>
          </a:p>
          <a:p>
            <a:pPr marL="228600" indent="-228600">
              <a:lnSpc>
                <a:spcPct val="105000"/>
              </a:lnSpc>
              <a:spcAft>
                <a:spcPts val="400"/>
              </a:spcAft>
              <a:buSzPct val="100000"/>
              <a:buChar char="•"/>
            </a:pPr>
            <a:r>
              <a:rPr lang="en-US" sz="1500" dirty="0">
                <a:solidFill>
                  <a:srgbClr val="222222"/>
                </a:solidFill>
                <a:latin typeface="Arial" pitchFamily="34" charset="0"/>
                <a:ea typeface="Arial" pitchFamily="34" charset="-122"/>
                <a:cs typeface="Arial" pitchFamily="34" charset="-120"/>
              </a:rPr>
              <a:t>chat_memory, habit_logs</a:t>
            </a:r>
            <a:endParaRPr lang="en-US" sz="1500" dirty="0"/>
          </a:p>
          <a:p>
            <a:pPr marL="228600" indent="-228600">
              <a:lnSpc>
                <a:spcPct val="105000"/>
              </a:lnSpc>
              <a:spcAft>
                <a:spcPts val="400"/>
              </a:spcAft>
              <a:buSzPct val="100000"/>
              <a:buChar char="•"/>
            </a:pPr>
            <a:r>
              <a:rPr lang="en-US" sz="1500" dirty="0">
                <a:solidFill>
                  <a:srgbClr val="222222"/>
                </a:solidFill>
                <a:latin typeface="Arial" pitchFamily="34" charset="0"/>
                <a:ea typeface="Arial" pitchFamily="34" charset="-122"/>
                <a:cs typeface="Arial" pitchFamily="34" charset="-120"/>
              </a:rPr>
              <a:t>diet_chart, diet_meta, diet_prefs</a:t>
            </a:r>
            <a:endParaRPr lang="en-US" sz="1500" dirty="0"/>
          </a:p>
          <a:p>
            <a:pPr marL="228600" indent="-228600">
              <a:lnSpc>
                <a:spcPct val="105000"/>
              </a:lnSpc>
              <a:spcAft>
                <a:spcPts val="400"/>
              </a:spcAft>
              <a:buSzPct val="100000"/>
              <a:buChar char="•"/>
            </a:pPr>
            <a:r>
              <a:rPr lang="en-US" sz="1500" dirty="0">
                <a:solidFill>
                  <a:srgbClr val="222222"/>
                </a:solidFill>
                <a:latin typeface="Arial" pitchFamily="34" charset="0"/>
                <a:ea typeface="Arial" pitchFamily="34" charset="-122"/>
                <a:cs typeface="Arial" pitchFamily="34" charset="-120"/>
              </a:rPr>
              <a:t>diet_log (meal check-ins), weight_logs</a:t>
            </a:r>
            <a:endParaRPr lang="en-US" sz="1500" dirty="0"/>
          </a:p>
          <a:p>
            <a:pPr marL="228600" indent="-228600">
              <a:lnSpc>
                <a:spcPct val="105000"/>
              </a:lnSpc>
              <a:spcAft>
                <a:spcPts val="400"/>
              </a:spcAft>
              <a:buSzPct val="100000"/>
              <a:buChar char="•"/>
            </a:pPr>
            <a:r>
              <a:rPr lang="en-US" sz="1500" dirty="0">
                <a:solidFill>
                  <a:srgbClr val="222222"/>
                </a:solidFill>
                <a:latin typeface="Arial" pitchFamily="34" charset="0"/>
                <a:ea typeface="Arial" pitchFamily="34" charset="-122"/>
                <a:cs typeface="Arial" pitchFamily="34" charset="-120"/>
              </a:rPr>
              <a:t>weekly_goals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10</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System Architecture: Tiered View</a:t>
            </a:r>
            <a:endParaRPr lang="en-US" sz="4000" dirty="0"/>
          </a:p>
        </p:txBody>
      </p:sp>
      <p:sp>
        <p:nvSpPr>
          <p:cNvPr id="5" name="Tier area"/>
          <p:cNvSpPr/>
          <p:nvPr/>
        </p:nvSpPr>
        <p:spPr>
          <a:xfrm>
            <a:off x="914400" y="2148840"/>
            <a:ext cx="16459200" cy="6949440"/>
          </a:xfrm>
          <a:prstGeom prst="roundRect">
            <a:avLst>
              <a:gd name="adj" fmla="val 1316"/>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6" name="User Layer"/>
          <p:cNvSpPr/>
          <p:nvPr/>
        </p:nvSpPr>
        <p:spPr>
          <a:xfrm>
            <a:off x="1188720" y="2560320"/>
            <a:ext cx="2103120" cy="6126480"/>
          </a:xfrm>
          <a:prstGeom prst="roundRect">
            <a:avLst>
              <a:gd name="adj" fmla="val 3478"/>
            </a:avLst>
          </a:prstGeom>
          <a:solidFill>
            <a:srgbClr val="E8F1FB"/>
          </a:solidFill>
          <a:ln w="15875">
            <a:solidFill>
              <a:srgbClr val="4A6FD8"/>
            </a:solidFill>
            <a:prstDash val="solid"/>
          </a:ln>
        </p:spPr>
      </p:sp>
      <p:sp>
        <p:nvSpPr>
          <p:cNvPr id="7" name="Shape 5"/>
          <p:cNvSpPr/>
          <p:nvPr/>
        </p:nvSpPr>
        <p:spPr>
          <a:xfrm>
            <a:off x="2011680" y="2743200"/>
            <a:ext cx="457200" cy="457200"/>
          </a:xfrm>
          <a:prstGeom prst="ellipse">
            <a:avLst/>
          </a:prstGeom>
          <a:solidFill>
            <a:srgbClr val="4A6FD8"/>
          </a:solidFill>
          <a:ln w="12700">
            <a:solidFill>
              <a:srgbClr val="4A6FD8"/>
            </a:solidFill>
            <a:prstDash val="solid"/>
          </a:ln>
        </p:spPr>
      </p:sp>
      <p:sp>
        <p:nvSpPr>
          <p:cNvPr id="8" name="Text 6"/>
          <p:cNvSpPr/>
          <p:nvPr/>
        </p:nvSpPr>
        <p:spPr>
          <a:xfrm>
            <a:off x="2011680" y="2743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9" name="Text 7"/>
          <p:cNvSpPr/>
          <p:nvPr/>
        </p:nvSpPr>
        <p:spPr>
          <a:xfrm>
            <a:off x="1188720" y="3291840"/>
            <a:ext cx="2103120" cy="411480"/>
          </a:xfrm>
          <a:prstGeom prst="rect">
            <a:avLst/>
          </a:prstGeom>
          <a:noFill/>
          <a:ln/>
        </p:spPr>
        <p:txBody>
          <a:bodyPr wrap="square" lIns="0" tIns="0" rIns="0" bIns="0" rtlCol="0" anchor="t"/>
          <a:lstStyle/>
          <a:p>
            <a:pPr algn="ctr" indent="0" marL="0">
              <a:lnSpc>
                <a:spcPct val="110000"/>
              </a:lnSpc>
              <a:buNone/>
            </a:pPr>
            <a:r>
              <a:rPr lang="en-US" sz="1500" b="1" dirty="0">
                <a:solidFill>
                  <a:srgbClr val="222222"/>
                </a:solidFill>
                <a:latin typeface="Arial" pitchFamily="34" charset="0"/>
                <a:ea typeface="Arial" pitchFamily="34" charset="-122"/>
                <a:cs typeface="Arial" pitchFamily="34" charset="-120"/>
              </a:rPr>
              <a:t>User Layer</a:t>
            </a:r>
            <a:endParaRPr lang="en-US" sz="1500" dirty="0"/>
          </a:p>
        </p:txBody>
      </p:sp>
      <p:pic>
        <p:nvPicPr>
          <p:cNvPr id="10" name="Image 0" descr="/home/claude/ppt2/assets/FaUser_d.png">    </p:cNvPr>
          <p:cNvPicPr>
            <a:picLocks noChangeAspect="1"/>
          </p:cNvPicPr>
          <p:nvPr/>
        </p:nvPicPr>
        <p:blipFill>
          <a:blip r:embed="rId1"/>
          <a:stretch>
            <a:fillRect/>
          </a:stretch>
        </p:blipFill>
        <p:spPr>
          <a:xfrm>
            <a:off x="1874520" y="3886200"/>
            <a:ext cx="731520" cy="731520"/>
          </a:xfrm>
          <a:prstGeom prst="rect">
            <a:avLst/>
          </a:prstGeom>
        </p:spPr>
      </p:pic>
      <p:sp>
        <p:nvSpPr>
          <p:cNvPr id="11" name="Shape 8"/>
          <p:cNvSpPr/>
          <p:nvPr/>
        </p:nvSpPr>
        <p:spPr>
          <a:xfrm>
            <a:off x="1325880" y="4937760"/>
            <a:ext cx="1828800" cy="868680"/>
          </a:xfrm>
          <a:prstGeom prst="roundRect">
            <a:avLst>
              <a:gd name="adj" fmla="val 6316"/>
            </a:avLst>
          </a:prstGeom>
          <a:solidFill>
            <a:srgbClr val="FFFFFF"/>
          </a:solidFill>
          <a:ln w="12700">
            <a:solidFill>
              <a:srgbClr val="4A6FD8"/>
            </a:solidFill>
            <a:prstDash val="solid"/>
          </a:ln>
        </p:spPr>
      </p:sp>
      <p:sp>
        <p:nvSpPr>
          <p:cNvPr id="12" name="Text 9"/>
          <p:cNvSpPr/>
          <p:nvPr/>
        </p:nvSpPr>
        <p:spPr>
          <a:xfrm>
            <a:off x="1325880" y="4937760"/>
            <a:ext cx="182880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User</a:t>
            </a:r>
            <a:endParaRPr lang="en-US" sz="1300" dirty="0"/>
          </a:p>
        </p:txBody>
      </p:sp>
      <p:sp>
        <p:nvSpPr>
          <p:cNvPr id="13" name="Shape 10"/>
          <p:cNvSpPr/>
          <p:nvPr/>
        </p:nvSpPr>
        <p:spPr>
          <a:xfrm>
            <a:off x="1325880" y="5989320"/>
            <a:ext cx="1828800" cy="868680"/>
          </a:xfrm>
          <a:prstGeom prst="roundRect">
            <a:avLst>
              <a:gd name="adj" fmla="val 6316"/>
            </a:avLst>
          </a:prstGeom>
          <a:solidFill>
            <a:srgbClr val="FFFFFF"/>
          </a:solidFill>
          <a:ln w="12700">
            <a:solidFill>
              <a:srgbClr val="4A6FD8"/>
            </a:solidFill>
            <a:prstDash val="solid"/>
          </a:ln>
        </p:spPr>
      </p:sp>
      <p:sp>
        <p:nvSpPr>
          <p:cNvPr id="14" name="Text 11"/>
          <p:cNvSpPr/>
          <p:nvPr/>
        </p:nvSpPr>
        <p:spPr>
          <a:xfrm>
            <a:off x="1325880" y="5989320"/>
            <a:ext cx="182880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Streamlit app</a:t>
            </a:r>
            <a:endParaRPr lang="en-US" sz="1300" dirty="0"/>
          </a:p>
        </p:txBody>
      </p:sp>
      <p:sp>
        <p:nvSpPr>
          <p:cNvPr id="15" name="Shape 12"/>
          <p:cNvSpPr/>
          <p:nvPr/>
        </p:nvSpPr>
        <p:spPr>
          <a:xfrm>
            <a:off x="1325880" y="7040880"/>
            <a:ext cx="1828800" cy="868680"/>
          </a:xfrm>
          <a:prstGeom prst="roundRect">
            <a:avLst>
              <a:gd name="adj" fmla="val 6316"/>
            </a:avLst>
          </a:prstGeom>
          <a:solidFill>
            <a:srgbClr val="FFFFFF"/>
          </a:solidFill>
          <a:ln w="12700">
            <a:solidFill>
              <a:srgbClr val="4A6FD8"/>
            </a:solidFill>
            <a:prstDash val="solid"/>
          </a:ln>
        </p:spPr>
      </p:sp>
      <p:sp>
        <p:nvSpPr>
          <p:cNvPr id="16" name="Text 13"/>
          <p:cNvSpPr/>
          <p:nvPr/>
        </p:nvSpPr>
        <p:spPr>
          <a:xfrm>
            <a:off x="1325880" y="7040880"/>
            <a:ext cx="182880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8 pages</a:t>
            </a:r>
            <a:endParaRPr lang="en-US" sz="1300" dirty="0"/>
          </a:p>
        </p:txBody>
      </p:sp>
      <p:sp>
        <p:nvSpPr>
          <p:cNvPr id="17" name="Shape 14"/>
          <p:cNvSpPr/>
          <p:nvPr/>
        </p:nvSpPr>
        <p:spPr>
          <a:xfrm>
            <a:off x="3291840" y="5623560"/>
            <a:ext cx="182880" cy="0"/>
          </a:xfrm>
          <a:prstGeom prst="line">
            <a:avLst/>
          </a:prstGeom>
          <a:noFill/>
          <a:ln w="15875">
            <a:solidFill>
              <a:srgbClr val="555555"/>
            </a:solidFill>
            <a:prstDash val="solid"/>
            <a:tailEnd type="triangle"/>
          </a:ln>
        </p:spPr>
      </p:sp>
      <p:sp>
        <p:nvSpPr>
          <p:cNvPr id="18" name="Orchestration"/>
          <p:cNvSpPr/>
          <p:nvPr/>
        </p:nvSpPr>
        <p:spPr>
          <a:xfrm>
            <a:off x="3474720" y="2560320"/>
            <a:ext cx="2103120" cy="6126480"/>
          </a:xfrm>
          <a:prstGeom prst="roundRect">
            <a:avLst>
              <a:gd name="adj" fmla="val 3478"/>
            </a:avLst>
          </a:prstGeom>
          <a:solidFill>
            <a:srgbClr val="F1ECFB"/>
          </a:solidFill>
          <a:ln w="15875">
            <a:solidFill>
              <a:srgbClr val="7B5CC9"/>
            </a:solidFill>
            <a:prstDash val="solid"/>
          </a:ln>
        </p:spPr>
      </p:sp>
      <p:sp>
        <p:nvSpPr>
          <p:cNvPr id="19" name="Shape 16"/>
          <p:cNvSpPr/>
          <p:nvPr/>
        </p:nvSpPr>
        <p:spPr>
          <a:xfrm>
            <a:off x="4297680" y="2743200"/>
            <a:ext cx="457200" cy="457200"/>
          </a:xfrm>
          <a:prstGeom prst="ellipse">
            <a:avLst/>
          </a:prstGeom>
          <a:solidFill>
            <a:srgbClr val="7B5CC9"/>
          </a:solidFill>
          <a:ln w="12700">
            <a:solidFill>
              <a:srgbClr val="7B5CC9"/>
            </a:solidFill>
            <a:prstDash val="solid"/>
          </a:ln>
        </p:spPr>
      </p:sp>
      <p:sp>
        <p:nvSpPr>
          <p:cNvPr id="20" name="Text 17"/>
          <p:cNvSpPr/>
          <p:nvPr/>
        </p:nvSpPr>
        <p:spPr>
          <a:xfrm>
            <a:off x="4297680" y="2743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1" name="Text 18"/>
          <p:cNvSpPr/>
          <p:nvPr/>
        </p:nvSpPr>
        <p:spPr>
          <a:xfrm>
            <a:off x="3474720" y="3291840"/>
            <a:ext cx="2103120" cy="411480"/>
          </a:xfrm>
          <a:prstGeom prst="rect">
            <a:avLst/>
          </a:prstGeom>
          <a:noFill/>
          <a:ln/>
        </p:spPr>
        <p:txBody>
          <a:bodyPr wrap="square" lIns="0" tIns="0" rIns="0" bIns="0" rtlCol="0" anchor="t"/>
          <a:lstStyle/>
          <a:p>
            <a:pPr algn="ctr" indent="0" marL="0">
              <a:lnSpc>
                <a:spcPct val="110000"/>
              </a:lnSpc>
              <a:buNone/>
            </a:pPr>
            <a:r>
              <a:rPr lang="en-US" sz="1500" b="1" dirty="0">
                <a:solidFill>
                  <a:srgbClr val="222222"/>
                </a:solidFill>
                <a:latin typeface="Arial" pitchFamily="34" charset="0"/>
                <a:ea typeface="Arial" pitchFamily="34" charset="-122"/>
                <a:cs typeface="Arial" pitchFamily="34" charset="-120"/>
              </a:rPr>
              <a:t>Orchestration</a:t>
            </a:r>
            <a:endParaRPr lang="en-US" sz="1500" dirty="0"/>
          </a:p>
        </p:txBody>
      </p:sp>
      <p:pic>
        <p:nvPicPr>
          <p:cNvPr id="22" name="Image 1" descr="/home/claude/ppt2/assets/FaProjectDiagram_d.png">    </p:cNvPr>
          <p:cNvPicPr>
            <a:picLocks noChangeAspect="1"/>
          </p:cNvPicPr>
          <p:nvPr/>
        </p:nvPicPr>
        <p:blipFill>
          <a:blip r:embed="rId2"/>
          <a:stretch>
            <a:fillRect/>
          </a:stretch>
        </p:blipFill>
        <p:spPr>
          <a:xfrm>
            <a:off x="4160520" y="3886200"/>
            <a:ext cx="731520" cy="731520"/>
          </a:xfrm>
          <a:prstGeom prst="rect">
            <a:avLst/>
          </a:prstGeom>
        </p:spPr>
      </p:pic>
      <p:sp>
        <p:nvSpPr>
          <p:cNvPr id="23" name="Shape 19"/>
          <p:cNvSpPr/>
          <p:nvPr/>
        </p:nvSpPr>
        <p:spPr>
          <a:xfrm>
            <a:off x="3611880" y="4937760"/>
            <a:ext cx="1828800" cy="868680"/>
          </a:xfrm>
          <a:prstGeom prst="roundRect">
            <a:avLst>
              <a:gd name="adj" fmla="val 6316"/>
            </a:avLst>
          </a:prstGeom>
          <a:solidFill>
            <a:srgbClr val="FFFFFF"/>
          </a:solidFill>
          <a:ln w="12700">
            <a:solidFill>
              <a:srgbClr val="7B5CC9"/>
            </a:solidFill>
            <a:prstDash val="solid"/>
          </a:ln>
        </p:spPr>
      </p:sp>
      <p:sp>
        <p:nvSpPr>
          <p:cNvPr id="24" name="Text 20"/>
          <p:cNvSpPr/>
          <p:nvPr/>
        </p:nvSpPr>
        <p:spPr>
          <a:xfrm>
            <a:off x="3611880" y="4937760"/>
            <a:ext cx="182880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LangGraph</a:t>
            </a:r>
            <a:endParaRPr lang="en-US" sz="1300" dirty="0"/>
          </a:p>
        </p:txBody>
      </p:sp>
      <p:sp>
        <p:nvSpPr>
          <p:cNvPr id="25" name="Shape 21"/>
          <p:cNvSpPr/>
          <p:nvPr/>
        </p:nvSpPr>
        <p:spPr>
          <a:xfrm>
            <a:off x="3611880" y="5989320"/>
            <a:ext cx="1828800" cy="868680"/>
          </a:xfrm>
          <a:prstGeom prst="roundRect">
            <a:avLst>
              <a:gd name="adj" fmla="val 6316"/>
            </a:avLst>
          </a:prstGeom>
          <a:solidFill>
            <a:srgbClr val="FFFFFF"/>
          </a:solidFill>
          <a:ln w="12700">
            <a:solidFill>
              <a:srgbClr val="7B5CC9"/>
            </a:solidFill>
            <a:prstDash val="solid"/>
          </a:ln>
        </p:spPr>
      </p:sp>
      <p:sp>
        <p:nvSpPr>
          <p:cNvPr id="26" name="Text 22"/>
          <p:cNvSpPr/>
          <p:nvPr/>
        </p:nvSpPr>
        <p:spPr>
          <a:xfrm>
            <a:off x="3611880" y="5989320"/>
            <a:ext cx="182880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3 graphs</a:t>
            </a:r>
            <a:endParaRPr lang="en-US" sz="1300" dirty="0"/>
          </a:p>
        </p:txBody>
      </p:sp>
      <p:sp>
        <p:nvSpPr>
          <p:cNvPr id="27" name="Shape 23"/>
          <p:cNvSpPr/>
          <p:nvPr/>
        </p:nvSpPr>
        <p:spPr>
          <a:xfrm>
            <a:off x="3611880" y="7040880"/>
            <a:ext cx="1828800" cy="868680"/>
          </a:xfrm>
          <a:prstGeom prst="roundRect">
            <a:avLst>
              <a:gd name="adj" fmla="val 6316"/>
            </a:avLst>
          </a:prstGeom>
          <a:solidFill>
            <a:srgbClr val="FFFFFF"/>
          </a:solidFill>
          <a:ln w="12700">
            <a:solidFill>
              <a:srgbClr val="7B5CC9"/>
            </a:solidFill>
            <a:prstDash val="solid"/>
          </a:ln>
        </p:spPr>
      </p:sp>
      <p:sp>
        <p:nvSpPr>
          <p:cNvPr id="28" name="Text 24"/>
          <p:cNvSpPr/>
          <p:nvPr/>
        </p:nvSpPr>
        <p:spPr>
          <a:xfrm>
            <a:off x="3611880" y="7040880"/>
            <a:ext cx="182880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shared state</a:t>
            </a:r>
            <a:endParaRPr lang="en-US" sz="1300" dirty="0"/>
          </a:p>
        </p:txBody>
      </p:sp>
      <p:sp>
        <p:nvSpPr>
          <p:cNvPr id="29" name="Shape 25"/>
          <p:cNvSpPr/>
          <p:nvPr/>
        </p:nvSpPr>
        <p:spPr>
          <a:xfrm>
            <a:off x="5577840" y="5623560"/>
            <a:ext cx="182880" cy="0"/>
          </a:xfrm>
          <a:prstGeom prst="line">
            <a:avLst/>
          </a:prstGeom>
          <a:noFill/>
          <a:ln w="15875">
            <a:solidFill>
              <a:srgbClr val="555555"/>
            </a:solidFill>
            <a:prstDash val="solid"/>
            <a:tailEnd type="triangle"/>
          </a:ln>
        </p:spPr>
      </p:sp>
      <p:sp>
        <p:nvSpPr>
          <p:cNvPr id="30" name="Agent Layer"/>
          <p:cNvSpPr/>
          <p:nvPr/>
        </p:nvSpPr>
        <p:spPr>
          <a:xfrm>
            <a:off x="5760720" y="2560320"/>
            <a:ext cx="5120640" cy="6126480"/>
          </a:xfrm>
          <a:prstGeom prst="roundRect">
            <a:avLst>
              <a:gd name="adj" fmla="val 1429"/>
            </a:avLst>
          </a:prstGeom>
          <a:solidFill>
            <a:srgbClr val="E6F7EC"/>
          </a:solidFill>
          <a:ln w="15875">
            <a:solidFill>
              <a:srgbClr val="3C9A54"/>
            </a:solidFill>
            <a:prstDash val="solid"/>
          </a:ln>
        </p:spPr>
      </p:sp>
      <p:sp>
        <p:nvSpPr>
          <p:cNvPr id="31" name="Shape 27"/>
          <p:cNvSpPr/>
          <p:nvPr/>
        </p:nvSpPr>
        <p:spPr>
          <a:xfrm>
            <a:off x="8092440" y="2743200"/>
            <a:ext cx="457200" cy="457200"/>
          </a:xfrm>
          <a:prstGeom prst="ellipse">
            <a:avLst/>
          </a:prstGeom>
          <a:solidFill>
            <a:srgbClr val="3C9A54"/>
          </a:solidFill>
          <a:ln w="12700">
            <a:solidFill>
              <a:srgbClr val="3C9A54"/>
            </a:solidFill>
            <a:prstDash val="solid"/>
          </a:ln>
        </p:spPr>
      </p:sp>
      <p:sp>
        <p:nvSpPr>
          <p:cNvPr id="32" name="Text 28"/>
          <p:cNvSpPr/>
          <p:nvPr/>
        </p:nvSpPr>
        <p:spPr>
          <a:xfrm>
            <a:off x="8092440" y="2743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3" name="Text 29"/>
          <p:cNvSpPr/>
          <p:nvPr/>
        </p:nvSpPr>
        <p:spPr>
          <a:xfrm>
            <a:off x="5760720" y="3291840"/>
            <a:ext cx="5120640" cy="411480"/>
          </a:xfrm>
          <a:prstGeom prst="rect">
            <a:avLst/>
          </a:prstGeom>
          <a:noFill/>
          <a:ln/>
        </p:spPr>
        <p:txBody>
          <a:bodyPr wrap="square" lIns="0" tIns="0" rIns="0" bIns="0" rtlCol="0" anchor="t"/>
          <a:lstStyle/>
          <a:p>
            <a:pPr algn="ctr" indent="0" marL="0">
              <a:lnSpc>
                <a:spcPct val="110000"/>
              </a:lnSpc>
              <a:buNone/>
            </a:pPr>
            <a:r>
              <a:rPr lang="en-US" sz="1500" b="1" dirty="0">
                <a:solidFill>
                  <a:srgbClr val="222222"/>
                </a:solidFill>
                <a:latin typeface="Arial" pitchFamily="34" charset="0"/>
                <a:ea typeface="Arial" pitchFamily="34" charset="-122"/>
                <a:cs typeface="Arial" pitchFamily="34" charset="-120"/>
              </a:rPr>
              <a:t>Agent Layer</a:t>
            </a:r>
            <a:endParaRPr lang="en-US" sz="1500" dirty="0"/>
          </a:p>
        </p:txBody>
      </p:sp>
      <p:pic>
        <p:nvPicPr>
          <p:cNvPr id="34" name="Image 2" descr="/home/claude/ppt2/assets/FaRobot_d.png">    </p:cNvPr>
          <p:cNvPicPr>
            <a:picLocks noChangeAspect="1"/>
          </p:cNvPicPr>
          <p:nvPr/>
        </p:nvPicPr>
        <p:blipFill>
          <a:blip r:embed="rId3"/>
          <a:stretch>
            <a:fillRect/>
          </a:stretch>
        </p:blipFill>
        <p:spPr>
          <a:xfrm>
            <a:off x="7955280" y="3886200"/>
            <a:ext cx="731520" cy="731520"/>
          </a:xfrm>
          <a:prstGeom prst="rect">
            <a:avLst/>
          </a:prstGeom>
        </p:spPr>
      </p:pic>
      <p:sp>
        <p:nvSpPr>
          <p:cNvPr id="35" name="Shape 30"/>
          <p:cNvSpPr/>
          <p:nvPr/>
        </p:nvSpPr>
        <p:spPr>
          <a:xfrm>
            <a:off x="10881360" y="5623560"/>
            <a:ext cx="182880" cy="0"/>
          </a:xfrm>
          <a:prstGeom prst="line">
            <a:avLst/>
          </a:prstGeom>
          <a:noFill/>
          <a:ln w="15875">
            <a:solidFill>
              <a:srgbClr val="555555"/>
            </a:solidFill>
            <a:prstDash val="solid"/>
            <a:tailEnd type="triangle"/>
          </a:ln>
        </p:spPr>
      </p:sp>
      <p:sp>
        <p:nvSpPr>
          <p:cNvPr id="36" name="Knowledge Layer"/>
          <p:cNvSpPr/>
          <p:nvPr/>
        </p:nvSpPr>
        <p:spPr>
          <a:xfrm>
            <a:off x="11064240" y="2560320"/>
            <a:ext cx="1965960" cy="6126480"/>
          </a:xfrm>
          <a:prstGeom prst="roundRect">
            <a:avLst>
              <a:gd name="adj" fmla="val 3721"/>
            </a:avLst>
          </a:prstGeom>
          <a:solidFill>
            <a:srgbClr val="FFF6DA"/>
          </a:solidFill>
          <a:ln w="15875">
            <a:solidFill>
              <a:srgbClr val="D49A1A"/>
            </a:solidFill>
            <a:prstDash val="solid"/>
          </a:ln>
        </p:spPr>
      </p:sp>
      <p:sp>
        <p:nvSpPr>
          <p:cNvPr id="37" name="Shape 32"/>
          <p:cNvSpPr/>
          <p:nvPr/>
        </p:nvSpPr>
        <p:spPr>
          <a:xfrm>
            <a:off x="11818620" y="2743200"/>
            <a:ext cx="457200" cy="457200"/>
          </a:xfrm>
          <a:prstGeom prst="ellipse">
            <a:avLst/>
          </a:prstGeom>
          <a:solidFill>
            <a:srgbClr val="D49A1A"/>
          </a:solidFill>
          <a:ln w="12700">
            <a:solidFill>
              <a:srgbClr val="D49A1A"/>
            </a:solidFill>
            <a:prstDash val="solid"/>
          </a:ln>
        </p:spPr>
      </p:sp>
      <p:sp>
        <p:nvSpPr>
          <p:cNvPr id="38" name="Text 33"/>
          <p:cNvSpPr/>
          <p:nvPr/>
        </p:nvSpPr>
        <p:spPr>
          <a:xfrm>
            <a:off x="11818620" y="2743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9" name="Text 34"/>
          <p:cNvSpPr/>
          <p:nvPr/>
        </p:nvSpPr>
        <p:spPr>
          <a:xfrm>
            <a:off x="11064240" y="3291840"/>
            <a:ext cx="1965960" cy="411480"/>
          </a:xfrm>
          <a:prstGeom prst="rect">
            <a:avLst/>
          </a:prstGeom>
          <a:noFill/>
          <a:ln/>
        </p:spPr>
        <p:txBody>
          <a:bodyPr wrap="square" lIns="0" tIns="0" rIns="0" bIns="0" rtlCol="0" anchor="t"/>
          <a:lstStyle/>
          <a:p>
            <a:pPr algn="ctr" indent="0" marL="0">
              <a:lnSpc>
                <a:spcPct val="110000"/>
              </a:lnSpc>
              <a:buNone/>
            </a:pPr>
            <a:r>
              <a:rPr lang="en-US" sz="1500" b="1" dirty="0">
                <a:solidFill>
                  <a:srgbClr val="222222"/>
                </a:solidFill>
                <a:latin typeface="Arial" pitchFamily="34" charset="0"/>
                <a:ea typeface="Arial" pitchFamily="34" charset="-122"/>
                <a:cs typeface="Arial" pitchFamily="34" charset="-120"/>
              </a:rPr>
              <a:t>Knowledge Layer</a:t>
            </a:r>
            <a:endParaRPr lang="en-US" sz="1500" dirty="0"/>
          </a:p>
        </p:txBody>
      </p:sp>
      <p:pic>
        <p:nvPicPr>
          <p:cNvPr id="40" name="Image 3" descr="/home/claude/ppt2/assets/FaBook_d.png">    </p:cNvPr>
          <p:cNvPicPr>
            <a:picLocks noChangeAspect="1"/>
          </p:cNvPicPr>
          <p:nvPr/>
        </p:nvPicPr>
        <p:blipFill>
          <a:blip r:embed="rId4"/>
          <a:stretch>
            <a:fillRect/>
          </a:stretch>
        </p:blipFill>
        <p:spPr>
          <a:xfrm>
            <a:off x="11681460" y="3886200"/>
            <a:ext cx="731520" cy="731520"/>
          </a:xfrm>
          <a:prstGeom prst="rect">
            <a:avLst/>
          </a:prstGeom>
        </p:spPr>
      </p:pic>
      <p:sp>
        <p:nvSpPr>
          <p:cNvPr id="41" name="Shape 35"/>
          <p:cNvSpPr/>
          <p:nvPr/>
        </p:nvSpPr>
        <p:spPr>
          <a:xfrm>
            <a:off x="11201400" y="4937760"/>
            <a:ext cx="1691640" cy="868680"/>
          </a:xfrm>
          <a:prstGeom prst="roundRect">
            <a:avLst>
              <a:gd name="adj" fmla="val 6316"/>
            </a:avLst>
          </a:prstGeom>
          <a:solidFill>
            <a:srgbClr val="FFFFFF"/>
          </a:solidFill>
          <a:ln w="12700">
            <a:solidFill>
              <a:srgbClr val="D49A1A"/>
            </a:solidFill>
            <a:prstDash val="solid"/>
          </a:ln>
        </p:spPr>
      </p:sp>
      <p:sp>
        <p:nvSpPr>
          <p:cNvPr id="42" name="Text 36"/>
          <p:cNvSpPr/>
          <p:nvPr/>
        </p:nvSpPr>
        <p:spPr>
          <a:xfrm>
            <a:off x="11201400" y="4937760"/>
            <a:ext cx="169164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49 passages</a:t>
            </a:r>
            <a:endParaRPr lang="en-US" sz="1300" dirty="0"/>
          </a:p>
        </p:txBody>
      </p:sp>
      <p:sp>
        <p:nvSpPr>
          <p:cNvPr id="43" name="Shape 37"/>
          <p:cNvSpPr/>
          <p:nvPr/>
        </p:nvSpPr>
        <p:spPr>
          <a:xfrm>
            <a:off x="11201400" y="5989320"/>
            <a:ext cx="1691640" cy="868680"/>
          </a:xfrm>
          <a:prstGeom prst="roundRect">
            <a:avLst>
              <a:gd name="adj" fmla="val 6316"/>
            </a:avLst>
          </a:prstGeom>
          <a:solidFill>
            <a:srgbClr val="FFFFFF"/>
          </a:solidFill>
          <a:ln w="12700">
            <a:solidFill>
              <a:srgbClr val="D49A1A"/>
            </a:solidFill>
            <a:prstDash val="solid"/>
          </a:ln>
        </p:spPr>
      </p:sp>
      <p:sp>
        <p:nvSpPr>
          <p:cNvPr id="44" name="Text 38"/>
          <p:cNvSpPr/>
          <p:nvPr/>
        </p:nvSpPr>
        <p:spPr>
          <a:xfrm>
            <a:off x="11201400" y="5989320"/>
            <a:ext cx="169164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hybrid index</a:t>
            </a:r>
            <a:endParaRPr lang="en-US" sz="1300" dirty="0"/>
          </a:p>
        </p:txBody>
      </p:sp>
      <p:sp>
        <p:nvSpPr>
          <p:cNvPr id="45" name="Shape 39"/>
          <p:cNvSpPr/>
          <p:nvPr/>
        </p:nvSpPr>
        <p:spPr>
          <a:xfrm>
            <a:off x="11201400" y="7040880"/>
            <a:ext cx="1691640" cy="868680"/>
          </a:xfrm>
          <a:prstGeom prst="roundRect">
            <a:avLst>
              <a:gd name="adj" fmla="val 6316"/>
            </a:avLst>
          </a:prstGeom>
          <a:solidFill>
            <a:srgbClr val="FFFFFF"/>
          </a:solidFill>
          <a:ln w="12700">
            <a:solidFill>
              <a:srgbClr val="D49A1A"/>
            </a:solidFill>
            <a:prstDash val="solid"/>
          </a:ln>
        </p:spPr>
      </p:sp>
      <p:sp>
        <p:nvSpPr>
          <p:cNvPr id="46" name="Text 40"/>
          <p:cNvSpPr/>
          <p:nvPr/>
        </p:nvSpPr>
        <p:spPr>
          <a:xfrm>
            <a:off x="11201400" y="7040880"/>
            <a:ext cx="169164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datasets</a:t>
            </a:r>
            <a:endParaRPr lang="en-US" sz="1300" dirty="0"/>
          </a:p>
        </p:txBody>
      </p:sp>
      <p:sp>
        <p:nvSpPr>
          <p:cNvPr id="47" name="Shape 41"/>
          <p:cNvSpPr/>
          <p:nvPr/>
        </p:nvSpPr>
        <p:spPr>
          <a:xfrm>
            <a:off x="13030200" y="5623560"/>
            <a:ext cx="182880" cy="0"/>
          </a:xfrm>
          <a:prstGeom prst="line">
            <a:avLst/>
          </a:prstGeom>
          <a:noFill/>
          <a:ln w="15875">
            <a:solidFill>
              <a:srgbClr val="555555"/>
            </a:solidFill>
            <a:prstDash val="solid"/>
            <a:tailEnd type="triangle"/>
          </a:ln>
        </p:spPr>
      </p:sp>
      <p:sp>
        <p:nvSpPr>
          <p:cNvPr id="48" name="Data Layer"/>
          <p:cNvSpPr/>
          <p:nvPr/>
        </p:nvSpPr>
        <p:spPr>
          <a:xfrm>
            <a:off x="13213080" y="2560320"/>
            <a:ext cx="1965960" cy="6126480"/>
          </a:xfrm>
          <a:prstGeom prst="roundRect">
            <a:avLst>
              <a:gd name="adj" fmla="val 3721"/>
            </a:avLst>
          </a:prstGeom>
          <a:solidFill>
            <a:srgbClr val="FFE6E6"/>
          </a:solidFill>
          <a:ln w="15875">
            <a:solidFill>
              <a:srgbClr val="D9534F"/>
            </a:solidFill>
            <a:prstDash val="solid"/>
          </a:ln>
        </p:spPr>
      </p:sp>
      <p:sp>
        <p:nvSpPr>
          <p:cNvPr id="49" name="Shape 43"/>
          <p:cNvSpPr/>
          <p:nvPr/>
        </p:nvSpPr>
        <p:spPr>
          <a:xfrm>
            <a:off x="13967460" y="2743200"/>
            <a:ext cx="457200" cy="457200"/>
          </a:xfrm>
          <a:prstGeom prst="ellipse">
            <a:avLst/>
          </a:prstGeom>
          <a:solidFill>
            <a:srgbClr val="D9534F"/>
          </a:solidFill>
          <a:ln w="12700">
            <a:solidFill>
              <a:srgbClr val="D9534F"/>
            </a:solidFill>
            <a:prstDash val="solid"/>
          </a:ln>
        </p:spPr>
      </p:sp>
      <p:sp>
        <p:nvSpPr>
          <p:cNvPr id="50" name="Text 44"/>
          <p:cNvSpPr/>
          <p:nvPr/>
        </p:nvSpPr>
        <p:spPr>
          <a:xfrm>
            <a:off x="13967460" y="2743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51" name="Text 45"/>
          <p:cNvSpPr/>
          <p:nvPr/>
        </p:nvSpPr>
        <p:spPr>
          <a:xfrm>
            <a:off x="13213080" y="3291840"/>
            <a:ext cx="1965960" cy="411480"/>
          </a:xfrm>
          <a:prstGeom prst="rect">
            <a:avLst/>
          </a:prstGeom>
          <a:noFill/>
          <a:ln/>
        </p:spPr>
        <p:txBody>
          <a:bodyPr wrap="square" lIns="0" tIns="0" rIns="0" bIns="0" rtlCol="0" anchor="t"/>
          <a:lstStyle/>
          <a:p>
            <a:pPr algn="ctr" indent="0" marL="0">
              <a:lnSpc>
                <a:spcPct val="110000"/>
              </a:lnSpc>
              <a:buNone/>
            </a:pPr>
            <a:r>
              <a:rPr lang="en-US" sz="1500" b="1" dirty="0">
                <a:solidFill>
                  <a:srgbClr val="222222"/>
                </a:solidFill>
                <a:latin typeface="Arial" pitchFamily="34" charset="0"/>
                <a:ea typeface="Arial" pitchFamily="34" charset="-122"/>
                <a:cs typeface="Arial" pitchFamily="34" charset="-120"/>
              </a:rPr>
              <a:t>Data Layer</a:t>
            </a:r>
            <a:endParaRPr lang="en-US" sz="1500" dirty="0"/>
          </a:p>
        </p:txBody>
      </p:sp>
      <p:pic>
        <p:nvPicPr>
          <p:cNvPr id="52" name="Image 4" descr="/home/claude/ppt2/assets/FaDatabase_d.png">    </p:cNvPr>
          <p:cNvPicPr>
            <a:picLocks noChangeAspect="1"/>
          </p:cNvPicPr>
          <p:nvPr/>
        </p:nvPicPr>
        <p:blipFill>
          <a:blip r:embed="rId5"/>
          <a:stretch>
            <a:fillRect/>
          </a:stretch>
        </p:blipFill>
        <p:spPr>
          <a:xfrm>
            <a:off x="13830300" y="3886200"/>
            <a:ext cx="731520" cy="731520"/>
          </a:xfrm>
          <a:prstGeom prst="rect">
            <a:avLst/>
          </a:prstGeom>
        </p:spPr>
      </p:pic>
      <p:sp>
        <p:nvSpPr>
          <p:cNvPr id="53" name="Shape 46"/>
          <p:cNvSpPr/>
          <p:nvPr/>
        </p:nvSpPr>
        <p:spPr>
          <a:xfrm>
            <a:off x="13350240" y="4937760"/>
            <a:ext cx="1691640" cy="868680"/>
          </a:xfrm>
          <a:prstGeom prst="roundRect">
            <a:avLst>
              <a:gd name="adj" fmla="val 6316"/>
            </a:avLst>
          </a:prstGeom>
          <a:solidFill>
            <a:srgbClr val="FFFFFF"/>
          </a:solidFill>
          <a:ln w="12700">
            <a:solidFill>
              <a:srgbClr val="D9534F"/>
            </a:solidFill>
            <a:prstDash val="solid"/>
          </a:ln>
        </p:spPr>
      </p:sp>
      <p:sp>
        <p:nvSpPr>
          <p:cNvPr id="54" name="Text 47"/>
          <p:cNvSpPr/>
          <p:nvPr/>
        </p:nvSpPr>
        <p:spPr>
          <a:xfrm>
            <a:off x="13350240" y="4937760"/>
            <a:ext cx="169164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SQLite</a:t>
            </a:r>
            <a:endParaRPr lang="en-US" sz="1300" dirty="0"/>
          </a:p>
        </p:txBody>
      </p:sp>
      <p:sp>
        <p:nvSpPr>
          <p:cNvPr id="55" name="Shape 48"/>
          <p:cNvSpPr/>
          <p:nvPr/>
        </p:nvSpPr>
        <p:spPr>
          <a:xfrm>
            <a:off x="13350240" y="5989320"/>
            <a:ext cx="1691640" cy="868680"/>
          </a:xfrm>
          <a:prstGeom prst="roundRect">
            <a:avLst>
              <a:gd name="adj" fmla="val 6316"/>
            </a:avLst>
          </a:prstGeom>
          <a:solidFill>
            <a:srgbClr val="FFFFFF"/>
          </a:solidFill>
          <a:ln w="12700">
            <a:solidFill>
              <a:srgbClr val="D9534F"/>
            </a:solidFill>
            <a:prstDash val="solid"/>
          </a:ln>
        </p:spPr>
      </p:sp>
      <p:sp>
        <p:nvSpPr>
          <p:cNvPr id="56" name="Text 49"/>
          <p:cNvSpPr/>
          <p:nvPr/>
        </p:nvSpPr>
        <p:spPr>
          <a:xfrm>
            <a:off x="13350240" y="5989320"/>
            <a:ext cx="169164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12 tables</a:t>
            </a:r>
            <a:endParaRPr lang="en-US" sz="1300" dirty="0"/>
          </a:p>
        </p:txBody>
      </p:sp>
      <p:sp>
        <p:nvSpPr>
          <p:cNvPr id="57" name="Shape 50"/>
          <p:cNvSpPr/>
          <p:nvPr/>
        </p:nvSpPr>
        <p:spPr>
          <a:xfrm>
            <a:off x="13350240" y="7040880"/>
            <a:ext cx="1691640" cy="868680"/>
          </a:xfrm>
          <a:prstGeom prst="roundRect">
            <a:avLst>
              <a:gd name="adj" fmla="val 6316"/>
            </a:avLst>
          </a:prstGeom>
          <a:solidFill>
            <a:srgbClr val="FFFFFF"/>
          </a:solidFill>
          <a:ln w="12700">
            <a:solidFill>
              <a:srgbClr val="D9534F"/>
            </a:solidFill>
            <a:prstDash val="solid"/>
          </a:ln>
        </p:spPr>
      </p:sp>
      <p:sp>
        <p:nvSpPr>
          <p:cNvPr id="58" name="Text 51"/>
          <p:cNvSpPr/>
          <p:nvPr/>
        </p:nvSpPr>
        <p:spPr>
          <a:xfrm>
            <a:off x="13350240" y="7040880"/>
            <a:ext cx="169164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memory</a:t>
            </a:r>
            <a:endParaRPr lang="en-US" sz="1300" dirty="0"/>
          </a:p>
        </p:txBody>
      </p:sp>
      <p:sp>
        <p:nvSpPr>
          <p:cNvPr id="59" name="Shape 52"/>
          <p:cNvSpPr/>
          <p:nvPr/>
        </p:nvSpPr>
        <p:spPr>
          <a:xfrm>
            <a:off x="15179040" y="5623560"/>
            <a:ext cx="182880" cy="0"/>
          </a:xfrm>
          <a:prstGeom prst="line">
            <a:avLst/>
          </a:prstGeom>
          <a:noFill/>
          <a:ln w="15875">
            <a:solidFill>
              <a:srgbClr val="555555"/>
            </a:solidFill>
            <a:prstDash val="solid"/>
            <a:tailEnd type="triangle"/>
          </a:ln>
        </p:spPr>
      </p:sp>
      <p:sp>
        <p:nvSpPr>
          <p:cNvPr id="60" name="Infrastructure"/>
          <p:cNvSpPr/>
          <p:nvPr/>
        </p:nvSpPr>
        <p:spPr>
          <a:xfrm>
            <a:off x="15361920" y="2560320"/>
            <a:ext cx="1783080" cy="6126480"/>
          </a:xfrm>
          <a:prstGeom prst="roundRect">
            <a:avLst>
              <a:gd name="adj" fmla="val 4103"/>
            </a:avLst>
          </a:prstGeom>
          <a:solidFill>
            <a:srgbClr val="E3F5F4"/>
          </a:solidFill>
          <a:ln w="15875">
            <a:solidFill>
              <a:srgbClr val="2A9D8F"/>
            </a:solidFill>
            <a:prstDash val="solid"/>
          </a:ln>
        </p:spPr>
      </p:sp>
      <p:sp>
        <p:nvSpPr>
          <p:cNvPr id="61" name="Shape 54"/>
          <p:cNvSpPr/>
          <p:nvPr/>
        </p:nvSpPr>
        <p:spPr>
          <a:xfrm>
            <a:off x="16024860" y="2743200"/>
            <a:ext cx="457200" cy="457200"/>
          </a:xfrm>
          <a:prstGeom prst="ellipse">
            <a:avLst/>
          </a:prstGeom>
          <a:solidFill>
            <a:srgbClr val="2A9D8F"/>
          </a:solidFill>
          <a:ln w="12700">
            <a:solidFill>
              <a:srgbClr val="2A9D8F"/>
            </a:solidFill>
            <a:prstDash val="solid"/>
          </a:ln>
        </p:spPr>
      </p:sp>
      <p:sp>
        <p:nvSpPr>
          <p:cNvPr id="62" name="Text 55"/>
          <p:cNvSpPr/>
          <p:nvPr/>
        </p:nvSpPr>
        <p:spPr>
          <a:xfrm>
            <a:off x="16024860" y="27432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63" name="Text 56"/>
          <p:cNvSpPr/>
          <p:nvPr/>
        </p:nvSpPr>
        <p:spPr>
          <a:xfrm>
            <a:off x="15361920" y="3291840"/>
            <a:ext cx="1783080" cy="411480"/>
          </a:xfrm>
          <a:prstGeom prst="rect">
            <a:avLst/>
          </a:prstGeom>
          <a:noFill/>
          <a:ln/>
        </p:spPr>
        <p:txBody>
          <a:bodyPr wrap="square" lIns="0" tIns="0" rIns="0" bIns="0" rtlCol="0" anchor="t"/>
          <a:lstStyle/>
          <a:p>
            <a:pPr algn="ctr" indent="0" marL="0">
              <a:lnSpc>
                <a:spcPct val="110000"/>
              </a:lnSpc>
              <a:buNone/>
            </a:pPr>
            <a:r>
              <a:rPr lang="en-US" sz="1500" b="1" dirty="0">
                <a:solidFill>
                  <a:srgbClr val="222222"/>
                </a:solidFill>
                <a:latin typeface="Arial" pitchFamily="34" charset="0"/>
                <a:ea typeface="Arial" pitchFamily="34" charset="-122"/>
                <a:cs typeface="Arial" pitchFamily="34" charset="-120"/>
              </a:rPr>
              <a:t>Infrastructure</a:t>
            </a:r>
            <a:endParaRPr lang="en-US" sz="1500" dirty="0"/>
          </a:p>
        </p:txBody>
      </p:sp>
      <p:pic>
        <p:nvPicPr>
          <p:cNvPr id="64" name="Image 5" descr="/home/claude/ppt2/assets/FaMicrochip_d.png">    </p:cNvPr>
          <p:cNvPicPr>
            <a:picLocks noChangeAspect="1"/>
          </p:cNvPicPr>
          <p:nvPr/>
        </p:nvPicPr>
        <p:blipFill>
          <a:blip r:embed="rId6"/>
          <a:stretch>
            <a:fillRect/>
          </a:stretch>
        </p:blipFill>
        <p:spPr>
          <a:xfrm>
            <a:off x="15887700" y="3886200"/>
            <a:ext cx="731520" cy="731520"/>
          </a:xfrm>
          <a:prstGeom prst="rect">
            <a:avLst/>
          </a:prstGeom>
        </p:spPr>
      </p:pic>
      <p:sp>
        <p:nvSpPr>
          <p:cNvPr id="65" name="Shape 57"/>
          <p:cNvSpPr/>
          <p:nvPr/>
        </p:nvSpPr>
        <p:spPr>
          <a:xfrm>
            <a:off x="15499080" y="4937760"/>
            <a:ext cx="1508760" cy="868680"/>
          </a:xfrm>
          <a:prstGeom prst="roundRect">
            <a:avLst>
              <a:gd name="adj" fmla="val 6316"/>
            </a:avLst>
          </a:prstGeom>
          <a:solidFill>
            <a:srgbClr val="FFFFFF"/>
          </a:solidFill>
          <a:ln w="12700">
            <a:solidFill>
              <a:srgbClr val="2A9D8F"/>
            </a:solidFill>
            <a:prstDash val="solid"/>
          </a:ln>
        </p:spPr>
      </p:sp>
      <p:sp>
        <p:nvSpPr>
          <p:cNvPr id="66" name="Text 58"/>
          <p:cNvSpPr/>
          <p:nvPr/>
        </p:nvSpPr>
        <p:spPr>
          <a:xfrm>
            <a:off x="15499080" y="4937760"/>
            <a:ext cx="150876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Ollama</a:t>
            </a:r>
            <a:endParaRPr lang="en-US" sz="1300" dirty="0"/>
          </a:p>
        </p:txBody>
      </p:sp>
      <p:sp>
        <p:nvSpPr>
          <p:cNvPr id="67" name="Shape 59"/>
          <p:cNvSpPr/>
          <p:nvPr/>
        </p:nvSpPr>
        <p:spPr>
          <a:xfrm>
            <a:off x="15499080" y="5989320"/>
            <a:ext cx="1508760" cy="868680"/>
          </a:xfrm>
          <a:prstGeom prst="roundRect">
            <a:avLst>
              <a:gd name="adj" fmla="val 6316"/>
            </a:avLst>
          </a:prstGeom>
          <a:solidFill>
            <a:srgbClr val="FFFFFF"/>
          </a:solidFill>
          <a:ln w="12700">
            <a:solidFill>
              <a:srgbClr val="2A9D8F"/>
            </a:solidFill>
            <a:prstDash val="solid"/>
          </a:ln>
        </p:spPr>
      </p:sp>
      <p:sp>
        <p:nvSpPr>
          <p:cNvPr id="68" name="Text 60"/>
          <p:cNvSpPr/>
          <p:nvPr/>
        </p:nvSpPr>
        <p:spPr>
          <a:xfrm>
            <a:off x="15499080" y="5989320"/>
            <a:ext cx="150876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Llama 3.1 · Qwen 2.5</a:t>
            </a:r>
            <a:endParaRPr lang="en-US" sz="1300" dirty="0"/>
          </a:p>
        </p:txBody>
      </p:sp>
      <p:sp>
        <p:nvSpPr>
          <p:cNvPr id="69" name="Shape 61"/>
          <p:cNvSpPr/>
          <p:nvPr/>
        </p:nvSpPr>
        <p:spPr>
          <a:xfrm>
            <a:off x="15499080" y="7040880"/>
            <a:ext cx="1508760" cy="868680"/>
          </a:xfrm>
          <a:prstGeom prst="roundRect">
            <a:avLst>
              <a:gd name="adj" fmla="val 6316"/>
            </a:avLst>
          </a:prstGeom>
          <a:solidFill>
            <a:srgbClr val="FFFFFF"/>
          </a:solidFill>
          <a:ln w="12700">
            <a:solidFill>
              <a:srgbClr val="2A9D8F"/>
            </a:solidFill>
            <a:prstDash val="solid"/>
          </a:ln>
        </p:spPr>
      </p:sp>
      <p:sp>
        <p:nvSpPr>
          <p:cNvPr id="70" name="Text 62"/>
          <p:cNvSpPr/>
          <p:nvPr/>
        </p:nvSpPr>
        <p:spPr>
          <a:xfrm>
            <a:off x="15499080" y="7040880"/>
            <a:ext cx="1508760" cy="868680"/>
          </a:xfrm>
          <a:prstGeom prst="rect">
            <a:avLst/>
          </a:prstGeom>
          <a:noFill/>
          <a:ln/>
        </p:spPr>
        <p:txBody>
          <a:bodyPr wrap="square" lIns="0" tIns="0" rIns="0" bIns="0" rtlCol="0" anchor="ctr"/>
          <a:lstStyle/>
          <a:p>
            <a:pPr algn="ctr" indent="0" marL="0">
              <a:lnSpc>
                <a:spcPct val="110000"/>
              </a:lnSpc>
              <a:buNone/>
            </a:pPr>
            <a:r>
              <a:rPr lang="en-US" sz="1300" dirty="0">
                <a:solidFill>
                  <a:srgbClr val="222222"/>
                </a:solidFill>
                <a:latin typeface="Arial" pitchFamily="34" charset="0"/>
                <a:ea typeface="Arial" pitchFamily="34" charset="-122"/>
                <a:cs typeface="Arial" pitchFamily="34" charset="-120"/>
              </a:rPr>
              <a:t>RTX 3070 Ti</a:t>
            </a:r>
            <a:endParaRPr lang="en-US" sz="1300" dirty="0"/>
          </a:p>
        </p:txBody>
      </p:sp>
      <p:sp>
        <p:nvSpPr>
          <p:cNvPr id="71" name="Shape 63"/>
          <p:cNvSpPr/>
          <p:nvPr/>
        </p:nvSpPr>
        <p:spPr>
          <a:xfrm>
            <a:off x="5943600" y="4846320"/>
            <a:ext cx="877824" cy="804672"/>
          </a:xfrm>
          <a:prstGeom prst="roundRect">
            <a:avLst>
              <a:gd name="adj" fmla="val 5682"/>
            </a:avLst>
          </a:prstGeom>
          <a:solidFill>
            <a:srgbClr val="FFFFFF"/>
          </a:solidFill>
          <a:ln w="12700">
            <a:solidFill>
              <a:srgbClr val="3C9A54"/>
            </a:solidFill>
            <a:prstDash val="solid"/>
          </a:ln>
        </p:spPr>
      </p:sp>
      <p:sp>
        <p:nvSpPr>
          <p:cNvPr id="72" name="Text 64"/>
          <p:cNvSpPr/>
          <p:nvPr/>
        </p:nvSpPr>
        <p:spPr>
          <a:xfrm>
            <a:off x="5943600" y="484632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Supervisor</a:t>
            </a:r>
            <a:endParaRPr lang="en-US" sz="1000" dirty="0"/>
          </a:p>
        </p:txBody>
      </p:sp>
      <p:sp>
        <p:nvSpPr>
          <p:cNvPr id="73" name="Shape 65"/>
          <p:cNvSpPr/>
          <p:nvPr/>
        </p:nvSpPr>
        <p:spPr>
          <a:xfrm>
            <a:off x="6894576" y="4846320"/>
            <a:ext cx="877824" cy="804672"/>
          </a:xfrm>
          <a:prstGeom prst="roundRect">
            <a:avLst>
              <a:gd name="adj" fmla="val 5682"/>
            </a:avLst>
          </a:prstGeom>
          <a:solidFill>
            <a:srgbClr val="FFFFFF"/>
          </a:solidFill>
          <a:ln w="12700">
            <a:solidFill>
              <a:srgbClr val="3C9A54"/>
            </a:solidFill>
            <a:prstDash val="solid"/>
          </a:ln>
        </p:spPr>
      </p:sp>
      <p:sp>
        <p:nvSpPr>
          <p:cNvPr id="74" name="Text 66"/>
          <p:cNvSpPr/>
          <p:nvPr/>
        </p:nvSpPr>
        <p:spPr>
          <a:xfrm>
            <a:off x="6894576" y="484632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Researcher</a:t>
            </a:r>
            <a:endParaRPr lang="en-US" sz="1000" dirty="0"/>
          </a:p>
        </p:txBody>
      </p:sp>
      <p:sp>
        <p:nvSpPr>
          <p:cNvPr id="75" name="Shape 67"/>
          <p:cNvSpPr/>
          <p:nvPr/>
        </p:nvSpPr>
        <p:spPr>
          <a:xfrm>
            <a:off x="7845552" y="4846320"/>
            <a:ext cx="877824" cy="804672"/>
          </a:xfrm>
          <a:prstGeom prst="roundRect">
            <a:avLst>
              <a:gd name="adj" fmla="val 5682"/>
            </a:avLst>
          </a:prstGeom>
          <a:solidFill>
            <a:srgbClr val="FFFFFF"/>
          </a:solidFill>
          <a:ln w="12700">
            <a:solidFill>
              <a:srgbClr val="3C9A54"/>
            </a:solidFill>
            <a:prstDash val="solid"/>
          </a:ln>
        </p:spPr>
      </p:sp>
      <p:sp>
        <p:nvSpPr>
          <p:cNvPr id="76" name="Text 68"/>
          <p:cNvSpPr/>
          <p:nvPr/>
        </p:nvSpPr>
        <p:spPr>
          <a:xfrm>
            <a:off x="7845552" y="484632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Sleep</a:t>
            </a:r>
            <a:endParaRPr lang="en-US" sz="1000" dirty="0"/>
          </a:p>
        </p:txBody>
      </p:sp>
      <p:sp>
        <p:nvSpPr>
          <p:cNvPr id="77" name="Shape 69"/>
          <p:cNvSpPr/>
          <p:nvPr/>
        </p:nvSpPr>
        <p:spPr>
          <a:xfrm>
            <a:off x="8796528" y="4846320"/>
            <a:ext cx="877824" cy="804672"/>
          </a:xfrm>
          <a:prstGeom prst="roundRect">
            <a:avLst>
              <a:gd name="adj" fmla="val 5682"/>
            </a:avLst>
          </a:prstGeom>
          <a:solidFill>
            <a:srgbClr val="FFFFFF"/>
          </a:solidFill>
          <a:ln w="12700">
            <a:solidFill>
              <a:srgbClr val="3C9A54"/>
            </a:solidFill>
            <a:prstDash val="solid"/>
          </a:ln>
        </p:spPr>
      </p:sp>
      <p:sp>
        <p:nvSpPr>
          <p:cNvPr id="78" name="Text 70"/>
          <p:cNvSpPr/>
          <p:nvPr/>
        </p:nvSpPr>
        <p:spPr>
          <a:xfrm>
            <a:off x="8796528" y="484632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Fitness</a:t>
            </a:r>
            <a:endParaRPr lang="en-US" sz="1000" dirty="0"/>
          </a:p>
        </p:txBody>
      </p:sp>
      <p:sp>
        <p:nvSpPr>
          <p:cNvPr id="79" name="Shape 71"/>
          <p:cNvSpPr/>
          <p:nvPr/>
        </p:nvSpPr>
        <p:spPr>
          <a:xfrm>
            <a:off x="9747504" y="4846320"/>
            <a:ext cx="877824" cy="804672"/>
          </a:xfrm>
          <a:prstGeom prst="roundRect">
            <a:avLst>
              <a:gd name="adj" fmla="val 5682"/>
            </a:avLst>
          </a:prstGeom>
          <a:solidFill>
            <a:srgbClr val="FFFFFF"/>
          </a:solidFill>
          <a:ln w="12700">
            <a:solidFill>
              <a:srgbClr val="3C9A54"/>
            </a:solidFill>
            <a:prstDash val="solid"/>
          </a:ln>
        </p:spPr>
      </p:sp>
      <p:sp>
        <p:nvSpPr>
          <p:cNvPr id="80" name="Text 72"/>
          <p:cNvSpPr/>
          <p:nvPr/>
        </p:nvSpPr>
        <p:spPr>
          <a:xfrm>
            <a:off x="9747504" y="484632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Nutrition</a:t>
            </a:r>
            <a:endParaRPr lang="en-US" sz="1000" dirty="0"/>
          </a:p>
        </p:txBody>
      </p:sp>
      <p:sp>
        <p:nvSpPr>
          <p:cNvPr id="81" name="Shape 73"/>
          <p:cNvSpPr/>
          <p:nvPr/>
        </p:nvSpPr>
        <p:spPr>
          <a:xfrm>
            <a:off x="5943600" y="5806440"/>
            <a:ext cx="877824" cy="804672"/>
          </a:xfrm>
          <a:prstGeom prst="roundRect">
            <a:avLst>
              <a:gd name="adj" fmla="val 5682"/>
            </a:avLst>
          </a:prstGeom>
          <a:solidFill>
            <a:srgbClr val="FFFFFF"/>
          </a:solidFill>
          <a:ln w="12700">
            <a:solidFill>
              <a:srgbClr val="3C9A54"/>
            </a:solidFill>
            <a:prstDash val="solid"/>
          </a:ln>
        </p:spPr>
      </p:sp>
      <p:sp>
        <p:nvSpPr>
          <p:cNvPr id="82" name="Text 74"/>
          <p:cNvSpPr/>
          <p:nvPr/>
        </p:nvSpPr>
        <p:spPr>
          <a:xfrm>
            <a:off x="5943600" y="580644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Mind</a:t>
            </a:r>
            <a:endParaRPr lang="en-US" sz="1000" dirty="0"/>
          </a:p>
        </p:txBody>
      </p:sp>
      <p:sp>
        <p:nvSpPr>
          <p:cNvPr id="83" name="Shape 75"/>
          <p:cNvSpPr/>
          <p:nvPr/>
        </p:nvSpPr>
        <p:spPr>
          <a:xfrm>
            <a:off x="6894576" y="5806440"/>
            <a:ext cx="877824" cy="804672"/>
          </a:xfrm>
          <a:prstGeom prst="roundRect">
            <a:avLst>
              <a:gd name="adj" fmla="val 5682"/>
            </a:avLst>
          </a:prstGeom>
          <a:solidFill>
            <a:srgbClr val="FFFFFF"/>
          </a:solidFill>
          <a:ln w="12700">
            <a:solidFill>
              <a:srgbClr val="3C9A54"/>
            </a:solidFill>
            <a:prstDash val="solid"/>
          </a:ln>
        </p:spPr>
      </p:sp>
      <p:sp>
        <p:nvSpPr>
          <p:cNvPr id="84" name="Text 76"/>
          <p:cNvSpPr/>
          <p:nvPr/>
        </p:nvSpPr>
        <p:spPr>
          <a:xfrm>
            <a:off x="6894576" y="580644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Mediator</a:t>
            </a:r>
            <a:endParaRPr lang="en-US" sz="1000" dirty="0"/>
          </a:p>
        </p:txBody>
      </p:sp>
      <p:sp>
        <p:nvSpPr>
          <p:cNvPr id="85" name="Shape 77"/>
          <p:cNvSpPr/>
          <p:nvPr/>
        </p:nvSpPr>
        <p:spPr>
          <a:xfrm>
            <a:off x="7845552" y="5806440"/>
            <a:ext cx="877824" cy="804672"/>
          </a:xfrm>
          <a:prstGeom prst="roundRect">
            <a:avLst>
              <a:gd name="adj" fmla="val 5682"/>
            </a:avLst>
          </a:prstGeom>
          <a:solidFill>
            <a:srgbClr val="FFFFFF"/>
          </a:solidFill>
          <a:ln w="12700">
            <a:solidFill>
              <a:srgbClr val="3C9A54"/>
            </a:solidFill>
            <a:prstDash val="solid"/>
          </a:ln>
        </p:spPr>
      </p:sp>
      <p:sp>
        <p:nvSpPr>
          <p:cNvPr id="86" name="Text 78"/>
          <p:cNvSpPr/>
          <p:nvPr/>
        </p:nvSpPr>
        <p:spPr>
          <a:xfrm>
            <a:off x="7845552" y="580644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Synthesizer</a:t>
            </a:r>
            <a:endParaRPr lang="en-US" sz="1000" dirty="0"/>
          </a:p>
        </p:txBody>
      </p:sp>
      <p:sp>
        <p:nvSpPr>
          <p:cNvPr id="87" name="Shape 79"/>
          <p:cNvSpPr/>
          <p:nvPr/>
        </p:nvSpPr>
        <p:spPr>
          <a:xfrm>
            <a:off x="8796528" y="5806440"/>
            <a:ext cx="877824" cy="804672"/>
          </a:xfrm>
          <a:prstGeom prst="roundRect">
            <a:avLst>
              <a:gd name="adj" fmla="val 5682"/>
            </a:avLst>
          </a:prstGeom>
          <a:solidFill>
            <a:srgbClr val="FFFFFF"/>
          </a:solidFill>
          <a:ln w="12700">
            <a:solidFill>
              <a:srgbClr val="3C9A54"/>
            </a:solidFill>
            <a:prstDash val="solid"/>
          </a:ln>
        </p:spPr>
      </p:sp>
      <p:sp>
        <p:nvSpPr>
          <p:cNvPr id="88" name="Text 80"/>
          <p:cNvSpPr/>
          <p:nvPr/>
        </p:nvSpPr>
        <p:spPr>
          <a:xfrm>
            <a:off x="8796528" y="580644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Guardian</a:t>
            </a:r>
            <a:endParaRPr lang="en-US" sz="1000" dirty="0"/>
          </a:p>
        </p:txBody>
      </p:sp>
      <p:sp>
        <p:nvSpPr>
          <p:cNvPr id="89" name="Shape 81"/>
          <p:cNvSpPr/>
          <p:nvPr/>
        </p:nvSpPr>
        <p:spPr>
          <a:xfrm>
            <a:off x="9747504" y="5806440"/>
            <a:ext cx="877824" cy="804672"/>
          </a:xfrm>
          <a:prstGeom prst="roundRect">
            <a:avLst>
              <a:gd name="adj" fmla="val 5682"/>
            </a:avLst>
          </a:prstGeom>
          <a:solidFill>
            <a:srgbClr val="FFFFFF"/>
          </a:solidFill>
          <a:ln w="12700">
            <a:solidFill>
              <a:srgbClr val="3C9A54"/>
            </a:solidFill>
            <a:prstDash val="solid"/>
          </a:ln>
        </p:spPr>
      </p:sp>
      <p:sp>
        <p:nvSpPr>
          <p:cNvPr id="90" name="Text 82"/>
          <p:cNvSpPr/>
          <p:nvPr/>
        </p:nvSpPr>
        <p:spPr>
          <a:xfrm>
            <a:off x="9747504" y="5806440"/>
            <a:ext cx="877824" cy="804672"/>
          </a:xfrm>
          <a:prstGeom prst="rect">
            <a:avLst/>
          </a:prstGeom>
          <a:noFill/>
          <a:ln/>
        </p:spPr>
        <p:txBody>
          <a:bodyPr wrap="square" lIns="0" tIns="0" rIns="0" bIns="0" rtlCol="0" anchor="ctr"/>
          <a:lstStyle/>
          <a:p>
            <a:pPr algn="ctr" indent="0" marL="0">
              <a:lnSpc>
                <a:spcPct val="110000"/>
              </a:lnSpc>
              <a:buNone/>
            </a:pPr>
            <a:r>
              <a:rPr lang="en-US" sz="1000" dirty="0">
                <a:solidFill>
                  <a:srgbClr val="222222"/>
                </a:solidFill>
                <a:latin typeface="Arial" pitchFamily="34" charset="0"/>
                <a:ea typeface="Arial" pitchFamily="34" charset="-122"/>
                <a:cs typeface="Arial" pitchFamily="34" charset="-120"/>
              </a:rPr>
              <a:t>Critic</a:t>
            </a:r>
            <a:endParaRPr lang="en-US" sz="1000" dirty="0"/>
          </a:p>
        </p:txBody>
      </p:sp>
      <p:sp>
        <p:nvSpPr>
          <p:cNvPr id="91" name="Shape 83"/>
          <p:cNvSpPr/>
          <p:nvPr/>
        </p:nvSpPr>
        <p:spPr>
          <a:xfrm>
            <a:off x="5943600" y="6903720"/>
            <a:ext cx="4754880" cy="749808"/>
          </a:xfrm>
          <a:prstGeom prst="roundRect">
            <a:avLst>
              <a:gd name="adj" fmla="val 6098"/>
            </a:avLst>
          </a:prstGeom>
          <a:solidFill>
            <a:srgbClr val="FFFFFF"/>
          </a:solidFill>
          <a:ln w="12700">
            <a:solidFill>
              <a:srgbClr val="3C9A54"/>
            </a:solidFill>
            <a:prstDash val="solid"/>
          </a:ln>
        </p:spPr>
      </p:sp>
      <p:sp>
        <p:nvSpPr>
          <p:cNvPr id="92" name="Text 84"/>
          <p:cNvSpPr/>
          <p:nvPr/>
        </p:nvSpPr>
        <p:spPr>
          <a:xfrm>
            <a:off x="6035040" y="6903720"/>
            <a:ext cx="4572000" cy="749808"/>
          </a:xfrm>
          <a:prstGeom prst="rect">
            <a:avLst/>
          </a:prstGeom>
          <a:noFill/>
          <a:ln/>
        </p:spPr>
        <p:txBody>
          <a:bodyPr wrap="square" lIns="0" tIns="0" rIns="0" bIns="0" rtlCol="0" anchor="ctr"/>
          <a:lstStyle/>
          <a:p>
            <a:pPr algn="l" indent="0" marL="0">
              <a:lnSpc>
                <a:spcPct val="110000"/>
              </a:lnSpc>
              <a:buNone/>
            </a:pPr>
            <a:r>
              <a:rPr lang="en-US" sz="1100" b="1" dirty="0">
                <a:solidFill>
                  <a:srgbClr val="222222"/>
                </a:solidFill>
                <a:latin typeface="Arial" pitchFamily="34" charset="0"/>
                <a:ea typeface="Arial" pitchFamily="34" charset="-122"/>
                <a:cs typeface="Arial" pitchFamily="34" charset="-120"/>
              </a:rPr>
              <a:t>Diet Team: </a:t>
            </a:r>
            <a:pPr algn="l" indent="0" marL="0">
              <a:lnSpc>
                <a:spcPct val="110000"/>
              </a:lnSpc>
              <a:buNone/>
            </a:pPr>
            <a:r>
              <a:rPr lang="en-US" sz="1100" dirty="0">
                <a:solidFill>
                  <a:srgbClr val="222222"/>
                </a:solidFill>
                <a:latin typeface="Arial" pitchFamily="34" charset="0"/>
                <a:ea typeface="Arial" pitchFamily="34" charset="-122"/>
                <a:cs typeface="Arial" pitchFamily="34" charset="-120"/>
              </a:rPr>
              <a:t>clinical · nutritionist · guardian · critic · explainer</a:t>
            </a:r>
            <a:endParaRPr lang="en-US" sz="1100" dirty="0"/>
          </a:p>
        </p:txBody>
      </p:sp>
      <p:sp>
        <p:nvSpPr>
          <p:cNvPr id="93" name="Shape 85"/>
          <p:cNvSpPr/>
          <p:nvPr/>
        </p:nvSpPr>
        <p:spPr>
          <a:xfrm>
            <a:off x="5943600" y="7772400"/>
            <a:ext cx="4754880" cy="749808"/>
          </a:xfrm>
          <a:prstGeom prst="roundRect">
            <a:avLst>
              <a:gd name="adj" fmla="val 6098"/>
            </a:avLst>
          </a:prstGeom>
          <a:solidFill>
            <a:srgbClr val="FFFFFF"/>
          </a:solidFill>
          <a:ln w="12700">
            <a:solidFill>
              <a:srgbClr val="3C9A54"/>
            </a:solidFill>
            <a:prstDash val="solid"/>
          </a:ln>
        </p:spPr>
      </p:sp>
      <p:sp>
        <p:nvSpPr>
          <p:cNvPr id="94" name="Text 86"/>
          <p:cNvSpPr/>
          <p:nvPr/>
        </p:nvSpPr>
        <p:spPr>
          <a:xfrm>
            <a:off x="6035040" y="7772400"/>
            <a:ext cx="4572000" cy="749808"/>
          </a:xfrm>
          <a:prstGeom prst="rect">
            <a:avLst/>
          </a:prstGeom>
          <a:noFill/>
          <a:ln/>
        </p:spPr>
        <p:txBody>
          <a:bodyPr wrap="square" lIns="0" tIns="0" rIns="0" bIns="0" rtlCol="0" anchor="ctr"/>
          <a:lstStyle/>
          <a:p>
            <a:pPr algn="l" indent="0" marL="0">
              <a:lnSpc>
                <a:spcPct val="110000"/>
              </a:lnSpc>
              <a:buNone/>
            </a:pPr>
            <a:r>
              <a:rPr lang="en-US" sz="1100" b="1" dirty="0">
                <a:solidFill>
                  <a:srgbClr val="222222"/>
                </a:solidFill>
                <a:latin typeface="Arial" pitchFamily="34" charset="0"/>
                <a:ea typeface="Arial" pitchFamily="34" charset="-122"/>
                <a:cs typeface="Arial" pitchFamily="34" charset="-120"/>
              </a:rPr>
              <a:t>Weekly Review: </a:t>
            </a:r>
            <a:pPr algn="l" indent="0" marL="0">
              <a:lnSpc>
                <a:spcPct val="110000"/>
              </a:lnSpc>
              <a:buNone/>
            </a:pPr>
            <a:r>
              <a:rPr lang="en-US" sz="1100" dirty="0">
                <a:solidFill>
                  <a:srgbClr val="222222"/>
                </a:solidFill>
                <a:latin typeface="Arial" pitchFamily="34" charset="0"/>
                <a:ea typeface="Arial" pitchFamily="34" charset="-122"/>
                <a:cs typeface="Arial" pitchFamily="34" charset="-120"/>
              </a:rPr>
              <a:t>analyst · coach · diet adapt · guardian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11</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AGENTIC RAG IMPLEMENTATION</a:t>
            </a:r>
            <a:endParaRPr lang="en-US" sz="4000" dirty="0"/>
          </a:p>
        </p:txBody>
      </p:sp>
      <p:sp>
        <p:nvSpPr>
          <p:cNvPr id="5" name="Panel"/>
          <p:cNvSpPr/>
          <p:nvPr/>
        </p:nvSpPr>
        <p:spPr>
          <a:xfrm>
            <a:off x="914400" y="2148840"/>
            <a:ext cx="16459200" cy="6949440"/>
          </a:xfrm>
          <a:prstGeom prst="roundRect">
            <a:avLst>
              <a:gd name="adj" fmla="val 1579"/>
            </a:avLst>
          </a:prstGeom>
          <a:solidFill>
            <a:srgbClr val="F4F1F8"/>
          </a:solidFill>
          <a:ln w="12700">
            <a:solidFill>
              <a:srgbClr val="E2DCEB"/>
            </a:solidFill>
            <a:prstDash val="solid"/>
          </a:ln>
        </p:spPr>
      </p:sp>
      <p:sp>
        <p:nvSpPr>
          <p:cNvPr id="6" name="Knowledge Sources"/>
          <p:cNvSpPr/>
          <p:nvPr/>
        </p:nvSpPr>
        <p:spPr>
          <a:xfrm>
            <a:off x="1280160" y="2423160"/>
            <a:ext cx="5029200" cy="6400800"/>
          </a:xfrm>
          <a:prstGeom prst="roundRect">
            <a:avLst>
              <a:gd name="adj" fmla="val 1818"/>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7" name="Shape 5"/>
          <p:cNvSpPr/>
          <p:nvPr/>
        </p:nvSpPr>
        <p:spPr>
          <a:xfrm>
            <a:off x="1508760" y="2606040"/>
            <a:ext cx="438912" cy="438912"/>
          </a:xfrm>
          <a:prstGeom prst="ellipse">
            <a:avLst/>
          </a:prstGeom>
          <a:solidFill>
            <a:srgbClr val="F5C519"/>
          </a:solidFill>
          <a:ln w="12700">
            <a:solidFill>
              <a:srgbClr val="F5C519"/>
            </a:solidFill>
            <a:prstDash val="solid"/>
          </a:ln>
        </p:spPr>
      </p:sp>
      <p:sp>
        <p:nvSpPr>
          <p:cNvPr id="8" name="Text 6"/>
          <p:cNvSpPr/>
          <p:nvPr/>
        </p:nvSpPr>
        <p:spPr>
          <a:xfrm>
            <a:off x="1508760" y="260604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1</a:t>
            </a:r>
            <a:endParaRPr lang="en-US" sz="1200" dirty="0"/>
          </a:p>
        </p:txBody>
      </p:sp>
      <p:sp>
        <p:nvSpPr>
          <p:cNvPr id="9" name="Text 7"/>
          <p:cNvSpPr/>
          <p:nvPr/>
        </p:nvSpPr>
        <p:spPr>
          <a:xfrm>
            <a:off x="2103120" y="2606040"/>
            <a:ext cx="4114800" cy="41148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Knowledge Sources</a:t>
            </a:r>
            <a:endParaRPr lang="en-US" sz="1600" dirty="0"/>
          </a:p>
        </p:txBody>
      </p:sp>
      <p:sp>
        <p:nvSpPr>
          <p:cNvPr id="10" name="Text 8"/>
          <p:cNvSpPr/>
          <p:nvPr/>
        </p:nvSpPr>
        <p:spPr>
          <a:xfrm>
            <a:off x="1600200" y="3246120"/>
            <a:ext cx="4434840" cy="5394960"/>
          </a:xfrm>
          <a:prstGeom prst="rect">
            <a:avLst/>
          </a:prstGeom>
          <a:noFill/>
          <a:ln/>
        </p:spPr>
        <p:txBody>
          <a:bodyPr wrap="square" lIns="0" tIns="0" rIns="0" bIns="0" rtlCol="0" anchor="t"/>
          <a:lstStyle/>
          <a:p>
            <a:pPr indent="0" marL="0">
              <a:lnSpc>
                <a:spcPct val="110000"/>
              </a:lnSpc>
              <a:spcAft>
                <a:spcPts val="200"/>
              </a:spcAft>
              <a:buNone/>
            </a:pPr>
            <a:r>
              <a:rPr lang="en-US" sz="1800" b="1" dirty="0">
                <a:solidFill>
                  <a:srgbClr val="5B2D8F"/>
                </a:solidFill>
              </a:rPr>
              <a:t>Guideline Knowledge Base</a:t>
            </a:r>
            <a:endParaRPr lang="en-US" sz="1800" dirty="0"/>
          </a:p>
          <a:p>
            <a:pPr indent="0" marL="0">
              <a:lnSpc>
                <a:spcPct val="110000"/>
              </a:lnSpc>
              <a:spcAft>
                <a:spcPts val="1200"/>
              </a:spcAft>
              <a:buNone/>
            </a:pPr>
            <a:r>
              <a:rPr lang="en-US" sz="1800" dirty="0">
                <a:solidFill>
                  <a:srgbClr val="333333"/>
                </a:solidFill>
              </a:rPr>
              <a:t>49 passages · 7 topics (sleep, exercise, nutrition, hydration, stress, mental, safety)</a:t>
            </a:r>
            <a:endParaRPr lang="en-US" sz="1800" dirty="0"/>
          </a:p>
          <a:p>
            <a:pPr indent="0" marL="0">
              <a:lnSpc>
                <a:spcPct val="110000"/>
              </a:lnSpc>
              <a:spcAft>
                <a:spcPts val="200"/>
              </a:spcAft>
              <a:buNone/>
            </a:pPr>
            <a:r>
              <a:rPr lang="en-US" sz="1800" b="1" dirty="0">
                <a:solidFill>
                  <a:srgbClr val="5B2D8F"/>
                </a:solidFill>
              </a:rPr>
              <a:t>Curated sources</a:t>
            </a:r>
            <a:endParaRPr lang="en-US" sz="1800" dirty="0"/>
          </a:p>
          <a:p>
            <a:pPr indent="0" marL="0">
              <a:lnSpc>
                <a:spcPct val="110000"/>
              </a:lnSpc>
              <a:spcAft>
                <a:spcPts val="1200"/>
              </a:spcAft>
              <a:buNone/>
            </a:pPr>
            <a:r>
              <a:rPr lang="en-US" sz="1800" dirty="0">
                <a:solidFill>
                  <a:srgbClr val="333333"/>
                </a:solidFill>
              </a:rPr>
              <a:t>WHO 2020 activity · ICMR-NIN 2024 · NHS · CDC · EFSA · NICE · Tele-MANAS</a:t>
            </a:r>
            <a:endParaRPr lang="en-US" sz="1800" dirty="0"/>
          </a:p>
          <a:p>
            <a:pPr indent="0" marL="0">
              <a:lnSpc>
                <a:spcPct val="110000"/>
              </a:lnSpc>
              <a:spcAft>
                <a:spcPts val="200"/>
              </a:spcAft>
              <a:buNone/>
            </a:pPr>
            <a:r>
              <a:rPr lang="en-US" sz="1800" b="1" dirty="0">
                <a:solidFill>
                  <a:srgbClr val="5B2D8F"/>
                </a:solidFill>
              </a:rPr>
              <a:t>Citable</a:t>
            </a:r>
            <a:endParaRPr lang="en-US" sz="1800" dirty="0"/>
          </a:p>
          <a:p>
            <a:pPr indent="0" marL="0">
              <a:lnSpc>
                <a:spcPct val="110000"/>
              </a:lnSpc>
              <a:spcAft>
                <a:spcPts val="1200"/>
              </a:spcAft>
              <a:buNone/>
            </a:pPr>
            <a:r>
              <a:rPr lang="en-US" sz="1800" dirty="0">
                <a:solidFill>
                  <a:srgbClr val="333333"/>
                </a:solidFill>
              </a:rPr>
              <a:t>Every passage has an ID (e.g. [sleep-05]) and a source line</a:t>
            </a:r>
            <a:endParaRPr lang="en-US" sz="1800" dirty="0"/>
          </a:p>
        </p:txBody>
      </p:sp>
      <p:sp>
        <p:nvSpPr>
          <p:cNvPr id="11" name="Why Hybrid + Agentic Retrieval?"/>
          <p:cNvSpPr/>
          <p:nvPr/>
        </p:nvSpPr>
        <p:spPr>
          <a:xfrm>
            <a:off x="6629400" y="2423160"/>
            <a:ext cx="5029200" cy="6400800"/>
          </a:xfrm>
          <a:prstGeom prst="roundRect">
            <a:avLst>
              <a:gd name="adj" fmla="val 1818"/>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2" name="Shape 10"/>
          <p:cNvSpPr/>
          <p:nvPr/>
        </p:nvSpPr>
        <p:spPr>
          <a:xfrm>
            <a:off x="6858000" y="2606040"/>
            <a:ext cx="438912" cy="438912"/>
          </a:xfrm>
          <a:prstGeom prst="ellipse">
            <a:avLst/>
          </a:prstGeom>
          <a:solidFill>
            <a:srgbClr val="F5C519"/>
          </a:solidFill>
          <a:ln w="12700">
            <a:solidFill>
              <a:srgbClr val="F5C519"/>
            </a:solidFill>
            <a:prstDash val="solid"/>
          </a:ln>
        </p:spPr>
      </p:sp>
      <p:sp>
        <p:nvSpPr>
          <p:cNvPr id="13" name="Text 11"/>
          <p:cNvSpPr/>
          <p:nvPr/>
        </p:nvSpPr>
        <p:spPr>
          <a:xfrm>
            <a:off x="6858000" y="260604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2</a:t>
            </a:r>
            <a:endParaRPr lang="en-US" sz="1200" dirty="0"/>
          </a:p>
        </p:txBody>
      </p:sp>
      <p:sp>
        <p:nvSpPr>
          <p:cNvPr id="14" name="Text 12"/>
          <p:cNvSpPr/>
          <p:nvPr/>
        </p:nvSpPr>
        <p:spPr>
          <a:xfrm>
            <a:off x="7452360" y="2606040"/>
            <a:ext cx="4114800" cy="41148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Why Hybrid + Agentic Retrieval?</a:t>
            </a:r>
            <a:endParaRPr lang="en-US" sz="1600" dirty="0"/>
          </a:p>
        </p:txBody>
      </p:sp>
      <p:sp>
        <p:nvSpPr>
          <p:cNvPr id="15" name="Text 13"/>
          <p:cNvSpPr/>
          <p:nvPr/>
        </p:nvSpPr>
        <p:spPr>
          <a:xfrm>
            <a:off x="6949440" y="3246120"/>
            <a:ext cx="4434840" cy="5394960"/>
          </a:xfrm>
          <a:prstGeom prst="rect">
            <a:avLst/>
          </a:prstGeom>
          <a:noFill/>
          <a:ln/>
        </p:spPr>
        <p:txBody>
          <a:bodyPr wrap="square" lIns="0" tIns="0" rIns="0" bIns="0" rtlCol="0" anchor="t"/>
          <a:lstStyle/>
          <a:p>
            <a:pPr indent="0" marL="0">
              <a:lnSpc>
                <a:spcPct val="110000"/>
              </a:lnSpc>
              <a:spcAft>
                <a:spcPts val="200"/>
              </a:spcAft>
              <a:buNone/>
            </a:pPr>
            <a:r>
              <a:rPr lang="en-US" sz="1800" b="1" dirty="0">
                <a:solidFill>
                  <a:srgbClr val="5B2D8F"/>
                </a:solidFill>
              </a:rPr>
              <a:t>Dense — nomic-embed-text (0.7)</a:t>
            </a:r>
            <a:endParaRPr lang="en-US" sz="1800" dirty="0"/>
          </a:p>
          <a:p>
            <a:pPr indent="0" marL="0">
              <a:lnSpc>
                <a:spcPct val="110000"/>
              </a:lnSpc>
              <a:spcAft>
                <a:spcPts val="1200"/>
              </a:spcAft>
              <a:buNone/>
            </a:pPr>
            <a:r>
              <a:rPr lang="en-US" sz="1800" dirty="0">
                <a:solidFill>
                  <a:srgbClr val="333333"/>
                </a:solidFill>
              </a:rPr>
              <a:t>Same meaning, different words</a:t>
            </a:r>
            <a:endParaRPr lang="en-US" sz="1800" dirty="0"/>
          </a:p>
          <a:p>
            <a:pPr indent="0" marL="0">
              <a:lnSpc>
                <a:spcPct val="110000"/>
              </a:lnSpc>
              <a:spcAft>
                <a:spcPts val="200"/>
              </a:spcAft>
              <a:buNone/>
            </a:pPr>
            <a:r>
              <a:rPr lang="en-US" sz="1800" b="1" dirty="0">
                <a:solidFill>
                  <a:srgbClr val="5B2D8F"/>
                </a:solidFill>
              </a:rPr>
              <a:t>Sparse — TF-IDF 1-2 grams (0.3)</a:t>
            </a:r>
            <a:endParaRPr lang="en-US" sz="1800" dirty="0"/>
          </a:p>
          <a:p>
            <a:pPr indent="0" marL="0">
              <a:lnSpc>
                <a:spcPct val="110000"/>
              </a:lnSpc>
              <a:spcAft>
                <a:spcPts val="1200"/>
              </a:spcAft>
              <a:buNone/>
            </a:pPr>
            <a:r>
              <a:rPr lang="en-US" sz="1800" dirty="0">
                <a:solidFill>
                  <a:srgbClr val="333333"/>
                </a:solidFill>
              </a:rPr>
              <a:t>Exact terms such as “HIIT” or “BMI”</a:t>
            </a:r>
            <a:endParaRPr lang="en-US" sz="1800" dirty="0"/>
          </a:p>
          <a:p>
            <a:pPr indent="0" marL="0">
              <a:lnSpc>
                <a:spcPct val="110000"/>
              </a:lnSpc>
              <a:spcAft>
                <a:spcPts val="200"/>
              </a:spcAft>
              <a:buNone/>
            </a:pPr>
            <a:r>
              <a:rPr lang="en-US" sz="1800" b="1" dirty="0">
                <a:solidFill>
                  <a:srgbClr val="5B2D8F"/>
                </a:solidFill>
              </a:rPr>
              <a:t>Agentic loop</a:t>
            </a:r>
            <a:endParaRPr lang="en-US" sz="1800" dirty="0"/>
          </a:p>
          <a:p>
            <a:pPr indent="0" marL="0">
              <a:lnSpc>
                <a:spcPct val="110000"/>
              </a:lnSpc>
              <a:spcAft>
                <a:spcPts val="1200"/>
              </a:spcAft>
              <a:buNone/>
            </a:pPr>
            <a:r>
              <a:rPr lang="en-US" sz="1800" dirty="0">
                <a:solidFill>
                  <a:srgbClr val="333333"/>
                </a:solidFill>
              </a:rPr>
              <a:t>LLM plans query + topic → top-4 → LLM grades relevance → rewrite, widen and retry (max 2)</a:t>
            </a:r>
            <a:endParaRPr lang="en-US" sz="1800" dirty="0"/>
          </a:p>
        </p:txBody>
      </p:sp>
      <p:sp>
        <p:nvSpPr>
          <p:cNvPr id="16" name="Retrieval Quality Evaluation"/>
          <p:cNvSpPr/>
          <p:nvPr/>
        </p:nvSpPr>
        <p:spPr>
          <a:xfrm>
            <a:off x="11978640" y="2423160"/>
            <a:ext cx="5029200" cy="6400800"/>
          </a:xfrm>
          <a:prstGeom prst="roundRect">
            <a:avLst>
              <a:gd name="adj" fmla="val 1818"/>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7" name="Shape 15"/>
          <p:cNvSpPr/>
          <p:nvPr/>
        </p:nvSpPr>
        <p:spPr>
          <a:xfrm>
            <a:off x="12207240" y="2606040"/>
            <a:ext cx="438912" cy="438912"/>
          </a:xfrm>
          <a:prstGeom prst="ellipse">
            <a:avLst/>
          </a:prstGeom>
          <a:solidFill>
            <a:srgbClr val="F5C519"/>
          </a:solidFill>
          <a:ln w="12700">
            <a:solidFill>
              <a:srgbClr val="F5C519"/>
            </a:solidFill>
            <a:prstDash val="solid"/>
          </a:ln>
        </p:spPr>
      </p:sp>
      <p:sp>
        <p:nvSpPr>
          <p:cNvPr id="18" name="Text 16"/>
          <p:cNvSpPr/>
          <p:nvPr/>
        </p:nvSpPr>
        <p:spPr>
          <a:xfrm>
            <a:off x="12207240" y="260604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3</a:t>
            </a:r>
            <a:endParaRPr lang="en-US" sz="1200" dirty="0"/>
          </a:p>
        </p:txBody>
      </p:sp>
      <p:sp>
        <p:nvSpPr>
          <p:cNvPr id="19" name="Text 17"/>
          <p:cNvSpPr/>
          <p:nvPr/>
        </p:nvSpPr>
        <p:spPr>
          <a:xfrm>
            <a:off x="12801600" y="2606040"/>
            <a:ext cx="4114800" cy="41148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Retrieval Quality Evaluation</a:t>
            </a:r>
            <a:endParaRPr lang="en-US" sz="1600" dirty="0"/>
          </a:p>
        </p:txBody>
      </p:sp>
      <p:sp>
        <p:nvSpPr>
          <p:cNvPr id="20" name="Text 18"/>
          <p:cNvSpPr/>
          <p:nvPr/>
        </p:nvSpPr>
        <p:spPr>
          <a:xfrm>
            <a:off x="12298680" y="3246120"/>
            <a:ext cx="4434840" cy="5394960"/>
          </a:xfrm>
          <a:prstGeom prst="rect">
            <a:avLst/>
          </a:prstGeom>
          <a:noFill/>
          <a:ln/>
        </p:spPr>
        <p:txBody>
          <a:bodyPr wrap="square" lIns="0" tIns="0" rIns="0" bIns="0" rtlCol="0" anchor="t"/>
          <a:lstStyle/>
          <a:p>
            <a:pPr indent="0" marL="0">
              <a:lnSpc>
                <a:spcPct val="110000"/>
              </a:lnSpc>
              <a:spcAft>
                <a:spcPts val="200"/>
              </a:spcAft>
              <a:buNone/>
            </a:pPr>
            <a:r>
              <a:rPr lang="en-US" sz="1800" b="1" dirty="0">
                <a:solidFill>
                  <a:srgbClr val="5B2D8F"/>
                </a:solidFill>
              </a:rPr>
              <a:t>Baseline 1 — No RAG</a:t>
            </a:r>
            <a:endParaRPr lang="en-US" sz="1800" dirty="0"/>
          </a:p>
          <a:p>
            <a:pPr indent="0" marL="0">
              <a:lnSpc>
                <a:spcPct val="110000"/>
              </a:lnSpc>
              <a:spcAft>
                <a:spcPts val="1200"/>
              </a:spcAft>
              <a:buNone/>
            </a:pPr>
            <a:r>
              <a:rPr lang="en-US" sz="1800" dirty="0">
                <a:solidFill>
                  <a:srgbClr val="333333"/>
                </a:solidFill>
              </a:rPr>
              <a:t>LLM answers from its own knowledge</a:t>
            </a:r>
            <a:endParaRPr lang="en-US" sz="1800" dirty="0"/>
          </a:p>
          <a:p>
            <a:pPr indent="0" marL="0">
              <a:lnSpc>
                <a:spcPct val="110000"/>
              </a:lnSpc>
              <a:spcAft>
                <a:spcPts val="200"/>
              </a:spcAft>
              <a:buNone/>
            </a:pPr>
            <a:r>
              <a:rPr lang="en-US" sz="1800" b="1" dirty="0">
                <a:solidFill>
                  <a:srgbClr val="5B2D8F"/>
                </a:solidFill>
              </a:rPr>
              <a:t>Baseline 2 — Basic RAG</a:t>
            </a:r>
            <a:endParaRPr lang="en-US" sz="1800" dirty="0"/>
          </a:p>
          <a:p>
            <a:pPr indent="0" marL="0">
              <a:lnSpc>
                <a:spcPct val="110000"/>
              </a:lnSpc>
              <a:spcAft>
                <a:spcPts val="1200"/>
              </a:spcAft>
              <a:buNone/>
            </a:pPr>
            <a:r>
              <a:rPr lang="en-US" sz="1800" dirty="0">
                <a:solidFill>
                  <a:srgbClr val="333333"/>
                </a:solidFill>
              </a:rPr>
              <a:t>Raw question, top-3, no grading</a:t>
            </a:r>
            <a:endParaRPr lang="en-US" sz="1800" dirty="0"/>
          </a:p>
          <a:p>
            <a:pPr indent="0" marL="0">
              <a:lnSpc>
                <a:spcPct val="110000"/>
              </a:lnSpc>
              <a:spcAft>
                <a:spcPts val="200"/>
              </a:spcAft>
              <a:buNone/>
            </a:pPr>
            <a:r>
              <a:rPr lang="en-US" sz="1800" b="1" dirty="0">
                <a:solidFill>
                  <a:srgbClr val="5B2D8F"/>
                </a:solidFill>
              </a:rPr>
              <a:t>Proposed — Agentic RAG</a:t>
            </a:r>
            <a:endParaRPr lang="en-US" sz="1800" dirty="0"/>
          </a:p>
          <a:p>
            <a:pPr indent="0" marL="0">
              <a:lnSpc>
                <a:spcPct val="110000"/>
              </a:lnSpc>
              <a:spcAft>
                <a:spcPts val="1200"/>
              </a:spcAft>
              <a:buNone/>
            </a:pPr>
            <a:r>
              <a:rPr lang="en-US" sz="1800" dirty="0">
                <a:solidFill>
                  <a:srgbClr val="333333"/>
                </a:solidFill>
              </a:rPr>
              <a:t>+ query planning, grading, retry, per-specialist evidence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12</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SAFETY AND HUMAN-IN-THE-LOOP</a:t>
            </a:r>
            <a:endParaRPr lang="en-US" sz="4000" dirty="0"/>
          </a:p>
        </p:txBody>
      </p:sp>
      <p:sp>
        <p:nvSpPr>
          <p:cNvPr id="5" name="Panel"/>
          <p:cNvSpPr/>
          <p:nvPr/>
        </p:nvSpPr>
        <p:spPr>
          <a:xfrm>
            <a:off x="914400" y="2148840"/>
            <a:ext cx="16459200" cy="6949440"/>
          </a:xfrm>
          <a:prstGeom prst="roundRect">
            <a:avLst>
              <a:gd name="adj" fmla="val 1579"/>
            </a:avLst>
          </a:prstGeom>
          <a:solidFill>
            <a:srgbClr val="F4F1F8"/>
          </a:solidFill>
          <a:ln w="12700">
            <a:solidFill>
              <a:srgbClr val="E2DCEB"/>
            </a:solidFill>
            <a:prstDash val="solid"/>
          </a:ln>
        </p:spPr>
      </p:sp>
      <p:sp>
        <p:nvSpPr>
          <p:cNvPr id="6" name="Emergency Path"/>
          <p:cNvSpPr/>
          <p:nvPr/>
        </p:nvSpPr>
        <p:spPr>
          <a:xfrm>
            <a:off x="1280160" y="2423160"/>
            <a:ext cx="5029200" cy="6400800"/>
          </a:xfrm>
          <a:prstGeom prst="roundRect">
            <a:avLst>
              <a:gd name="adj" fmla="val 1818"/>
            </a:avLst>
          </a:prstGeom>
          <a:solidFill>
            <a:srgbClr val="FFE6E6"/>
          </a:solidFill>
          <a:ln w="15875">
            <a:solidFill>
              <a:srgbClr val="D9534F"/>
            </a:solidFill>
            <a:prstDash val="solid"/>
          </a:ln>
          <a:effectLst>
            <a:outerShdw sx="100000" sy="100000" kx="0" ky="0" algn="bl" rotWithShape="0" blurRad="63500" dist="25400" dir="5400000">
              <a:srgbClr val="000000">
                <a:alpha val="12000"/>
              </a:srgbClr>
            </a:outerShdw>
          </a:effectLst>
        </p:spPr>
      </p:sp>
      <p:pic>
        <p:nvPicPr>
          <p:cNvPr id="7" name="Image 0" descr="/home/claude/ppt2/assets/FaExclamationTriangle_d.png">    </p:cNvPr>
          <p:cNvPicPr>
            <a:picLocks noChangeAspect="1"/>
          </p:cNvPicPr>
          <p:nvPr/>
        </p:nvPicPr>
        <p:blipFill>
          <a:blip r:embed="rId1"/>
          <a:stretch>
            <a:fillRect/>
          </a:stretch>
        </p:blipFill>
        <p:spPr>
          <a:xfrm>
            <a:off x="1554480" y="2651760"/>
            <a:ext cx="640080" cy="640080"/>
          </a:xfrm>
          <a:prstGeom prst="rect">
            <a:avLst/>
          </a:prstGeom>
        </p:spPr>
      </p:pic>
      <p:sp>
        <p:nvSpPr>
          <p:cNvPr id="8" name="Text 5"/>
          <p:cNvSpPr/>
          <p:nvPr/>
        </p:nvSpPr>
        <p:spPr>
          <a:xfrm>
            <a:off x="2377440" y="2743200"/>
            <a:ext cx="3840480" cy="411480"/>
          </a:xfrm>
          <a:prstGeom prst="rect">
            <a:avLst/>
          </a:prstGeom>
          <a:noFill/>
          <a:ln/>
        </p:spPr>
        <p:txBody>
          <a:bodyPr wrap="square" lIns="0" tIns="0" rIns="0" bIns="0" rtlCol="0" anchor="t"/>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Emergency Path</a:t>
            </a:r>
            <a:endParaRPr lang="en-US" sz="1800" dirty="0"/>
          </a:p>
        </p:txBody>
      </p:sp>
      <p:sp>
        <p:nvSpPr>
          <p:cNvPr id="9" name="Text 6"/>
          <p:cNvSpPr/>
          <p:nvPr/>
        </p:nvSpPr>
        <p:spPr>
          <a:xfrm>
            <a:off x="1645920" y="3611880"/>
            <a:ext cx="4434840" cy="5074920"/>
          </a:xfrm>
          <a:prstGeom prst="rect">
            <a:avLst/>
          </a:prstGeom>
          <a:noFill/>
          <a:ln/>
        </p:spPr>
        <p:txBody>
          <a:bodyPr wrap="square" lIns="0" tIns="0" rIns="0" bIns="0" rtlCol="0" anchor="t"/>
          <a:lstStyle/>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Red flags detected by the NLP step: chest pain, fainting, self-harm</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All specialists and plan changes are skipped</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Instant answer with 112 and Tele-MANAS 14416</a:t>
            </a:r>
            <a:endParaRPr lang="en-US" sz="1800" dirty="0"/>
          </a:p>
        </p:txBody>
      </p:sp>
      <p:sp>
        <p:nvSpPr>
          <p:cNvPr id="10" name="Safety Guardian (rules)"/>
          <p:cNvSpPr/>
          <p:nvPr/>
        </p:nvSpPr>
        <p:spPr>
          <a:xfrm>
            <a:off x="6629400" y="2423160"/>
            <a:ext cx="5029200" cy="6400800"/>
          </a:xfrm>
          <a:prstGeom prst="roundRect">
            <a:avLst>
              <a:gd name="adj" fmla="val 1818"/>
            </a:avLst>
          </a:prstGeom>
          <a:solidFill>
            <a:srgbClr val="F1ECFB"/>
          </a:solidFill>
          <a:ln w="15875">
            <a:solidFill>
              <a:srgbClr val="7B5CC9"/>
            </a:solidFill>
            <a:prstDash val="solid"/>
          </a:ln>
          <a:effectLst>
            <a:outerShdw sx="100000" sy="100000" kx="0" ky="0" algn="bl" rotWithShape="0" blurRad="63500" dist="25400" dir="5400000">
              <a:srgbClr val="000000">
                <a:alpha val="12000"/>
              </a:srgbClr>
            </a:outerShdw>
          </a:effectLst>
        </p:spPr>
      </p:sp>
      <p:pic>
        <p:nvPicPr>
          <p:cNvPr id="11" name="Image 1" descr="/home/claude/ppt2/assets/FaShieldAlt_d.png">    </p:cNvPr>
          <p:cNvPicPr>
            <a:picLocks noChangeAspect="1"/>
          </p:cNvPicPr>
          <p:nvPr/>
        </p:nvPicPr>
        <p:blipFill>
          <a:blip r:embed="rId2"/>
          <a:stretch>
            <a:fillRect/>
          </a:stretch>
        </p:blipFill>
        <p:spPr>
          <a:xfrm>
            <a:off x="6903720" y="2651760"/>
            <a:ext cx="640080" cy="640080"/>
          </a:xfrm>
          <a:prstGeom prst="rect">
            <a:avLst/>
          </a:prstGeom>
        </p:spPr>
      </p:pic>
      <p:sp>
        <p:nvSpPr>
          <p:cNvPr id="12" name="Text 8"/>
          <p:cNvSpPr/>
          <p:nvPr/>
        </p:nvSpPr>
        <p:spPr>
          <a:xfrm>
            <a:off x="7726680" y="2743200"/>
            <a:ext cx="3840480" cy="411480"/>
          </a:xfrm>
          <a:prstGeom prst="rect">
            <a:avLst/>
          </a:prstGeom>
          <a:noFill/>
          <a:ln/>
        </p:spPr>
        <p:txBody>
          <a:bodyPr wrap="square" lIns="0" tIns="0" rIns="0" bIns="0" rtlCol="0" anchor="t"/>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Safety Guardian (rules)</a:t>
            </a:r>
            <a:endParaRPr lang="en-US" sz="1800" dirty="0"/>
          </a:p>
        </p:txBody>
      </p:sp>
      <p:sp>
        <p:nvSpPr>
          <p:cNvPr id="13" name="Text 9"/>
          <p:cNvSpPr/>
          <p:nvPr/>
        </p:nvSpPr>
        <p:spPr>
          <a:xfrm>
            <a:off x="6995160" y="3611880"/>
            <a:ext cx="4434840" cy="5074920"/>
          </a:xfrm>
          <a:prstGeom prst="rect">
            <a:avLst/>
          </a:prstGeom>
          <a:noFill/>
          <a:ln/>
        </p:spPr>
        <p:txBody>
          <a:bodyPr wrap="square" lIns="0" tIns="0" rIns="0" bIns="0" rtlCol="0" anchor="t"/>
          <a:lstStyle/>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Removes citations that were not retrieved</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Flags medication, dosage or diagnosis wording</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Pain → must advise a doctor</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Vetoes exercises unsafe for knee / back</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Pain or &lt;5 h sleep can never mean a normal workout</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Diet: diet type, 6 conditions, carbs, sodium, allergies</a:t>
            </a:r>
            <a:endParaRPr lang="en-US" sz="1800" dirty="0"/>
          </a:p>
        </p:txBody>
      </p:sp>
      <p:sp>
        <p:nvSpPr>
          <p:cNvPr id="14" name="Human-in-the-Loop"/>
          <p:cNvSpPr/>
          <p:nvPr/>
        </p:nvSpPr>
        <p:spPr>
          <a:xfrm>
            <a:off x="11978640" y="2423160"/>
            <a:ext cx="5029200" cy="6400800"/>
          </a:xfrm>
          <a:prstGeom prst="roundRect">
            <a:avLst>
              <a:gd name="adj" fmla="val 1818"/>
            </a:avLst>
          </a:prstGeom>
          <a:solidFill>
            <a:srgbClr val="FFF6DA"/>
          </a:solidFill>
          <a:ln w="15875">
            <a:solidFill>
              <a:srgbClr val="D49A1A"/>
            </a:solidFill>
            <a:prstDash val="solid"/>
          </a:ln>
          <a:effectLst>
            <a:outerShdw sx="100000" sy="100000" kx="0" ky="0" algn="bl" rotWithShape="0" blurRad="63500" dist="25400" dir="5400000">
              <a:srgbClr val="000000">
                <a:alpha val="12000"/>
              </a:srgbClr>
            </a:outerShdw>
          </a:effectLst>
        </p:spPr>
      </p:sp>
      <p:pic>
        <p:nvPicPr>
          <p:cNvPr id="15" name="Image 2" descr="/home/claude/ppt2/assets/FaUserCheck_d.png">    </p:cNvPr>
          <p:cNvPicPr>
            <a:picLocks noChangeAspect="1"/>
          </p:cNvPicPr>
          <p:nvPr/>
        </p:nvPicPr>
        <p:blipFill>
          <a:blip r:embed="rId3"/>
          <a:stretch>
            <a:fillRect/>
          </a:stretch>
        </p:blipFill>
        <p:spPr>
          <a:xfrm>
            <a:off x="12252960" y="2651760"/>
            <a:ext cx="640080" cy="640080"/>
          </a:xfrm>
          <a:prstGeom prst="rect">
            <a:avLst/>
          </a:prstGeom>
        </p:spPr>
      </p:pic>
      <p:sp>
        <p:nvSpPr>
          <p:cNvPr id="16" name="Text 11"/>
          <p:cNvSpPr/>
          <p:nvPr/>
        </p:nvSpPr>
        <p:spPr>
          <a:xfrm>
            <a:off x="13075920" y="2743200"/>
            <a:ext cx="3840480" cy="411480"/>
          </a:xfrm>
          <a:prstGeom prst="rect">
            <a:avLst/>
          </a:prstGeom>
          <a:noFill/>
          <a:ln/>
        </p:spPr>
        <p:txBody>
          <a:bodyPr wrap="square" lIns="0" tIns="0" rIns="0" bIns="0" rtlCol="0" anchor="t"/>
          <a:lstStyle/>
          <a:p>
            <a:pPr algn="l" indent="0" marL="0">
              <a:lnSpc>
                <a:spcPct val="110000"/>
              </a:lnSpc>
              <a:buNone/>
            </a:pPr>
            <a:r>
              <a:rPr lang="en-US" sz="1800" b="1" dirty="0">
                <a:solidFill>
                  <a:srgbClr val="222222"/>
                </a:solidFill>
                <a:latin typeface="Arial" pitchFamily="34" charset="0"/>
                <a:ea typeface="Arial" pitchFamily="34" charset="-122"/>
                <a:cs typeface="Arial" pitchFamily="34" charset="-120"/>
              </a:rPr>
              <a:t>Human-in-the-Loop</a:t>
            </a:r>
            <a:endParaRPr lang="en-US" sz="1800" dirty="0"/>
          </a:p>
        </p:txBody>
      </p:sp>
      <p:sp>
        <p:nvSpPr>
          <p:cNvPr id="17" name="Text 12"/>
          <p:cNvSpPr/>
          <p:nvPr/>
        </p:nvSpPr>
        <p:spPr>
          <a:xfrm>
            <a:off x="12344400" y="3611880"/>
            <a:ext cx="4434840" cy="5074920"/>
          </a:xfrm>
          <a:prstGeom prst="rect">
            <a:avLst/>
          </a:prstGeom>
          <a:noFill/>
          <a:ln/>
        </p:spPr>
        <p:txBody>
          <a:bodyPr wrap="square" lIns="0" tIns="0" rIns="0" bIns="0" rtlCol="0" anchor="t"/>
          <a:lstStyle/>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LangGraph interrupt() pauses the graph</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Workout change: Approve / Edit / Reject</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Diet change: old vs new meals, Approve / Keep</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Diet plan: Approve / Regenerate with feedback / Reject</a:t>
            </a:r>
            <a:endParaRPr lang="en-US" sz="1800" dirty="0"/>
          </a:p>
          <a:p>
            <a:pPr marL="228600" indent="-228600">
              <a:lnSpc>
                <a:spcPct val="105000"/>
              </a:lnSpc>
              <a:spcAft>
                <a:spcPts val="1200"/>
              </a:spcAft>
              <a:buSzPct val="100000"/>
              <a:buChar char="•"/>
            </a:pPr>
            <a:r>
              <a:rPr lang="en-US" sz="1800" dirty="0">
                <a:solidFill>
                  <a:srgbClr val="222222"/>
                </a:solidFill>
                <a:latin typeface="Arial" pitchFamily="34" charset="0"/>
                <a:ea typeface="Arial" pitchFamily="34" charset="-122"/>
                <a:cs typeface="Arial" pitchFamily="34" charset="-120"/>
              </a:rPr>
              <a:t>Weekly goals, lighter workout and diet adaptation approved separately</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13</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SYSTEM IMPLEMENTATION</a:t>
            </a:r>
            <a:endParaRPr lang="en-US" sz="4000" dirty="0"/>
          </a:p>
        </p:txBody>
      </p:sp>
      <p:sp>
        <p:nvSpPr>
          <p:cNvPr id="5" name="Panel"/>
          <p:cNvSpPr/>
          <p:nvPr/>
        </p:nvSpPr>
        <p:spPr>
          <a:xfrm>
            <a:off x="914400" y="2103120"/>
            <a:ext cx="16459200" cy="7040880"/>
          </a:xfrm>
          <a:prstGeom prst="roundRect">
            <a:avLst>
              <a:gd name="adj" fmla="val 1558"/>
            </a:avLst>
          </a:prstGeom>
          <a:solidFill>
            <a:srgbClr val="F4F1F8"/>
          </a:solidFill>
          <a:ln w="12700">
            <a:solidFill>
              <a:srgbClr val="E2DCEB"/>
            </a:solidFill>
            <a:prstDash val="solid"/>
          </a:ln>
        </p:spPr>
      </p:sp>
      <p:sp>
        <p:nvSpPr>
          <p:cNvPr id="6" name="Text 4"/>
          <p:cNvSpPr/>
          <p:nvPr/>
        </p:nvSpPr>
        <p:spPr>
          <a:xfrm>
            <a:off x="1188720" y="2240280"/>
            <a:ext cx="3657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5B2D8F"/>
                </a:solidFill>
                <a:latin typeface="Arial" pitchFamily="34" charset="0"/>
                <a:ea typeface="Arial" pitchFamily="34" charset="-122"/>
                <a:cs typeface="Arial" pitchFamily="34" charset="-120"/>
              </a:rPr>
              <a:t>Main Technologies</a:t>
            </a:r>
            <a:endParaRPr lang="en-US" sz="1500" dirty="0"/>
          </a:p>
        </p:txBody>
      </p:sp>
      <p:sp>
        <p:nvSpPr>
          <p:cNvPr id="7" name="Streamlit"/>
          <p:cNvSpPr/>
          <p:nvPr/>
        </p:nvSpPr>
        <p:spPr>
          <a:xfrm>
            <a:off x="1188720" y="2651760"/>
            <a:ext cx="3017520" cy="1097280"/>
          </a:xfrm>
          <a:prstGeom prst="roundRect">
            <a:avLst>
              <a:gd name="adj" fmla="val 833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8" name="Image 0" descr="/home/claude/ppt2/assets/FaDesktop_p.png">    </p:cNvPr>
          <p:cNvPicPr>
            <a:picLocks noChangeAspect="1"/>
          </p:cNvPicPr>
          <p:nvPr/>
        </p:nvPicPr>
        <p:blipFill>
          <a:blip r:embed="rId1"/>
          <a:stretch>
            <a:fillRect/>
          </a:stretch>
        </p:blipFill>
        <p:spPr>
          <a:xfrm>
            <a:off x="1371600" y="2880360"/>
            <a:ext cx="640080" cy="640080"/>
          </a:xfrm>
          <a:prstGeom prst="rect">
            <a:avLst/>
          </a:prstGeom>
        </p:spPr>
      </p:pic>
      <p:sp>
        <p:nvSpPr>
          <p:cNvPr id="9" name="Text 6"/>
          <p:cNvSpPr/>
          <p:nvPr/>
        </p:nvSpPr>
        <p:spPr>
          <a:xfrm>
            <a:off x="2148840" y="2697480"/>
            <a:ext cx="2011680" cy="1005840"/>
          </a:xfrm>
          <a:prstGeom prst="rect">
            <a:avLst/>
          </a:prstGeom>
          <a:noFill/>
          <a:ln/>
        </p:spPr>
        <p:txBody>
          <a:bodyPr wrap="square" lIns="0" tIns="0" rIns="0" bIns="0" rtlCol="0" anchor="ctr"/>
          <a:lstStyle/>
          <a:p>
            <a:pPr algn="l" indent="0" marL="0">
              <a:lnSpc>
                <a:spcPct val="110000"/>
              </a:lnSpc>
              <a:buNone/>
            </a:pPr>
            <a:r>
              <a:rPr lang="en-US" sz="1700" b="1" dirty="0">
                <a:solidFill>
                  <a:srgbClr val="222222"/>
                </a:solidFill>
                <a:latin typeface="Arial" pitchFamily="34" charset="0"/>
                <a:ea typeface="Arial" pitchFamily="34" charset="-122"/>
                <a:cs typeface="Arial" pitchFamily="34" charset="-120"/>
              </a:rPr>
              <a:t>Streamlit</a:t>
            </a:r>
            <a:endParaRPr lang="en-US" sz="1700" dirty="0"/>
          </a:p>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8-page web app</a:t>
            </a:r>
            <a:endParaRPr lang="en-US" sz="1700" dirty="0"/>
          </a:p>
        </p:txBody>
      </p:sp>
      <p:sp>
        <p:nvSpPr>
          <p:cNvPr id="10" name="LangGraph"/>
          <p:cNvSpPr/>
          <p:nvPr/>
        </p:nvSpPr>
        <p:spPr>
          <a:xfrm>
            <a:off x="4389120" y="2651760"/>
            <a:ext cx="3017520" cy="1097280"/>
          </a:xfrm>
          <a:prstGeom prst="roundRect">
            <a:avLst>
              <a:gd name="adj" fmla="val 833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11" name="Image 1" descr="/home/claude/ppt2/assets/FaProjectDiagram_p.png">    </p:cNvPr>
          <p:cNvPicPr>
            <a:picLocks noChangeAspect="1"/>
          </p:cNvPicPr>
          <p:nvPr/>
        </p:nvPicPr>
        <p:blipFill>
          <a:blip r:embed="rId2"/>
          <a:stretch>
            <a:fillRect/>
          </a:stretch>
        </p:blipFill>
        <p:spPr>
          <a:xfrm>
            <a:off x="4572000" y="2880360"/>
            <a:ext cx="640080" cy="640080"/>
          </a:xfrm>
          <a:prstGeom prst="rect">
            <a:avLst/>
          </a:prstGeom>
        </p:spPr>
      </p:pic>
      <p:sp>
        <p:nvSpPr>
          <p:cNvPr id="12" name="Text 8"/>
          <p:cNvSpPr/>
          <p:nvPr/>
        </p:nvSpPr>
        <p:spPr>
          <a:xfrm>
            <a:off x="5349240" y="2697480"/>
            <a:ext cx="2011680" cy="1005840"/>
          </a:xfrm>
          <a:prstGeom prst="rect">
            <a:avLst/>
          </a:prstGeom>
          <a:noFill/>
          <a:ln/>
        </p:spPr>
        <p:txBody>
          <a:bodyPr wrap="square" lIns="0" tIns="0" rIns="0" bIns="0" rtlCol="0" anchor="ctr"/>
          <a:lstStyle/>
          <a:p>
            <a:pPr algn="l" indent="0" marL="0">
              <a:lnSpc>
                <a:spcPct val="110000"/>
              </a:lnSpc>
              <a:buNone/>
            </a:pPr>
            <a:r>
              <a:rPr lang="en-US" sz="1700" b="1" dirty="0">
                <a:solidFill>
                  <a:srgbClr val="222222"/>
                </a:solidFill>
                <a:latin typeface="Arial" pitchFamily="34" charset="0"/>
                <a:ea typeface="Arial" pitchFamily="34" charset="-122"/>
                <a:cs typeface="Arial" pitchFamily="34" charset="-120"/>
              </a:rPr>
              <a:t>LangGraph</a:t>
            </a:r>
            <a:endParaRPr lang="en-US" sz="1700" dirty="0"/>
          </a:p>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agent orchestration</a:t>
            </a:r>
            <a:endParaRPr lang="en-US" sz="1700" dirty="0"/>
          </a:p>
        </p:txBody>
      </p:sp>
      <p:sp>
        <p:nvSpPr>
          <p:cNvPr id="13" name="Ollama LLMs"/>
          <p:cNvSpPr/>
          <p:nvPr/>
        </p:nvSpPr>
        <p:spPr>
          <a:xfrm>
            <a:off x="7589520" y="2651760"/>
            <a:ext cx="3017520" cy="1097280"/>
          </a:xfrm>
          <a:prstGeom prst="roundRect">
            <a:avLst>
              <a:gd name="adj" fmla="val 833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14" name="Image 2" descr="/home/claude/ppt2/assets/FaRobot_p.png">    </p:cNvPr>
          <p:cNvPicPr>
            <a:picLocks noChangeAspect="1"/>
          </p:cNvPicPr>
          <p:nvPr/>
        </p:nvPicPr>
        <p:blipFill>
          <a:blip r:embed="rId3"/>
          <a:stretch>
            <a:fillRect/>
          </a:stretch>
        </p:blipFill>
        <p:spPr>
          <a:xfrm>
            <a:off x="7772400" y="2880360"/>
            <a:ext cx="640080" cy="640080"/>
          </a:xfrm>
          <a:prstGeom prst="rect">
            <a:avLst/>
          </a:prstGeom>
        </p:spPr>
      </p:pic>
      <p:sp>
        <p:nvSpPr>
          <p:cNvPr id="15" name="Text 10"/>
          <p:cNvSpPr/>
          <p:nvPr/>
        </p:nvSpPr>
        <p:spPr>
          <a:xfrm>
            <a:off x="8549640" y="2697480"/>
            <a:ext cx="2011680" cy="1005840"/>
          </a:xfrm>
          <a:prstGeom prst="rect">
            <a:avLst/>
          </a:prstGeom>
          <a:noFill/>
          <a:ln/>
        </p:spPr>
        <p:txBody>
          <a:bodyPr wrap="square" lIns="0" tIns="0" rIns="0" bIns="0" rtlCol="0" anchor="ctr"/>
          <a:lstStyle/>
          <a:p>
            <a:pPr algn="l" indent="0" marL="0">
              <a:lnSpc>
                <a:spcPct val="110000"/>
              </a:lnSpc>
              <a:buNone/>
            </a:pPr>
            <a:r>
              <a:rPr lang="en-US" sz="1700" b="1" dirty="0">
                <a:solidFill>
                  <a:srgbClr val="222222"/>
                </a:solidFill>
                <a:latin typeface="Arial" pitchFamily="34" charset="0"/>
                <a:ea typeface="Arial" pitchFamily="34" charset="-122"/>
                <a:cs typeface="Arial" pitchFamily="34" charset="-120"/>
              </a:rPr>
              <a:t>Ollama LLMs</a:t>
            </a:r>
            <a:endParaRPr lang="en-US" sz="1700" dirty="0"/>
          </a:p>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Llama 3.1 · Qwen 2.5</a:t>
            </a:r>
            <a:endParaRPr lang="en-US" sz="1700" dirty="0"/>
          </a:p>
        </p:txBody>
      </p:sp>
      <p:sp>
        <p:nvSpPr>
          <p:cNvPr id="16" name="Hybrid RAG"/>
          <p:cNvSpPr/>
          <p:nvPr/>
        </p:nvSpPr>
        <p:spPr>
          <a:xfrm>
            <a:off x="10789920" y="2651760"/>
            <a:ext cx="3017520" cy="1097280"/>
          </a:xfrm>
          <a:prstGeom prst="roundRect">
            <a:avLst>
              <a:gd name="adj" fmla="val 833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17" name="Image 3" descr="/home/claude/ppt2/assets/FaSearch_p.png">    </p:cNvPr>
          <p:cNvPicPr>
            <a:picLocks noChangeAspect="1"/>
          </p:cNvPicPr>
          <p:nvPr/>
        </p:nvPicPr>
        <p:blipFill>
          <a:blip r:embed="rId4"/>
          <a:stretch>
            <a:fillRect/>
          </a:stretch>
        </p:blipFill>
        <p:spPr>
          <a:xfrm>
            <a:off x="10972800" y="2880360"/>
            <a:ext cx="640080" cy="640080"/>
          </a:xfrm>
          <a:prstGeom prst="rect">
            <a:avLst/>
          </a:prstGeom>
        </p:spPr>
      </p:pic>
      <p:sp>
        <p:nvSpPr>
          <p:cNvPr id="18" name="Text 12"/>
          <p:cNvSpPr/>
          <p:nvPr/>
        </p:nvSpPr>
        <p:spPr>
          <a:xfrm>
            <a:off x="11750040" y="2697480"/>
            <a:ext cx="2011680" cy="1005840"/>
          </a:xfrm>
          <a:prstGeom prst="rect">
            <a:avLst/>
          </a:prstGeom>
          <a:noFill/>
          <a:ln/>
        </p:spPr>
        <p:txBody>
          <a:bodyPr wrap="square" lIns="0" tIns="0" rIns="0" bIns="0" rtlCol="0" anchor="ctr"/>
          <a:lstStyle/>
          <a:p>
            <a:pPr algn="l" indent="0" marL="0">
              <a:lnSpc>
                <a:spcPct val="110000"/>
              </a:lnSpc>
              <a:buNone/>
            </a:pPr>
            <a:r>
              <a:rPr lang="en-US" sz="1700" b="1" dirty="0">
                <a:solidFill>
                  <a:srgbClr val="222222"/>
                </a:solidFill>
                <a:latin typeface="Arial" pitchFamily="34" charset="0"/>
                <a:ea typeface="Arial" pitchFamily="34" charset="-122"/>
                <a:cs typeface="Arial" pitchFamily="34" charset="-120"/>
              </a:rPr>
              <a:t>Hybrid RAG</a:t>
            </a:r>
            <a:endParaRPr lang="en-US" sz="1700" dirty="0"/>
          </a:p>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embeddings + TF-IDF</a:t>
            </a:r>
            <a:endParaRPr lang="en-US" sz="1700" dirty="0"/>
          </a:p>
        </p:txBody>
      </p:sp>
      <p:sp>
        <p:nvSpPr>
          <p:cNvPr id="19" name="SQLite"/>
          <p:cNvSpPr/>
          <p:nvPr/>
        </p:nvSpPr>
        <p:spPr>
          <a:xfrm>
            <a:off x="13990320" y="2651760"/>
            <a:ext cx="3017520" cy="1097280"/>
          </a:xfrm>
          <a:prstGeom prst="roundRect">
            <a:avLst>
              <a:gd name="adj" fmla="val 833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20" name="Image 4" descr="/home/claude/ppt2/assets/FaDatabase_p.png">    </p:cNvPr>
          <p:cNvPicPr>
            <a:picLocks noChangeAspect="1"/>
          </p:cNvPicPr>
          <p:nvPr/>
        </p:nvPicPr>
        <p:blipFill>
          <a:blip r:embed="rId5"/>
          <a:stretch>
            <a:fillRect/>
          </a:stretch>
        </p:blipFill>
        <p:spPr>
          <a:xfrm>
            <a:off x="14173200" y="2880360"/>
            <a:ext cx="640080" cy="640080"/>
          </a:xfrm>
          <a:prstGeom prst="rect">
            <a:avLst/>
          </a:prstGeom>
        </p:spPr>
      </p:pic>
      <p:sp>
        <p:nvSpPr>
          <p:cNvPr id="21" name="Text 14"/>
          <p:cNvSpPr/>
          <p:nvPr/>
        </p:nvSpPr>
        <p:spPr>
          <a:xfrm>
            <a:off x="14950440" y="2697480"/>
            <a:ext cx="2011680" cy="1005840"/>
          </a:xfrm>
          <a:prstGeom prst="rect">
            <a:avLst/>
          </a:prstGeom>
          <a:noFill/>
          <a:ln/>
        </p:spPr>
        <p:txBody>
          <a:bodyPr wrap="square" lIns="0" tIns="0" rIns="0" bIns="0" rtlCol="0" anchor="ctr"/>
          <a:lstStyle/>
          <a:p>
            <a:pPr algn="l" indent="0" marL="0">
              <a:lnSpc>
                <a:spcPct val="110000"/>
              </a:lnSpc>
              <a:buNone/>
            </a:pPr>
            <a:r>
              <a:rPr lang="en-US" sz="1700" b="1" dirty="0">
                <a:solidFill>
                  <a:srgbClr val="222222"/>
                </a:solidFill>
                <a:latin typeface="Arial" pitchFamily="34" charset="0"/>
                <a:ea typeface="Arial" pitchFamily="34" charset="-122"/>
                <a:cs typeface="Arial" pitchFamily="34" charset="-120"/>
              </a:rPr>
              <a:t>SQLite</a:t>
            </a:r>
            <a:endParaRPr lang="en-US" sz="1700" dirty="0"/>
          </a:p>
          <a:p>
            <a:pPr algn="l" indent="0" marL="0">
              <a:lnSpc>
                <a:spcPct val="110000"/>
              </a:lnSpc>
              <a:buNone/>
            </a:pPr>
            <a:r>
              <a:rPr lang="en-US" sz="1200" dirty="0">
                <a:solidFill>
                  <a:srgbClr val="555555"/>
                </a:solidFill>
                <a:latin typeface="Arial" pitchFamily="34" charset="0"/>
                <a:ea typeface="Arial" pitchFamily="34" charset="-122"/>
                <a:cs typeface="Arial" pitchFamily="34" charset="-120"/>
              </a:rPr>
              <a:t>memory + plans</a:t>
            </a:r>
            <a:endParaRPr lang="en-US" sz="1700" dirty="0"/>
          </a:p>
        </p:txBody>
      </p:sp>
      <p:sp>
        <p:nvSpPr>
          <p:cNvPr id="22" name="Text 15"/>
          <p:cNvSpPr/>
          <p:nvPr/>
        </p:nvSpPr>
        <p:spPr>
          <a:xfrm>
            <a:off x="1188720" y="3931920"/>
            <a:ext cx="3657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5B2D8F"/>
                </a:solidFill>
                <a:latin typeface="Arial" pitchFamily="34" charset="0"/>
                <a:ea typeface="Arial" pitchFamily="34" charset="-122"/>
                <a:cs typeface="Arial" pitchFamily="34" charset="-120"/>
              </a:rPr>
              <a:t>Implementation Flow</a:t>
            </a:r>
            <a:endParaRPr lang="en-US" sz="1500" dirty="0"/>
          </a:p>
        </p:txBody>
      </p:sp>
      <p:sp>
        <p:nvSpPr>
          <p:cNvPr id="23" name="User"/>
          <p:cNvSpPr/>
          <p:nvPr/>
        </p:nvSpPr>
        <p:spPr>
          <a:xfrm>
            <a:off x="1188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24" name="Image 5" descr="/home/claude/ppt2/assets/FaComments_p.png">    </p:cNvPr>
          <p:cNvPicPr>
            <a:picLocks noChangeAspect="1"/>
          </p:cNvPicPr>
          <p:nvPr/>
        </p:nvPicPr>
        <p:blipFill>
          <a:blip r:embed="rId6"/>
          <a:stretch>
            <a:fillRect/>
          </a:stretch>
        </p:blipFill>
        <p:spPr>
          <a:xfrm>
            <a:off x="1874520" y="4480560"/>
            <a:ext cx="640080" cy="640080"/>
          </a:xfrm>
          <a:prstGeom prst="rect">
            <a:avLst/>
          </a:prstGeom>
        </p:spPr>
      </p:pic>
      <p:sp>
        <p:nvSpPr>
          <p:cNvPr id="25" name="Text 17"/>
          <p:cNvSpPr/>
          <p:nvPr/>
        </p:nvSpPr>
        <p:spPr>
          <a:xfrm>
            <a:off x="1234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User</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asks in chat</a:t>
            </a:r>
            <a:endParaRPr lang="en-US" sz="1400" dirty="0"/>
          </a:p>
        </p:txBody>
      </p:sp>
      <p:sp>
        <p:nvSpPr>
          <p:cNvPr id="26" name="Shape 18"/>
          <p:cNvSpPr/>
          <p:nvPr/>
        </p:nvSpPr>
        <p:spPr>
          <a:xfrm>
            <a:off x="3200400" y="5212080"/>
            <a:ext cx="274320" cy="0"/>
          </a:xfrm>
          <a:prstGeom prst="line">
            <a:avLst/>
          </a:prstGeom>
          <a:noFill/>
          <a:ln w="15875">
            <a:solidFill>
              <a:srgbClr val="555555"/>
            </a:solidFill>
            <a:prstDash val="solid"/>
            <a:tailEnd type="triangle"/>
          </a:ln>
        </p:spPr>
      </p:sp>
      <p:sp>
        <p:nvSpPr>
          <p:cNvPr id="27" name="Perception"/>
          <p:cNvSpPr/>
          <p:nvPr/>
        </p:nvSpPr>
        <p:spPr>
          <a:xfrm>
            <a:off x="3474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28" name="Image 6" descr="/home/claude/ppt2/assets/FaBrain_p.png">    </p:cNvPr>
          <p:cNvPicPr>
            <a:picLocks noChangeAspect="1"/>
          </p:cNvPicPr>
          <p:nvPr/>
        </p:nvPicPr>
        <p:blipFill>
          <a:blip r:embed="rId7"/>
          <a:stretch>
            <a:fillRect/>
          </a:stretch>
        </p:blipFill>
        <p:spPr>
          <a:xfrm>
            <a:off x="4160520" y="4480560"/>
            <a:ext cx="640080" cy="640080"/>
          </a:xfrm>
          <a:prstGeom prst="rect">
            <a:avLst/>
          </a:prstGeom>
        </p:spPr>
      </p:pic>
      <p:sp>
        <p:nvSpPr>
          <p:cNvPr id="29" name="Text 20"/>
          <p:cNvSpPr/>
          <p:nvPr/>
        </p:nvSpPr>
        <p:spPr>
          <a:xfrm>
            <a:off x="3520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Perception</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mood, intent, red flags</a:t>
            </a:r>
            <a:endParaRPr lang="en-US" sz="1400" dirty="0"/>
          </a:p>
        </p:txBody>
      </p:sp>
      <p:sp>
        <p:nvSpPr>
          <p:cNvPr id="30" name="Shape 21"/>
          <p:cNvSpPr/>
          <p:nvPr/>
        </p:nvSpPr>
        <p:spPr>
          <a:xfrm>
            <a:off x="5486400" y="5212080"/>
            <a:ext cx="274320" cy="0"/>
          </a:xfrm>
          <a:prstGeom prst="line">
            <a:avLst/>
          </a:prstGeom>
          <a:noFill/>
          <a:ln w="15875">
            <a:solidFill>
              <a:srgbClr val="555555"/>
            </a:solidFill>
            <a:prstDash val="solid"/>
            <a:tailEnd type="triangle"/>
          </a:ln>
        </p:spPr>
      </p:sp>
      <p:sp>
        <p:nvSpPr>
          <p:cNvPr id="31" name="Supervisor"/>
          <p:cNvSpPr/>
          <p:nvPr/>
        </p:nvSpPr>
        <p:spPr>
          <a:xfrm>
            <a:off x="5760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32" name="Image 7" descr="/home/claude/ppt2/assets/FaRobot_p.png">    </p:cNvPr>
          <p:cNvPicPr>
            <a:picLocks noChangeAspect="1"/>
          </p:cNvPicPr>
          <p:nvPr/>
        </p:nvPicPr>
        <p:blipFill>
          <a:blip r:embed="rId8"/>
          <a:stretch>
            <a:fillRect/>
          </a:stretch>
        </p:blipFill>
        <p:spPr>
          <a:xfrm>
            <a:off x="6446520" y="4480560"/>
            <a:ext cx="640080" cy="640080"/>
          </a:xfrm>
          <a:prstGeom prst="rect">
            <a:avLst/>
          </a:prstGeom>
        </p:spPr>
      </p:pic>
      <p:sp>
        <p:nvSpPr>
          <p:cNvPr id="33" name="Text 23"/>
          <p:cNvSpPr/>
          <p:nvPr/>
        </p:nvSpPr>
        <p:spPr>
          <a:xfrm>
            <a:off x="5806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Supervisor</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routes agents</a:t>
            </a:r>
            <a:endParaRPr lang="en-US" sz="1400" dirty="0"/>
          </a:p>
        </p:txBody>
      </p:sp>
      <p:sp>
        <p:nvSpPr>
          <p:cNvPr id="34" name="Shape 24"/>
          <p:cNvSpPr/>
          <p:nvPr/>
        </p:nvSpPr>
        <p:spPr>
          <a:xfrm>
            <a:off x="7772400" y="5212080"/>
            <a:ext cx="274320" cy="0"/>
          </a:xfrm>
          <a:prstGeom prst="line">
            <a:avLst/>
          </a:prstGeom>
          <a:noFill/>
          <a:ln w="15875">
            <a:solidFill>
              <a:srgbClr val="555555"/>
            </a:solidFill>
            <a:prstDash val="solid"/>
            <a:tailEnd type="triangle"/>
          </a:ln>
        </p:spPr>
      </p:sp>
      <p:sp>
        <p:nvSpPr>
          <p:cNvPr id="35" name="Research"/>
          <p:cNvSpPr/>
          <p:nvPr/>
        </p:nvSpPr>
        <p:spPr>
          <a:xfrm>
            <a:off x="8046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36" name="Image 8" descr="/home/claude/ppt2/assets/FaSearch_p.png">    </p:cNvPr>
          <p:cNvPicPr>
            <a:picLocks noChangeAspect="1"/>
          </p:cNvPicPr>
          <p:nvPr/>
        </p:nvPicPr>
        <p:blipFill>
          <a:blip r:embed="rId9"/>
          <a:stretch>
            <a:fillRect/>
          </a:stretch>
        </p:blipFill>
        <p:spPr>
          <a:xfrm>
            <a:off x="8732520" y="4480560"/>
            <a:ext cx="640080" cy="640080"/>
          </a:xfrm>
          <a:prstGeom prst="rect">
            <a:avLst/>
          </a:prstGeom>
        </p:spPr>
      </p:pic>
      <p:sp>
        <p:nvSpPr>
          <p:cNvPr id="37" name="Text 26"/>
          <p:cNvSpPr/>
          <p:nvPr/>
        </p:nvSpPr>
        <p:spPr>
          <a:xfrm>
            <a:off x="8092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Research</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cited evidence</a:t>
            </a:r>
            <a:endParaRPr lang="en-US" sz="1400" dirty="0"/>
          </a:p>
        </p:txBody>
      </p:sp>
      <p:sp>
        <p:nvSpPr>
          <p:cNvPr id="38" name="Shape 27"/>
          <p:cNvSpPr/>
          <p:nvPr/>
        </p:nvSpPr>
        <p:spPr>
          <a:xfrm>
            <a:off x="10058400" y="5212080"/>
            <a:ext cx="274320" cy="0"/>
          </a:xfrm>
          <a:prstGeom prst="line">
            <a:avLst/>
          </a:prstGeom>
          <a:noFill/>
          <a:ln w="15875">
            <a:solidFill>
              <a:srgbClr val="555555"/>
            </a:solidFill>
            <a:prstDash val="solid"/>
            <a:tailEnd type="triangle"/>
          </a:ln>
        </p:spPr>
      </p:sp>
      <p:sp>
        <p:nvSpPr>
          <p:cNvPr id="39" name="Specialists"/>
          <p:cNvSpPr/>
          <p:nvPr/>
        </p:nvSpPr>
        <p:spPr>
          <a:xfrm>
            <a:off x="10332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40" name="Image 9" descr="/home/claude/ppt2/assets/FaUserFriends_p.png">    </p:cNvPr>
          <p:cNvPicPr>
            <a:picLocks noChangeAspect="1"/>
          </p:cNvPicPr>
          <p:nvPr/>
        </p:nvPicPr>
        <p:blipFill>
          <a:blip r:embed="rId10"/>
          <a:stretch>
            <a:fillRect/>
          </a:stretch>
        </p:blipFill>
        <p:spPr>
          <a:xfrm>
            <a:off x="11018520" y="4480560"/>
            <a:ext cx="640080" cy="640080"/>
          </a:xfrm>
          <a:prstGeom prst="rect">
            <a:avLst/>
          </a:prstGeom>
        </p:spPr>
      </p:pic>
      <p:sp>
        <p:nvSpPr>
          <p:cNvPr id="41" name="Text 29"/>
          <p:cNvSpPr/>
          <p:nvPr/>
        </p:nvSpPr>
        <p:spPr>
          <a:xfrm>
            <a:off x="10378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Specialists</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parallel advice</a:t>
            </a:r>
            <a:endParaRPr lang="en-US" sz="1400" dirty="0"/>
          </a:p>
        </p:txBody>
      </p:sp>
      <p:sp>
        <p:nvSpPr>
          <p:cNvPr id="42" name="Shape 30"/>
          <p:cNvSpPr/>
          <p:nvPr/>
        </p:nvSpPr>
        <p:spPr>
          <a:xfrm>
            <a:off x="12344400" y="5212080"/>
            <a:ext cx="274320" cy="0"/>
          </a:xfrm>
          <a:prstGeom prst="line">
            <a:avLst/>
          </a:prstGeom>
          <a:noFill/>
          <a:ln w="15875">
            <a:solidFill>
              <a:srgbClr val="555555"/>
            </a:solidFill>
            <a:prstDash val="solid"/>
            <a:tailEnd type="triangle"/>
          </a:ln>
        </p:spPr>
      </p:sp>
      <p:sp>
        <p:nvSpPr>
          <p:cNvPr id="43" name="Safety"/>
          <p:cNvSpPr/>
          <p:nvPr/>
        </p:nvSpPr>
        <p:spPr>
          <a:xfrm>
            <a:off x="12618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44" name="Image 10" descr="/home/claude/ppt2/assets/FaShieldAlt_p.png">    </p:cNvPr>
          <p:cNvPicPr>
            <a:picLocks noChangeAspect="1"/>
          </p:cNvPicPr>
          <p:nvPr/>
        </p:nvPicPr>
        <p:blipFill>
          <a:blip r:embed="rId11"/>
          <a:stretch>
            <a:fillRect/>
          </a:stretch>
        </p:blipFill>
        <p:spPr>
          <a:xfrm>
            <a:off x="13304520" y="4480560"/>
            <a:ext cx="640080" cy="640080"/>
          </a:xfrm>
          <a:prstGeom prst="rect">
            <a:avLst/>
          </a:prstGeom>
        </p:spPr>
      </p:pic>
      <p:sp>
        <p:nvSpPr>
          <p:cNvPr id="45" name="Text 32"/>
          <p:cNvSpPr/>
          <p:nvPr/>
        </p:nvSpPr>
        <p:spPr>
          <a:xfrm>
            <a:off x="12664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Safety</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guardian + critic</a:t>
            </a:r>
            <a:endParaRPr lang="en-US" sz="1400" dirty="0"/>
          </a:p>
        </p:txBody>
      </p:sp>
      <p:sp>
        <p:nvSpPr>
          <p:cNvPr id="46" name="Shape 33"/>
          <p:cNvSpPr/>
          <p:nvPr/>
        </p:nvSpPr>
        <p:spPr>
          <a:xfrm>
            <a:off x="14630400" y="5212080"/>
            <a:ext cx="274320" cy="0"/>
          </a:xfrm>
          <a:prstGeom prst="line">
            <a:avLst/>
          </a:prstGeom>
          <a:noFill/>
          <a:ln w="15875">
            <a:solidFill>
              <a:srgbClr val="555555"/>
            </a:solidFill>
            <a:prstDash val="solid"/>
            <a:tailEnd type="triangle"/>
          </a:ln>
        </p:spPr>
      </p:sp>
      <p:sp>
        <p:nvSpPr>
          <p:cNvPr id="47" name="Approval"/>
          <p:cNvSpPr/>
          <p:nvPr/>
        </p:nvSpPr>
        <p:spPr>
          <a:xfrm>
            <a:off x="14904720" y="4343400"/>
            <a:ext cx="2011680" cy="1737360"/>
          </a:xfrm>
          <a:prstGeom prst="roundRect">
            <a:avLst>
              <a:gd name="adj" fmla="val 5263"/>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pic>
        <p:nvPicPr>
          <p:cNvPr id="48" name="Image 11" descr="/home/claude/ppt2/assets/FaUserCheck_p.png">    </p:cNvPr>
          <p:cNvPicPr>
            <a:picLocks noChangeAspect="1"/>
          </p:cNvPicPr>
          <p:nvPr/>
        </p:nvPicPr>
        <p:blipFill>
          <a:blip r:embed="rId12"/>
          <a:stretch>
            <a:fillRect/>
          </a:stretch>
        </p:blipFill>
        <p:spPr>
          <a:xfrm>
            <a:off x="15590520" y="4480560"/>
            <a:ext cx="640080" cy="640080"/>
          </a:xfrm>
          <a:prstGeom prst="rect">
            <a:avLst/>
          </a:prstGeom>
        </p:spPr>
      </p:pic>
      <p:sp>
        <p:nvSpPr>
          <p:cNvPr id="49" name="Text 35"/>
          <p:cNvSpPr/>
          <p:nvPr/>
        </p:nvSpPr>
        <p:spPr>
          <a:xfrm>
            <a:off x="14950440" y="5166360"/>
            <a:ext cx="1920240" cy="868680"/>
          </a:xfrm>
          <a:prstGeom prst="rect">
            <a:avLst/>
          </a:prstGeom>
          <a:noFill/>
          <a:ln/>
        </p:spPr>
        <p:txBody>
          <a:bodyPr wrap="square" lIns="0" tIns="0" rIns="0" bIns="0" rtlCol="0" anchor="t"/>
          <a:lstStyle/>
          <a:p>
            <a:pPr algn="ctr" indent="0" marL="0">
              <a:lnSpc>
                <a:spcPct val="110000"/>
              </a:lnSpc>
              <a:buNone/>
            </a:pPr>
            <a:r>
              <a:rPr lang="en-US" sz="1400" b="1" dirty="0">
                <a:solidFill>
                  <a:srgbClr val="222222"/>
                </a:solidFill>
                <a:latin typeface="Arial" pitchFamily="34" charset="0"/>
                <a:ea typeface="Arial" pitchFamily="34" charset="-122"/>
                <a:cs typeface="Arial" pitchFamily="34" charset="-120"/>
              </a:rPr>
              <a:t>Approval</a:t>
            </a:r>
            <a:endParaRPr lang="en-US" sz="1400" dirty="0"/>
          </a:p>
          <a:p>
            <a:pPr algn="ctr" indent="0" marL="0">
              <a:lnSpc>
                <a:spcPct val="110000"/>
              </a:lnSpc>
              <a:buNone/>
            </a:pPr>
            <a:r>
              <a:rPr lang="en-US" sz="1100" dirty="0">
                <a:solidFill>
                  <a:srgbClr val="555555"/>
                </a:solidFill>
                <a:latin typeface="Arial" pitchFamily="34" charset="0"/>
                <a:ea typeface="Arial" pitchFamily="34" charset="-122"/>
                <a:cs typeface="Arial" pitchFamily="34" charset="-120"/>
              </a:rPr>
              <a:t>plan updated</a:t>
            </a:r>
            <a:endParaRPr lang="en-US" sz="1400" dirty="0"/>
          </a:p>
        </p:txBody>
      </p:sp>
      <p:sp>
        <p:nvSpPr>
          <p:cNvPr id="50" name="Text 36"/>
          <p:cNvSpPr/>
          <p:nvPr/>
        </p:nvSpPr>
        <p:spPr>
          <a:xfrm>
            <a:off x="1188720" y="6263640"/>
            <a:ext cx="3657600" cy="365760"/>
          </a:xfrm>
          <a:prstGeom prst="rect">
            <a:avLst/>
          </a:prstGeom>
          <a:noFill/>
          <a:ln/>
        </p:spPr>
        <p:txBody>
          <a:bodyPr wrap="square" lIns="0" tIns="0" rIns="0" bIns="0" rtlCol="0" anchor="t"/>
          <a:lstStyle/>
          <a:p>
            <a:pPr algn="l" indent="0" marL="0">
              <a:lnSpc>
                <a:spcPct val="110000"/>
              </a:lnSpc>
              <a:buNone/>
            </a:pPr>
            <a:r>
              <a:rPr lang="en-US" sz="1500" b="1" dirty="0">
                <a:solidFill>
                  <a:srgbClr val="5B2D8F"/>
                </a:solidFill>
                <a:latin typeface="Arial" pitchFamily="34" charset="0"/>
                <a:ea typeface="Arial" pitchFamily="34" charset="-122"/>
                <a:cs typeface="Arial" pitchFamily="34" charset="-120"/>
              </a:rPr>
              <a:t>Functional Prototype</a:t>
            </a:r>
            <a:endParaRPr lang="en-US" sz="1500" dirty="0"/>
          </a:p>
        </p:txBody>
      </p:sp>
      <p:sp>
        <p:nvSpPr>
          <p:cNvPr id="51" name="Prototype 1"/>
          <p:cNvSpPr/>
          <p:nvPr/>
        </p:nvSpPr>
        <p:spPr>
          <a:xfrm>
            <a:off x="1188720" y="6675120"/>
            <a:ext cx="3017520" cy="2194560"/>
          </a:xfrm>
          <a:prstGeom prst="roundRect">
            <a:avLst>
              <a:gd name="adj" fmla="val 416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52" name="Shape 38"/>
          <p:cNvSpPr/>
          <p:nvPr/>
        </p:nvSpPr>
        <p:spPr>
          <a:xfrm>
            <a:off x="1371600" y="6812280"/>
            <a:ext cx="438912" cy="438912"/>
          </a:xfrm>
          <a:prstGeom prst="ellipse">
            <a:avLst/>
          </a:prstGeom>
          <a:solidFill>
            <a:srgbClr val="F5C519"/>
          </a:solidFill>
          <a:ln w="12700">
            <a:solidFill>
              <a:srgbClr val="F5C519"/>
            </a:solidFill>
            <a:prstDash val="solid"/>
          </a:ln>
        </p:spPr>
      </p:sp>
      <p:sp>
        <p:nvSpPr>
          <p:cNvPr id="53" name="Text 39"/>
          <p:cNvSpPr/>
          <p:nvPr/>
        </p:nvSpPr>
        <p:spPr>
          <a:xfrm>
            <a:off x="1371600" y="681228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1</a:t>
            </a:r>
            <a:endParaRPr lang="en-US" sz="1200" dirty="0"/>
          </a:p>
        </p:txBody>
      </p:sp>
      <p:sp>
        <p:nvSpPr>
          <p:cNvPr id="54" name="Text 40"/>
          <p:cNvSpPr/>
          <p:nvPr/>
        </p:nvSpPr>
        <p:spPr>
          <a:xfrm>
            <a:off x="1417320" y="7360920"/>
            <a:ext cx="2651760" cy="141732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Login, profile and dashboard with daily plan</a:t>
            </a:r>
            <a:endParaRPr lang="en-US" sz="1800" dirty="0"/>
          </a:p>
        </p:txBody>
      </p:sp>
      <p:sp>
        <p:nvSpPr>
          <p:cNvPr id="55" name="Prototype 2"/>
          <p:cNvSpPr/>
          <p:nvPr/>
        </p:nvSpPr>
        <p:spPr>
          <a:xfrm>
            <a:off x="4389120" y="6675120"/>
            <a:ext cx="3017520" cy="2194560"/>
          </a:xfrm>
          <a:prstGeom prst="roundRect">
            <a:avLst>
              <a:gd name="adj" fmla="val 416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56" name="Shape 42"/>
          <p:cNvSpPr/>
          <p:nvPr/>
        </p:nvSpPr>
        <p:spPr>
          <a:xfrm>
            <a:off x="4572000" y="6812280"/>
            <a:ext cx="438912" cy="438912"/>
          </a:xfrm>
          <a:prstGeom prst="ellipse">
            <a:avLst/>
          </a:prstGeom>
          <a:solidFill>
            <a:srgbClr val="F5C519"/>
          </a:solidFill>
          <a:ln w="12700">
            <a:solidFill>
              <a:srgbClr val="F5C519"/>
            </a:solidFill>
            <a:prstDash val="solid"/>
          </a:ln>
        </p:spPr>
      </p:sp>
      <p:sp>
        <p:nvSpPr>
          <p:cNvPr id="57" name="Text 43"/>
          <p:cNvSpPr/>
          <p:nvPr/>
        </p:nvSpPr>
        <p:spPr>
          <a:xfrm>
            <a:off x="4572000" y="681228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2</a:t>
            </a:r>
            <a:endParaRPr lang="en-US" sz="1200" dirty="0"/>
          </a:p>
        </p:txBody>
      </p:sp>
      <p:sp>
        <p:nvSpPr>
          <p:cNvPr id="58" name="Text 44"/>
          <p:cNvSpPr/>
          <p:nvPr/>
        </p:nvSpPr>
        <p:spPr>
          <a:xfrm>
            <a:off x="4617720" y="7360920"/>
            <a:ext cx="2651760" cy="141732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AI Coach chat with team activity and approval cards</a:t>
            </a:r>
            <a:endParaRPr lang="en-US" sz="1800" dirty="0"/>
          </a:p>
        </p:txBody>
      </p:sp>
      <p:sp>
        <p:nvSpPr>
          <p:cNvPr id="59" name="Prototype 3"/>
          <p:cNvSpPr/>
          <p:nvPr/>
        </p:nvSpPr>
        <p:spPr>
          <a:xfrm>
            <a:off x="7589520" y="6675120"/>
            <a:ext cx="3017520" cy="2194560"/>
          </a:xfrm>
          <a:prstGeom prst="roundRect">
            <a:avLst>
              <a:gd name="adj" fmla="val 416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60" name="Shape 46"/>
          <p:cNvSpPr/>
          <p:nvPr/>
        </p:nvSpPr>
        <p:spPr>
          <a:xfrm>
            <a:off x="7772400" y="6812280"/>
            <a:ext cx="438912" cy="438912"/>
          </a:xfrm>
          <a:prstGeom prst="ellipse">
            <a:avLst/>
          </a:prstGeom>
          <a:solidFill>
            <a:srgbClr val="F5C519"/>
          </a:solidFill>
          <a:ln w="12700">
            <a:solidFill>
              <a:srgbClr val="F5C519"/>
            </a:solidFill>
            <a:prstDash val="solid"/>
          </a:ln>
        </p:spPr>
      </p:sp>
      <p:sp>
        <p:nvSpPr>
          <p:cNvPr id="61" name="Text 47"/>
          <p:cNvSpPr/>
          <p:nvPr/>
        </p:nvSpPr>
        <p:spPr>
          <a:xfrm>
            <a:off x="7772400" y="681228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3</a:t>
            </a:r>
            <a:endParaRPr lang="en-US" sz="1200" dirty="0"/>
          </a:p>
        </p:txBody>
      </p:sp>
      <p:sp>
        <p:nvSpPr>
          <p:cNvPr id="62" name="Text 48"/>
          <p:cNvSpPr/>
          <p:nvPr/>
        </p:nvSpPr>
        <p:spPr>
          <a:xfrm>
            <a:off x="7818120" y="7360920"/>
            <a:ext cx="2651760" cy="141732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Diet Team builds a condition-aware 7-day plan</a:t>
            </a:r>
            <a:endParaRPr lang="en-US" sz="1800" dirty="0"/>
          </a:p>
        </p:txBody>
      </p:sp>
      <p:sp>
        <p:nvSpPr>
          <p:cNvPr id="63" name="Prototype 4"/>
          <p:cNvSpPr/>
          <p:nvPr/>
        </p:nvSpPr>
        <p:spPr>
          <a:xfrm>
            <a:off x="10789920" y="6675120"/>
            <a:ext cx="3017520" cy="2194560"/>
          </a:xfrm>
          <a:prstGeom prst="roundRect">
            <a:avLst>
              <a:gd name="adj" fmla="val 416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64" name="Shape 50"/>
          <p:cNvSpPr/>
          <p:nvPr/>
        </p:nvSpPr>
        <p:spPr>
          <a:xfrm>
            <a:off x="10972800" y="6812280"/>
            <a:ext cx="438912" cy="438912"/>
          </a:xfrm>
          <a:prstGeom prst="ellipse">
            <a:avLst/>
          </a:prstGeom>
          <a:solidFill>
            <a:srgbClr val="F5C519"/>
          </a:solidFill>
          <a:ln w="12700">
            <a:solidFill>
              <a:srgbClr val="F5C519"/>
            </a:solidFill>
            <a:prstDash val="solid"/>
          </a:ln>
        </p:spPr>
      </p:sp>
      <p:sp>
        <p:nvSpPr>
          <p:cNvPr id="65" name="Text 51"/>
          <p:cNvSpPr/>
          <p:nvPr/>
        </p:nvSpPr>
        <p:spPr>
          <a:xfrm>
            <a:off x="10972800" y="681228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4</a:t>
            </a:r>
            <a:endParaRPr lang="en-US" sz="1200" dirty="0"/>
          </a:p>
        </p:txBody>
      </p:sp>
      <p:sp>
        <p:nvSpPr>
          <p:cNvPr id="66" name="Text 52"/>
          <p:cNvSpPr/>
          <p:nvPr/>
        </p:nvSpPr>
        <p:spPr>
          <a:xfrm>
            <a:off x="11018520" y="7360920"/>
            <a:ext cx="2651760" cy="141732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Weekly Review sets goals and adapts the diet</a:t>
            </a:r>
            <a:endParaRPr lang="en-US" sz="1800" dirty="0"/>
          </a:p>
        </p:txBody>
      </p:sp>
      <p:sp>
        <p:nvSpPr>
          <p:cNvPr id="67" name="Prototype 5"/>
          <p:cNvSpPr/>
          <p:nvPr/>
        </p:nvSpPr>
        <p:spPr>
          <a:xfrm>
            <a:off x="13990320" y="6675120"/>
            <a:ext cx="3017520" cy="2194560"/>
          </a:xfrm>
          <a:prstGeom prst="roundRect">
            <a:avLst>
              <a:gd name="adj" fmla="val 4167"/>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68" name="Shape 54"/>
          <p:cNvSpPr/>
          <p:nvPr/>
        </p:nvSpPr>
        <p:spPr>
          <a:xfrm>
            <a:off x="14173200" y="6812280"/>
            <a:ext cx="438912" cy="438912"/>
          </a:xfrm>
          <a:prstGeom prst="ellipse">
            <a:avLst/>
          </a:prstGeom>
          <a:solidFill>
            <a:srgbClr val="F5C519"/>
          </a:solidFill>
          <a:ln w="12700">
            <a:solidFill>
              <a:srgbClr val="F5C519"/>
            </a:solidFill>
            <a:prstDash val="solid"/>
          </a:ln>
        </p:spPr>
      </p:sp>
      <p:sp>
        <p:nvSpPr>
          <p:cNvPr id="69" name="Text 55"/>
          <p:cNvSpPr/>
          <p:nvPr/>
        </p:nvSpPr>
        <p:spPr>
          <a:xfrm>
            <a:off x="14173200" y="6812280"/>
            <a:ext cx="438912" cy="438912"/>
          </a:xfrm>
          <a:prstGeom prst="rect">
            <a:avLst/>
          </a:prstGeom>
          <a:noFill/>
          <a:ln/>
        </p:spPr>
        <p:txBody>
          <a:bodyPr wrap="square" lIns="0" tIns="0" rIns="0" bIns="0" rtlCol="0" anchor="ctr"/>
          <a:lstStyle/>
          <a:p>
            <a:pPr algn="ctr" indent="0" marL="0">
              <a:buNone/>
            </a:pPr>
            <a:r>
              <a:rPr lang="en-US" sz="1200" b="1" dirty="0">
                <a:solidFill>
                  <a:srgbClr val="111111"/>
                </a:solidFill>
              </a:rPr>
              <a:t>5</a:t>
            </a:r>
            <a:endParaRPr lang="en-US" sz="1200" dirty="0"/>
          </a:p>
        </p:txBody>
      </p:sp>
      <p:sp>
        <p:nvSpPr>
          <p:cNvPr id="70" name="Text 56"/>
          <p:cNvSpPr/>
          <p:nvPr/>
        </p:nvSpPr>
        <p:spPr>
          <a:xfrm>
            <a:off x="14218920" y="7360920"/>
            <a:ext cx="2651760" cy="1417320"/>
          </a:xfrm>
          <a:prstGeom prst="rect">
            <a:avLst/>
          </a:prstGeom>
          <a:noFill/>
          <a:ln/>
        </p:spPr>
        <p:txBody>
          <a:bodyPr wrap="square" lIns="0" tIns="0" rIns="0" bIns="0" rtlCol="0" anchor="t"/>
          <a:lstStyle/>
          <a:p>
            <a:pPr algn="l" indent="0" marL="0">
              <a:lnSpc>
                <a:spcPct val="110000"/>
              </a:lnSpc>
              <a:buNone/>
            </a:pPr>
            <a:r>
              <a:rPr lang="en-US" sz="1800" dirty="0">
                <a:solidFill>
                  <a:srgbClr val="222222"/>
                </a:solidFill>
                <a:latin typeface="Arial" pitchFamily="34" charset="0"/>
                <a:ea typeface="Arial" pitchFamily="34" charset="-122"/>
                <a:cs typeface="Arial" pitchFamily="34" charset="-120"/>
              </a:rPr>
              <a:t>Agent Activity timeline for traceability</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14</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FUNCTIONAL PROTOTYPE: SCREENSHOTS</a:t>
            </a:r>
            <a:endParaRPr lang="en-US" sz="4000" dirty="0"/>
          </a:p>
        </p:txBody>
      </p:sp>
      <p:pic>
        <p:nvPicPr>
          <p:cNvPr id="5" name="AI Coach: “my knees hurt” → team proposes a lighter, joint-safe workout for approval" descr="/home/claude/ppt2/assets/chat.jpg">    </p:cNvPr>
          <p:cNvPicPr>
            <a:picLocks noChangeAspect="1"/>
          </p:cNvPicPr>
          <p:nvPr/>
        </p:nvPicPr>
        <p:blipFill>
          <a:blip r:embed="rId1"/>
          <a:stretch>
            <a:fillRect/>
          </a:stretch>
        </p:blipFill>
        <p:spPr>
          <a:xfrm>
            <a:off x="1337121" y="2103120"/>
            <a:ext cx="7384157" cy="2788920"/>
          </a:xfrm>
          <a:prstGeom prst="rect">
            <a:avLst/>
          </a:prstGeom>
        </p:spPr>
      </p:pic>
      <p:sp>
        <p:nvSpPr>
          <p:cNvPr id="6" name="Shape 3"/>
          <p:cNvSpPr/>
          <p:nvPr/>
        </p:nvSpPr>
        <p:spPr>
          <a:xfrm>
            <a:off x="1337121" y="2103120"/>
            <a:ext cx="7384157" cy="2788920"/>
          </a:xfrm>
          <a:prstGeom prst="rect">
            <a:avLst/>
          </a:prstGeom>
          <a:ln w="12700">
            <a:solidFill>
              <a:srgbClr val="CFC6DC"/>
            </a:solidFill>
            <a:prstDash val="solid"/>
          </a:ln>
        </p:spPr>
      </p:sp>
      <p:sp>
        <p:nvSpPr>
          <p:cNvPr id="7" name="Text 4"/>
          <p:cNvSpPr/>
          <p:nvPr/>
        </p:nvSpPr>
        <p:spPr>
          <a:xfrm>
            <a:off x="1097280" y="4965192"/>
            <a:ext cx="7863840" cy="548640"/>
          </a:xfrm>
          <a:prstGeom prst="rect">
            <a:avLst/>
          </a:prstGeom>
          <a:noFill/>
          <a:ln/>
        </p:spPr>
        <p:txBody>
          <a:bodyPr wrap="square" lIns="0" tIns="0" rIns="0" bIns="0" rtlCol="0" anchor="t"/>
          <a:lstStyle/>
          <a:p>
            <a:pPr algn="ctr" indent="0" marL="0">
              <a:lnSpc>
                <a:spcPct val="110000"/>
              </a:lnSpc>
              <a:buNone/>
            </a:pPr>
            <a:r>
              <a:rPr lang="en-US" sz="1300" i="1" dirty="0">
                <a:solidFill>
                  <a:srgbClr val="333333"/>
                </a:solidFill>
                <a:latin typeface="Arial" pitchFamily="34" charset="0"/>
                <a:ea typeface="Arial" pitchFamily="34" charset="-122"/>
                <a:cs typeface="Arial" pitchFamily="34" charset="-120"/>
              </a:rPr>
              <a:t>AI Coach: “my knees hurt” → team proposes a lighter, joint-safe workout for approval</a:t>
            </a:r>
            <a:endParaRPr lang="en-US" sz="1300" dirty="0"/>
          </a:p>
        </p:txBody>
      </p:sp>
      <p:pic>
        <p:nvPicPr>
          <p:cNvPr id="8" name="Today's Diet Plan: vegan + high-BP targets, 5 meals, daily totals vs targets" descr="/home/claude/ppt2/assets/dietplan.jpg">    </p:cNvPr>
          <p:cNvPicPr>
            <a:picLocks noChangeAspect="1"/>
          </p:cNvPicPr>
          <p:nvPr/>
        </p:nvPicPr>
        <p:blipFill>
          <a:blip r:embed="rId2"/>
          <a:stretch>
            <a:fillRect/>
          </a:stretch>
        </p:blipFill>
        <p:spPr>
          <a:xfrm>
            <a:off x="10391959" y="2103120"/>
            <a:ext cx="5733682" cy="2788920"/>
          </a:xfrm>
          <a:prstGeom prst="rect">
            <a:avLst/>
          </a:prstGeom>
        </p:spPr>
      </p:pic>
      <p:sp>
        <p:nvSpPr>
          <p:cNvPr id="9" name="Shape 5"/>
          <p:cNvSpPr/>
          <p:nvPr/>
        </p:nvSpPr>
        <p:spPr>
          <a:xfrm>
            <a:off x="10391959" y="2103120"/>
            <a:ext cx="5733682" cy="2788920"/>
          </a:xfrm>
          <a:prstGeom prst="rect">
            <a:avLst/>
          </a:prstGeom>
          <a:ln w="12700">
            <a:solidFill>
              <a:srgbClr val="CFC6DC"/>
            </a:solidFill>
            <a:prstDash val="solid"/>
          </a:ln>
        </p:spPr>
      </p:sp>
      <p:sp>
        <p:nvSpPr>
          <p:cNvPr id="10" name="Text 6"/>
          <p:cNvSpPr/>
          <p:nvPr/>
        </p:nvSpPr>
        <p:spPr>
          <a:xfrm>
            <a:off x="9326880" y="4965192"/>
            <a:ext cx="7863840" cy="548640"/>
          </a:xfrm>
          <a:prstGeom prst="rect">
            <a:avLst/>
          </a:prstGeom>
          <a:noFill/>
          <a:ln/>
        </p:spPr>
        <p:txBody>
          <a:bodyPr wrap="square" lIns="0" tIns="0" rIns="0" bIns="0" rtlCol="0" anchor="t"/>
          <a:lstStyle/>
          <a:p>
            <a:pPr algn="ctr" indent="0" marL="0">
              <a:lnSpc>
                <a:spcPct val="110000"/>
              </a:lnSpc>
              <a:buNone/>
            </a:pPr>
            <a:r>
              <a:rPr lang="en-US" sz="1300" i="1" dirty="0">
                <a:solidFill>
                  <a:srgbClr val="333333"/>
                </a:solidFill>
                <a:latin typeface="Arial" pitchFamily="34" charset="0"/>
                <a:ea typeface="Arial" pitchFamily="34" charset="-122"/>
                <a:cs typeface="Arial" pitchFamily="34" charset="-120"/>
              </a:rPr>
              <a:t>Today's Diet Plan: vegan + high-BP targets, 5 meals, daily totals vs targets</a:t>
            </a:r>
            <a:endParaRPr lang="en-US" sz="1300" dirty="0"/>
          </a:p>
        </p:txBody>
      </p:sp>
      <p:pic>
        <p:nvPicPr>
          <p:cNvPr id="11" name="Diet Team: build or rebuild the plan with preferences, allergies and approval" descr="/home/claude/ppt2/assets/dietteam.jpg">    </p:cNvPr>
          <p:cNvPicPr>
            <a:picLocks noChangeAspect="1"/>
          </p:cNvPicPr>
          <p:nvPr/>
        </p:nvPicPr>
        <p:blipFill>
          <a:blip r:embed="rId3"/>
          <a:stretch>
            <a:fillRect/>
          </a:stretch>
        </p:blipFill>
        <p:spPr>
          <a:xfrm>
            <a:off x="1822668" y="5715000"/>
            <a:ext cx="6413063" cy="2788920"/>
          </a:xfrm>
          <a:prstGeom prst="rect">
            <a:avLst/>
          </a:prstGeom>
        </p:spPr>
      </p:pic>
      <p:sp>
        <p:nvSpPr>
          <p:cNvPr id="12" name="Shape 7"/>
          <p:cNvSpPr/>
          <p:nvPr/>
        </p:nvSpPr>
        <p:spPr>
          <a:xfrm>
            <a:off x="1822668" y="5715000"/>
            <a:ext cx="6413063" cy="2788920"/>
          </a:xfrm>
          <a:prstGeom prst="rect">
            <a:avLst/>
          </a:prstGeom>
          <a:ln w="12700">
            <a:solidFill>
              <a:srgbClr val="CFC6DC"/>
            </a:solidFill>
            <a:prstDash val="solid"/>
          </a:ln>
        </p:spPr>
      </p:sp>
      <p:sp>
        <p:nvSpPr>
          <p:cNvPr id="13" name="Text 8"/>
          <p:cNvSpPr/>
          <p:nvPr/>
        </p:nvSpPr>
        <p:spPr>
          <a:xfrm>
            <a:off x="1097280" y="8577072"/>
            <a:ext cx="7863840" cy="548640"/>
          </a:xfrm>
          <a:prstGeom prst="rect">
            <a:avLst/>
          </a:prstGeom>
          <a:noFill/>
          <a:ln/>
        </p:spPr>
        <p:txBody>
          <a:bodyPr wrap="square" lIns="0" tIns="0" rIns="0" bIns="0" rtlCol="0" anchor="t"/>
          <a:lstStyle/>
          <a:p>
            <a:pPr algn="ctr" indent="0" marL="0">
              <a:lnSpc>
                <a:spcPct val="110000"/>
              </a:lnSpc>
              <a:buNone/>
            </a:pPr>
            <a:r>
              <a:rPr lang="en-US" sz="1300" i="1" dirty="0">
                <a:solidFill>
                  <a:srgbClr val="333333"/>
                </a:solidFill>
                <a:latin typeface="Arial" pitchFamily="34" charset="0"/>
                <a:ea typeface="Arial" pitchFamily="34" charset="-122"/>
                <a:cs typeface="Arial" pitchFamily="34" charset="-120"/>
              </a:rPr>
              <a:t>Diet Team: build or rebuild the plan with preferences, allergies and approval</a:t>
            </a:r>
            <a:endParaRPr lang="en-US" sz="1300" dirty="0"/>
          </a:p>
        </p:txBody>
      </p:sp>
      <p:pic>
        <p:nvPicPr>
          <p:cNvPr id="14" name="Weekly Review: analyst + coach + guardian write the report and next week's goals" descr="/home/claude/ppt2/assets/weekly.jpg">    </p:cNvPr>
          <p:cNvPicPr>
            <a:picLocks noChangeAspect="1"/>
          </p:cNvPicPr>
          <p:nvPr/>
        </p:nvPicPr>
        <p:blipFill>
          <a:blip r:embed="rId4"/>
          <a:stretch>
            <a:fillRect/>
          </a:stretch>
        </p:blipFill>
        <p:spPr>
          <a:xfrm>
            <a:off x="10145505" y="5715000"/>
            <a:ext cx="6226590" cy="2788920"/>
          </a:xfrm>
          <a:prstGeom prst="rect">
            <a:avLst/>
          </a:prstGeom>
        </p:spPr>
      </p:pic>
      <p:sp>
        <p:nvSpPr>
          <p:cNvPr id="15" name="Shape 9"/>
          <p:cNvSpPr/>
          <p:nvPr/>
        </p:nvSpPr>
        <p:spPr>
          <a:xfrm>
            <a:off x="10145505" y="5715000"/>
            <a:ext cx="6226590" cy="2788920"/>
          </a:xfrm>
          <a:prstGeom prst="rect">
            <a:avLst/>
          </a:prstGeom>
          <a:ln w="12700">
            <a:solidFill>
              <a:srgbClr val="CFC6DC"/>
            </a:solidFill>
            <a:prstDash val="solid"/>
          </a:ln>
        </p:spPr>
      </p:sp>
      <p:sp>
        <p:nvSpPr>
          <p:cNvPr id="16" name="Text 10"/>
          <p:cNvSpPr/>
          <p:nvPr/>
        </p:nvSpPr>
        <p:spPr>
          <a:xfrm>
            <a:off x="9326880" y="8577072"/>
            <a:ext cx="7863840" cy="548640"/>
          </a:xfrm>
          <a:prstGeom prst="rect">
            <a:avLst/>
          </a:prstGeom>
          <a:noFill/>
          <a:ln/>
        </p:spPr>
        <p:txBody>
          <a:bodyPr wrap="square" lIns="0" tIns="0" rIns="0" bIns="0" rtlCol="0" anchor="t"/>
          <a:lstStyle/>
          <a:p>
            <a:pPr algn="ctr" indent="0" marL="0">
              <a:lnSpc>
                <a:spcPct val="110000"/>
              </a:lnSpc>
              <a:buNone/>
            </a:pPr>
            <a:r>
              <a:rPr lang="en-US" sz="1300" i="1" dirty="0">
                <a:solidFill>
                  <a:srgbClr val="333333"/>
                </a:solidFill>
                <a:latin typeface="Arial" pitchFamily="34" charset="0"/>
                <a:ea typeface="Arial" pitchFamily="34" charset="-122"/>
                <a:cs typeface="Arial" pitchFamily="34" charset="-120"/>
              </a:rPr>
              <a:t>Weekly Review: analyst + coach + guardian write the report and next week's goals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15</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Experimental Evaluation</a:t>
            </a:r>
            <a:endParaRPr lang="en-US" sz="4000" dirty="0"/>
          </a:p>
        </p:txBody>
      </p:sp>
      <p:sp>
        <p:nvSpPr>
          <p:cNvPr id="5" name="Text 3"/>
          <p:cNvSpPr/>
          <p:nvPr/>
        </p:nvSpPr>
        <p:spPr>
          <a:xfrm>
            <a:off x="1874520" y="1783080"/>
            <a:ext cx="11887200" cy="320040"/>
          </a:xfrm>
          <a:prstGeom prst="rect">
            <a:avLst/>
          </a:prstGeom>
          <a:noFill/>
          <a:ln/>
        </p:spPr>
        <p:txBody>
          <a:bodyPr wrap="square" lIns="0" tIns="0" rIns="0" bIns="0" rtlCol="0" anchor="t"/>
          <a:lstStyle/>
          <a:p>
            <a:pPr algn="l" indent="0" marL="0">
              <a:lnSpc>
                <a:spcPct val="110000"/>
              </a:lnSpc>
              <a:buNone/>
            </a:pPr>
            <a:r>
              <a:rPr lang="en-US" sz="1400" b="1" dirty="0">
                <a:solidFill>
                  <a:srgbClr val="222222"/>
                </a:solidFill>
                <a:latin typeface="Arial" pitchFamily="34" charset="0"/>
                <a:ea typeface="Arial" pitchFamily="34" charset="-122"/>
                <a:cs typeface="Arial" pitchFamily="34" charset="-120"/>
              </a:rPr>
              <a:t>We evaluate each stage of the workflow, comparing against a baseline wherever one exists.</a:t>
            </a:r>
            <a:endParaRPr lang="en-US" sz="1400" dirty="0"/>
          </a:p>
        </p:txBody>
      </p:sp>
      <p:sp>
        <p:nvSpPr>
          <p:cNvPr id="6" name="Evaluation areas"/>
          <p:cNvSpPr/>
          <p:nvPr/>
        </p:nvSpPr>
        <p:spPr>
          <a:xfrm>
            <a:off x="914400" y="2240280"/>
            <a:ext cx="7406640" cy="3520440"/>
          </a:xfrm>
          <a:prstGeom prst="roundRect">
            <a:avLst>
              <a:gd name="adj" fmla="val 2597"/>
            </a:avLst>
          </a:prstGeom>
          <a:solidFill>
            <a:srgbClr val="F2F6FD"/>
          </a:solidFill>
          <a:ln w="12700">
            <a:solidFill>
              <a:srgbClr val="C9D6EC"/>
            </a:solidFill>
            <a:prstDash val="solid"/>
          </a:ln>
          <a:effectLst>
            <a:outerShdw sx="100000" sy="100000" kx="0" ky="0" algn="bl" rotWithShape="0" blurRad="63500" dist="25400" dir="5400000">
              <a:srgbClr val="000000">
                <a:alpha val="12000"/>
              </a:srgbClr>
            </a:outerShdw>
          </a:effectLst>
        </p:spPr>
      </p:sp>
      <p:sp>
        <p:nvSpPr>
          <p:cNvPr id="7" name="Text 5"/>
          <p:cNvSpPr/>
          <p:nvPr/>
        </p:nvSpPr>
        <p:spPr>
          <a:xfrm>
            <a:off x="1097280" y="2331720"/>
            <a:ext cx="5486400" cy="365760"/>
          </a:xfrm>
          <a:prstGeom prst="rect">
            <a:avLst/>
          </a:prstGeom>
          <a:noFill/>
          <a:ln/>
        </p:spPr>
        <p:txBody>
          <a:bodyPr wrap="square" lIns="0" tIns="0" rIns="0" bIns="0" rtlCol="0" anchor="t"/>
          <a:lstStyle/>
          <a:p>
            <a:pPr algn="l" indent="0" marL="0">
              <a:lnSpc>
                <a:spcPct val="110000"/>
              </a:lnSpc>
              <a:buNone/>
            </a:pPr>
            <a:r>
              <a:rPr lang="en-US" sz="1600" b="1" dirty="0">
                <a:solidFill>
                  <a:srgbClr val="1F3A6B"/>
                </a:solidFill>
                <a:latin typeface="Arial" pitchFamily="34" charset="0"/>
                <a:ea typeface="Arial" pitchFamily="34" charset="-122"/>
                <a:cs typeface="Arial" pitchFamily="34" charset="-120"/>
              </a:rPr>
              <a:t>Evaluation Areas</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1097280" y="2743200"/>
          <a:ext cx="7040880" cy="914400"/>
        </p:xfrm>
        <a:graphic>
          <a:graphicData uri="http://schemas.openxmlformats.org/drawingml/2006/table">
            <a:tbl>
              <a:tblPr/>
              <a:tblGrid>
                <a:gridCol w="2377440"/>
                <a:gridCol w="4663440"/>
              </a:tblGrid>
              <a:tr h="402336">
                <a:tc>
                  <a:txBody>
                    <a:bodyPr/>
                    <a:lstStyle/>
                    <a:p>
                      <a:pPr indent="0" marL="0">
                        <a:buNone/>
                      </a:pPr>
                      <a:r>
                        <a:rPr lang="en-US" sz="1200" b="1" dirty="0">
                          <a:solidFill>
                            <a:srgbClr val="222222"/>
                          </a:solidFill>
                          <a:latin typeface="Arial" pitchFamily="34" charset="0"/>
                          <a:ea typeface="Arial" pitchFamily="34" charset="-122"/>
                          <a:cs typeface="Arial" pitchFamily="34" charset="-120"/>
                        </a:rPr>
                        <a:t>Area</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b="1" dirty="0">
                          <a:solidFill>
                            <a:srgbClr val="222222"/>
                          </a:solidFill>
                          <a:latin typeface="Arial" pitchFamily="34" charset="0"/>
                          <a:ea typeface="Arial" pitchFamily="34" charset="-122"/>
                          <a:cs typeface="Arial" pitchFamily="34" charset="-120"/>
                        </a:rPr>
                        <a:t>What we check</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222"/>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Is the gold passage retrieved?</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222"/>
                          </a:solidFill>
                          <a:latin typeface="Arial" pitchFamily="34" charset="0"/>
                          <a:ea typeface="Arial" pitchFamily="34" charset="-122"/>
                          <a:cs typeface="Arial" pitchFamily="34" charset="-120"/>
                        </a:rPr>
                        <a:t>Diet safety</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Does every day meet all rules?</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222"/>
                          </a:solidFill>
                          <a:latin typeface="Arial" pitchFamily="34" charset="0"/>
                          <a:ea typeface="Arial" pitchFamily="34" charset="-122"/>
                          <a:cs typeface="Arial" pitchFamily="34" charset="-120"/>
                        </a:rPr>
                        <a:t>Safety detection</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Are red-flag messages caught?</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222"/>
                          </a:solidFill>
                          <a:latin typeface="Arial" pitchFamily="34" charset="0"/>
                          <a:ea typeface="Arial" pitchFamily="34" charset="-122"/>
                          <a:cs typeface="Arial" pitchFamily="34" charset="-120"/>
                        </a:rPr>
                        <a:t>Routing</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Are the right specialists chosen?</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222"/>
                          </a:solidFill>
                          <a:latin typeface="Arial" pitchFamily="34" charset="0"/>
                          <a:ea typeface="Arial" pitchFamily="34" charset="-122"/>
                          <a:cs typeface="Arial" pitchFamily="34" charset="-120"/>
                        </a:rPr>
                        <a:t>Diet tools</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Is the diet request understood?</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222222"/>
                          </a:solidFill>
                          <a:latin typeface="Arial" pitchFamily="34" charset="0"/>
                          <a:ea typeface="Arial" pitchFamily="34" charset="-122"/>
                          <a:cs typeface="Arial" pitchFamily="34" charset="-120"/>
                        </a:rPr>
                        <a:t>LLM answers</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Arial" pitchFamily="34" charset="0"/>
                          <a:ea typeface="Arial" pitchFamily="34" charset="-122"/>
                          <a:cs typeface="Arial" pitchFamily="34" charset="-120"/>
                        </a:rPr>
                        <a:t>Accuracy, reasoning, consistency</a:t>
                      </a:r>
                      <a:endParaRPr lang="en-US" sz="1200" dirty="0">
                        <a:latin typeface="Arial" charset="0"/>
                        <a:ea typeface="Arial" charset="0"/>
                        <a:cs typeface="Arial" charset="0"/>
                      </a:endParaRPr>
                    </a:p>
                  </a:txBody>
                  <a:tcPr marL="76200" marR="76200" marT="25400" marB="25400" anchor="ctr">
                    <a:lnL w="9525" cap="flat" cmpd="sng" algn="ctr">
                      <a:solidFill>
                        <a:srgbClr val="C9D6EC"/>
                      </a:solidFill>
                      <a:prstDash val="solid"/>
                      <a:round/>
                      <a:headEnd type="none" w="med" len="med"/>
                      <a:tailEnd type="none" w="med" len="med"/>
                    </a:lnL>
                    <a:lnR w="9525" cap="flat" cmpd="sng" algn="ctr">
                      <a:solidFill>
                        <a:srgbClr val="C9D6EC"/>
                      </a:solidFill>
                      <a:prstDash val="solid"/>
                      <a:round/>
                      <a:headEnd type="none" w="med" len="med"/>
                      <a:tailEnd type="none" w="med" len="med"/>
                    </a:lnR>
                    <a:lnT w="9525" cap="flat" cmpd="sng" algn="ctr">
                      <a:solidFill>
                        <a:srgbClr val="C9D6EC"/>
                      </a:solidFill>
                      <a:prstDash val="solid"/>
                      <a:round/>
                      <a:headEnd type="none" w="med" len="med"/>
                      <a:tailEnd type="none" w="med" len="med"/>
                    </a:lnT>
                    <a:lnB w="9525" cap="flat" cmpd="sng" algn="ctr">
                      <a:solidFill>
                        <a:srgbClr val="C9D6EC"/>
                      </a:solidFill>
                      <a:prstDash val="solid"/>
                      <a:round/>
                      <a:headEnd type="none" w="med" len="med"/>
                      <a:tailEnd type="none" w="med" len="med"/>
                    </a:lnB>
                    <a:solidFill>
                      <a:srgbClr val="FFFFFF"/>
                    </a:solidFill>
                  </a:tcPr>
                </a:tc>
              </a:tr>
            </a:tbl>
          </a:graphicData>
        </a:graphic>
      </p:graphicFrame>
      <p:sp>
        <p:nvSpPr>
          <p:cNvPr id="9" name="Methodology"/>
          <p:cNvSpPr/>
          <p:nvPr/>
        </p:nvSpPr>
        <p:spPr>
          <a:xfrm>
            <a:off x="8503920" y="2240280"/>
            <a:ext cx="4206240" cy="3520440"/>
          </a:xfrm>
          <a:prstGeom prst="roundRect">
            <a:avLst>
              <a:gd name="adj" fmla="val 2597"/>
            </a:avLst>
          </a:prstGeom>
          <a:solidFill>
            <a:srgbClr val="F2FBF4"/>
          </a:solidFill>
          <a:ln w="12700">
            <a:solidFill>
              <a:srgbClr val="BFE3C8"/>
            </a:solidFill>
            <a:prstDash val="solid"/>
          </a:ln>
          <a:effectLst>
            <a:outerShdw sx="100000" sy="100000" kx="0" ky="0" algn="bl" rotWithShape="0" blurRad="63500" dist="25400" dir="5400000">
              <a:srgbClr val="000000">
                <a:alpha val="12000"/>
              </a:srgbClr>
            </a:outerShdw>
          </a:effectLst>
        </p:spPr>
      </p:sp>
      <p:sp>
        <p:nvSpPr>
          <p:cNvPr id="10" name="Text 7"/>
          <p:cNvSpPr/>
          <p:nvPr/>
        </p:nvSpPr>
        <p:spPr>
          <a:xfrm>
            <a:off x="8686800" y="2331720"/>
            <a:ext cx="3931920" cy="365760"/>
          </a:xfrm>
          <a:prstGeom prst="rect">
            <a:avLst/>
          </a:prstGeom>
          <a:noFill/>
          <a:ln/>
        </p:spPr>
        <p:txBody>
          <a:bodyPr wrap="square" lIns="0" tIns="0" rIns="0" bIns="0" rtlCol="0" anchor="t"/>
          <a:lstStyle/>
          <a:p>
            <a:pPr algn="l" indent="0" marL="0">
              <a:lnSpc>
                <a:spcPct val="110000"/>
              </a:lnSpc>
              <a:buNone/>
            </a:pPr>
            <a:r>
              <a:rPr lang="en-US" sz="1600" b="1" dirty="0">
                <a:solidFill>
                  <a:srgbClr val="2C6E3F"/>
                </a:solidFill>
                <a:latin typeface="Arial" pitchFamily="34" charset="0"/>
                <a:ea typeface="Arial" pitchFamily="34" charset="-122"/>
                <a:cs typeface="Arial" pitchFamily="34" charset="-120"/>
              </a:rPr>
              <a:t>Testing Methodology</a:t>
            </a:r>
            <a:endParaRPr lang="en-US" sz="1600" dirty="0"/>
          </a:p>
        </p:txBody>
      </p:sp>
      <p:sp>
        <p:nvSpPr>
          <p:cNvPr id="11" name="Text 8"/>
          <p:cNvSpPr/>
          <p:nvPr/>
        </p:nvSpPr>
        <p:spPr>
          <a:xfrm>
            <a:off x="8732520" y="2788920"/>
            <a:ext cx="3840480" cy="288036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200" dirty="0">
                <a:solidFill>
                  <a:srgbClr val="222222"/>
                </a:solidFill>
              </a:rPr>
              <a:t>Build test sets: 20 questions, 24 diet profiles, 24 safety and 20 routing messages</a:t>
            </a:r>
            <a:endParaRPr lang="en-US" sz="1200" dirty="0"/>
          </a:p>
          <a:p>
            <a:pPr marL="342900" indent="-342900">
              <a:spcAft>
                <a:spcPts val="400"/>
              </a:spcAft>
              <a:buSzPct val="100000"/>
              <a:buFont typeface="+mj-lt"/>
              <a:buAutoNum type="arabicPeriod" startAt="1"/>
            </a:pPr>
            <a:r>
              <a:rPr lang="en-US" sz="1200" dirty="0">
                <a:solidFill>
                  <a:srgbClr val="222222"/>
                </a:solidFill>
              </a:rPr>
              <a:t>Run deterministic parts offline</a:t>
            </a:r>
            <a:endParaRPr lang="en-US" sz="1200" dirty="0"/>
          </a:p>
          <a:p>
            <a:pPr marL="342900" indent="-342900">
              <a:spcAft>
                <a:spcPts val="400"/>
              </a:spcAft>
              <a:buSzPct val="100000"/>
              <a:buFont typeface="+mj-lt"/>
              <a:buAutoNum type="arabicPeriod" startAt="1"/>
            </a:pPr>
            <a:r>
              <a:rPr lang="en-US" sz="1200" dirty="0">
                <a:solidFill>
                  <a:srgbClr val="222222"/>
                </a:solidFill>
              </a:rPr>
              <a:t>Compare with a rule-free baseline</a:t>
            </a:r>
            <a:endParaRPr lang="en-US" sz="1200" dirty="0"/>
          </a:p>
          <a:p>
            <a:pPr marL="342900" indent="-342900">
              <a:spcAft>
                <a:spcPts val="400"/>
              </a:spcAft>
              <a:buSzPct val="100000"/>
              <a:buFont typeface="+mj-lt"/>
              <a:buAutoNum type="arabicPeriod" startAt="1"/>
            </a:pPr>
            <a:r>
              <a:rPr lang="en-US" sz="1200" dirty="0">
                <a:solidFill>
                  <a:srgbClr val="222222"/>
                </a:solidFill>
              </a:rPr>
              <a:t>run_eval.py on GPU: 4 systems × 2 LLMs</a:t>
            </a:r>
            <a:endParaRPr lang="en-US" sz="1200" dirty="0"/>
          </a:p>
          <a:p>
            <a:pPr marL="342900" indent="-342900">
              <a:spcAft>
                <a:spcPts val="400"/>
              </a:spcAft>
              <a:buSzPct val="100000"/>
              <a:buFont typeface="+mj-lt"/>
              <a:buAutoNum type="arabicPeriod" startAt="1"/>
            </a:pPr>
            <a:r>
              <a:rPr lang="en-US" sz="1200" dirty="0">
                <a:solidFill>
                  <a:srgbClr val="222222"/>
                </a:solidFill>
              </a:rPr>
              <a:t>LLM-judge, consistency, latency</a:t>
            </a:r>
            <a:endParaRPr lang="en-US" sz="1200" dirty="0"/>
          </a:p>
        </p:txBody>
      </p:sp>
      <p:sp>
        <p:nvSpPr>
          <p:cNvPr id="12" name="Key goal"/>
          <p:cNvSpPr/>
          <p:nvPr/>
        </p:nvSpPr>
        <p:spPr>
          <a:xfrm>
            <a:off x="12893040" y="2240280"/>
            <a:ext cx="4480560" cy="3520440"/>
          </a:xfrm>
          <a:prstGeom prst="roundRect">
            <a:avLst>
              <a:gd name="adj" fmla="val 2597"/>
            </a:avLst>
          </a:prstGeom>
          <a:solidFill>
            <a:srgbClr val="FDF2F2"/>
          </a:solidFill>
          <a:ln w="12700">
            <a:solidFill>
              <a:srgbClr val="EBC3C3"/>
            </a:solidFill>
            <a:prstDash val="solid"/>
          </a:ln>
          <a:effectLst>
            <a:outerShdw sx="100000" sy="100000" kx="0" ky="0" algn="bl" rotWithShape="0" blurRad="63500" dist="25400" dir="5400000">
              <a:srgbClr val="000000">
                <a:alpha val="12000"/>
              </a:srgbClr>
            </a:outerShdw>
          </a:effectLst>
        </p:spPr>
      </p:sp>
      <p:sp>
        <p:nvSpPr>
          <p:cNvPr id="13" name="Text 10"/>
          <p:cNvSpPr/>
          <p:nvPr/>
        </p:nvSpPr>
        <p:spPr>
          <a:xfrm>
            <a:off x="13075920" y="2331720"/>
            <a:ext cx="4114800" cy="365760"/>
          </a:xfrm>
          <a:prstGeom prst="rect">
            <a:avLst/>
          </a:prstGeom>
          <a:noFill/>
          <a:ln/>
        </p:spPr>
        <p:txBody>
          <a:bodyPr wrap="square" lIns="0" tIns="0" rIns="0" bIns="0" rtlCol="0" anchor="t"/>
          <a:lstStyle/>
          <a:p>
            <a:pPr algn="l" indent="0" marL="0">
              <a:lnSpc>
                <a:spcPct val="110000"/>
              </a:lnSpc>
              <a:buNone/>
            </a:pPr>
            <a:r>
              <a:rPr lang="en-US" sz="1600" b="1" dirty="0">
                <a:solidFill>
                  <a:srgbClr val="8C2A2A"/>
                </a:solidFill>
                <a:latin typeface="Arial" pitchFamily="34" charset="0"/>
                <a:ea typeface="Arial" pitchFamily="34" charset="-122"/>
                <a:cs typeface="Arial" pitchFamily="34" charset="-120"/>
              </a:rPr>
              <a:t>Key Goal</a:t>
            </a:r>
            <a:endParaRPr lang="en-US" sz="1600" dirty="0"/>
          </a:p>
        </p:txBody>
      </p:sp>
      <p:pic>
        <p:nvPicPr>
          <p:cNvPr id="14" name="Image 0" descr="/home/claude/ppt2/assets/FaCheckCircle_d.png">    </p:cNvPr>
          <p:cNvPicPr>
            <a:picLocks noChangeAspect="1"/>
          </p:cNvPicPr>
          <p:nvPr/>
        </p:nvPicPr>
        <p:blipFill>
          <a:blip r:embed="rId1"/>
          <a:stretch>
            <a:fillRect/>
          </a:stretch>
        </p:blipFill>
        <p:spPr>
          <a:xfrm>
            <a:off x="13121640" y="2971800"/>
            <a:ext cx="685800" cy="685800"/>
          </a:xfrm>
          <a:prstGeom prst="rect">
            <a:avLst/>
          </a:prstGeom>
        </p:spPr>
      </p:pic>
      <p:sp>
        <p:nvSpPr>
          <p:cNvPr id="15" name="Text 11"/>
          <p:cNvSpPr/>
          <p:nvPr/>
        </p:nvSpPr>
        <p:spPr>
          <a:xfrm>
            <a:off x="13944600" y="2834640"/>
            <a:ext cx="3291840" cy="2651760"/>
          </a:xfrm>
          <a:prstGeom prst="rect">
            <a:avLst/>
          </a:prstGeom>
          <a:noFill/>
          <a:ln/>
        </p:spPr>
        <p:txBody>
          <a:bodyPr wrap="square" lIns="0" tIns="0" rIns="0" bIns="0" rtlCol="0" anchor="t"/>
          <a:lstStyle/>
          <a:p>
            <a:pPr algn="l" indent="0" marL="0">
              <a:lnSpc>
                <a:spcPct val="115000"/>
              </a:lnSpc>
              <a:buNone/>
            </a:pPr>
            <a:r>
              <a:rPr lang="en-US" sz="1400" i="1" dirty="0">
                <a:solidFill>
                  <a:srgbClr val="333333"/>
                </a:solidFill>
                <a:latin typeface="Arial" pitchFamily="34" charset="0"/>
                <a:ea typeface="Arial" pitchFamily="34" charset="-122"/>
                <a:cs typeface="Arial" pitchFamily="34" charset="-120"/>
              </a:rPr>
              <a:t>“To verify that the system does not just answer, but gives grounded, safe advice and never changes a plan without approval.”</a:t>
            </a:r>
            <a:endParaRPr lang="en-US" sz="1400" dirty="0"/>
          </a:p>
        </p:txBody>
      </p:sp>
      <p:sp>
        <p:nvSpPr>
          <p:cNvPr id="16" name="Results"/>
          <p:cNvSpPr/>
          <p:nvPr/>
        </p:nvSpPr>
        <p:spPr>
          <a:xfrm>
            <a:off x="914400" y="5897880"/>
            <a:ext cx="16459200" cy="3291840"/>
          </a:xfrm>
          <a:prstGeom prst="roundRect">
            <a:avLst>
              <a:gd name="adj" fmla="val 2778"/>
            </a:avLst>
          </a:prstGeom>
          <a:solidFill>
            <a:srgbClr val="F7F4FB"/>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7" name="Text 13"/>
          <p:cNvSpPr/>
          <p:nvPr/>
        </p:nvSpPr>
        <p:spPr>
          <a:xfrm>
            <a:off x="1097280" y="5943600"/>
            <a:ext cx="7315200" cy="365760"/>
          </a:xfrm>
          <a:prstGeom prst="rect">
            <a:avLst/>
          </a:prstGeom>
          <a:noFill/>
          <a:ln/>
        </p:spPr>
        <p:txBody>
          <a:bodyPr wrap="square" lIns="0" tIns="0" rIns="0" bIns="0" rtlCol="0" anchor="t"/>
          <a:lstStyle/>
          <a:p>
            <a:pPr algn="l" indent="0" marL="0">
              <a:lnSpc>
                <a:spcPct val="110000"/>
              </a:lnSpc>
              <a:buNone/>
            </a:pPr>
            <a:r>
              <a:rPr lang="en-US" sz="1600" b="1" dirty="0">
                <a:solidFill>
                  <a:srgbClr val="5B2D8F"/>
                </a:solidFill>
                <a:latin typeface="Arial" pitchFamily="34" charset="0"/>
                <a:ea typeface="Arial" pitchFamily="34" charset="-122"/>
                <a:cs typeface="Arial" pitchFamily="34" charset="-120"/>
              </a:rPr>
              <a:t>Results and Analysis (measured)</a:t>
            </a:r>
            <a:endParaRPr lang="en-US" sz="1600" dirty="0"/>
          </a:p>
        </p:txBody>
      </p:sp>
      <p:sp>
        <p:nvSpPr>
          <p:cNvPr id="18" name="Shape 14"/>
          <p:cNvSpPr/>
          <p:nvPr/>
        </p:nvSpPr>
        <p:spPr>
          <a:xfrm>
            <a:off x="1097280" y="6355080"/>
            <a:ext cx="3886200" cy="2743200"/>
          </a:xfrm>
          <a:prstGeom prst="roundRect">
            <a:avLst>
              <a:gd name="adj" fmla="val 2000"/>
            </a:avLst>
          </a:prstGeom>
          <a:solidFill>
            <a:srgbClr val="FFFFFF"/>
          </a:solidFill>
          <a:ln w="12700">
            <a:solidFill>
              <a:srgbClr val="E2DCEB"/>
            </a:solidFill>
            <a:prstDash val="solid"/>
          </a:ln>
        </p:spPr>
      </p:sp>
      <p:graphicFrame>
        <p:nvGraphicFramePr>
          <p:cNvPr id="19" name="Diet days passing all rules (%)" descr=""/>
          <p:cNvGraphicFramePr/>
          <p:nvPr/>
        </p:nvGraphicFramePr>
        <p:xfrm>
          <a:off x="1143000" y="6400800"/>
          <a:ext cx="3794760" cy="2651760"/>
        </p:xfrm>
        <a:graphic xmlns:a="http://schemas.openxmlformats.org/drawingml/2006/main">
          <a:graphicData uri="http://schemas.openxmlformats.org/drawingml/2006/chart">
            <c:chart xmlns:c="http://schemas.openxmlformats.org/drawingml/2006/chart" r:id="rId2"/>
          </a:graphicData>
        </a:graphic>
      </p:graphicFrame>
      <p:sp>
        <p:nvSpPr>
          <p:cNvPr id="20" name="Shape 15"/>
          <p:cNvSpPr/>
          <p:nvPr/>
        </p:nvSpPr>
        <p:spPr>
          <a:xfrm>
            <a:off x="5166360" y="6355080"/>
            <a:ext cx="3886200" cy="2743200"/>
          </a:xfrm>
          <a:prstGeom prst="roundRect">
            <a:avLst>
              <a:gd name="adj" fmla="val 2000"/>
            </a:avLst>
          </a:prstGeom>
          <a:solidFill>
            <a:srgbClr val="FFFFFF"/>
          </a:solidFill>
          <a:ln w="12700">
            <a:solidFill>
              <a:srgbClr val="E2DCEB"/>
            </a:solidFill>
            <a:prstDash val="solid"/>
          </a:ln>
        </p:spPr>
      </p:sp>
      <p:graphicFrame>
        <p:nvGraphicFramePr>
          <p:cNvPr id="21" name="Diet days with critical violation (%)" descr=""/>
          <p:cNvGraphicFramePr/>
          <p:nvPr/>
        </p:nvGraphicFramePr>
        <p:xfrm>
          <a:off x="5212080" y="6400800"/>
          <a:ext cx="3794760" cy="2651760"/>
        </p:xfrm>
        <a:graphic xmlns:a="http://schemas.openxmlformats.org/drawingml/2006/main">
          <a:graphicData uri="http://schemas.openxmlformats.org/drawingml/2006/chart">
            <c:chart xmlns:c="http://schemas.openxmlformats.org/drawingml/2006/chart" r:id="rId3"/>
          </a:graphicData>
        </a:graphic>
      </p:graphicFrame>
      <p:sp>
        <p:nvSpPr>
          <p:cNvPr id="22" name="Shape 16"/>
          <p:cNvSpPr/>
          <p:nvPr/>
        </p:nvSpPr>
        <p:spPr>
          <a:xfrm>
            <a:off x="9235440" y="6355080"/>
            <a:ext cx="3886200" cy="2743200"/>
          </a:xfrm>
          <a:prstGeom prst="roundRect">
            <a:avLst>
              <a:gd name="adj" fmla="val 2000"/>
            </a:avLst>
          </a:prstGeom>
          <a:solidFill>
            <a:srgbClr val="FFFFFF"/>
          </a:solidFill>
          <a:ln w="12700">
            <a:solidFill>
              <a:srgbClr val="E2DCEB"/>
            </a:solidFill>
            <a:prstDash val="solid"/>
          </a:ln>
        </p:spPr>
      </p:sp>
      <p:graphicFrame>
        <p:nvGraphicFramePr>
          <p:cNvPr id="23" name="Red-flag detection (%)" descr=""/>
          <p:cNvGraphicFramePr/>
          <p:nvPr/>
        </p:nvGraphicFramePr>
        <p:xfrm>
          <a:off x="9281160" y="6400800"/>
          <a:ext cx="3794760" cy="2651760"/>
        </p:xfrm>
        <a:graphic xmlns:a="http://schemas.openxmlformats.org/drawingml/2006/main">
          <a:graphicData uri="http://schemas.openxmlformats.org/drawingml/2006/chart">
            <c:chart xmlns:c="http://schemas.openxmlformats.org/drawingml/2006/chart" r:id="rId4"/>
          </a:graphicData>
        </a:graphic>
      </p:graphicFrame>
      <p:sp>
        <p:nvSpPr>
          <p:cNvPr id="24" name="Shape 17"/>
          <p:cNvSpPr/>
          <p:nvPr/>
        </p:nvSpPr>
        <p:spPr>
          <a:xfrm>
            <a:off x="13304520" y="6355080"/>
            <a:ext cx="3886200" cy="2743200"/>
          </a:xfrm>
          <a:prstGeom prst="roundRect">
            <a:avLst>
              <a:gd name="adj" fmla="val 2000"/>
            </a:avLst>
          </a:prstGeom>
          <a:solidFill>
            <a:srgbClr val="FFFFFF"/>
          </a:solidFill>
          <a:ln w="12700">
            <a:solidFill>
              <a:srgbClr val="E2DCEB"/>
            </a:solidFill>
            <a:prstDash val="solid"/>
          </a:ln>
        </p:spPr>
      </p:sp>
      <p:graphicFrame>
        <p:nvGraphicFramePr>
          <p:cNvPr id="25" name="Component accuracy (%)" descr=""/>
          <p:cNvGraphicFramePr/>
          <p:nvPr/>
        </p:nvGraphicFramePr>
        <p:xfrm>
          <a:off x="13350240" y="6400800"/>
          <a:ext cx="3794760" cy="2651760"/>
        </p:xfrm>
        <a:graphic xmlns:a="http://schemas.openxmlformats.org/drawingml/2006/main">
          <a:graphicData uri="http://schemas.openxmlformats.org/drawingml/2006/chart">
            <c:chart xmlns:c="http://schemas.openxmlformats.org/drawingml/2006/chart" r:id="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16</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Performance &amp; Success Metrics</a:t>
            </a:r>
            <a:endParaRPr lang="en-US" sz="4000" dirty="0"/>
          </a:p>
        </p:txBody>
      </p:sp>
      <p:sp>
        <p:nvSpPr>
          <p:cNvPr id="5" name="Important metrics"/>
          <p:cNvSpPr/>
          <p:nvPr/>
        </p:nvSpPr>
        <p:spPr>
          <a:xfrm>
            <a:off x="914400" y="2103120"/>
            <a:ext cx="11521440" cy="4846320"/>
          </a:xfrm>
          <a:prstGeom prst="roundRect">
            <a:avLst>
              <a:gd name="adj" fmla="val 1887"/>
            </a:avLst>
          </a:prstGeom>
          <a:solidFill>
            <a:srgbClr val="F2F6FD"/>
          </a:solidFill>
          <a:ln w="12700">
            <a:solidFill>
              <a:srgbClr val="C9D6EC"/>
            </a:solidFill>
            <a:prstDash val="solid"/>
          </a:ln>
          <a:effectLst>
            <a:outerShdw sx="100000" sy="100000" kx="0" ky="0" algn="bl" rotWithShape="0" blurRad="63500" dist="25400" dir="5400000">
              <a:srgbClr val="000000">
                <a:alpha val="12000"/>
              </a:srgbClr>
            </a:outerShdw>
          </a:effectLst>
        </p:spPr>
      </p:sp>
      <p:sp>
        <p:nvSpPr>
          <p:cNvPr id="6" name="Text 4"/>
          <p:cNvSpPr/>
          <p:nvPr/>
        </p:nvSpPr>
        <p:spPr>
          <a:xfrm>
            <a:off x="1097280" y="2194560"/>
            <a:ext cx="5486400" cy="365760"/>
          </a:xfrm>
          <a:prstGeom prst="rect">
            <a:avLst/>
          </a:prstGeom>
          <a:noFill/>
          <a:ln/>
        </p:spPr>
        <p:txBody>
          <a:bodyPr wrap="square" lIns="0" tIns="0" rIns="0" bIns="0" rtlCol="0" anchor="t"/>
          <a:lstStyle/>
          <a:p>
            <a:pPr algn="l" indent="0" marL="0">
              <a:lnSpc>
                <a:spcPct val="110000"/>
              </a:lnSpc>
              <a:buNone/>
            </a:pPr>
            <a:r>
              <a:rPr lang="en-US" sz="1600" b="1" dirty="0">
                <a:solidFill>
                  <a:srgbClr val="1F3A6B"/>
                </a:solidFill>
                <a:latin typeface="Arial" pitchFamily="34" charset="0"/>
                <a:ea typeface="Arial" pitchFamily="34" charset="-122"/>
                <a:cs typeface="Arial" pitchFamily="34" charset="-120"/>
              </a:rPr>
              <a:t>Important Metrics</a:t>
            </a:r>
            <a:endParaRPr lang="en-US" sz="1600" dirty="0"/>
          </a:p>
        </p:txBody>
      </p:sp>
      <p:sp>
        <p:nvSpPr>
          <p:cNvPr id="7" name="setup checks passed"/>
          <p:cNvSpPr/>
          <p:nvPr/>
        </p:nvSpPr>
        <p:spPr>
          <a:xfrm>
            <a:off x="1097280" y="2697480"/>
            <a:ext cx="2130552" cy="4069080"/>
          </a:xfrm>
          <a:prstGeom prst="roundRect">
            <a:avLst>
              <a:gd name="adj" fmla="val 4292"/>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8" name="Text 6"/>
          <p:cNvSpPr/>
          <p:nvPr/>
        </p:nvSpPr>
        <p:spPr>
          <a:xfrm>
            <a:off x="1097280" y="2880360"/>
            <a:ext cx="2130552" cy="822960"/>
          </a:xfrm>
          <a:prstGeom prst="rect">
            <a:avLst/>
          </a:prstGeom>
          <a:noFill/>
          <a:ln/>
        </p:spPr>
        <p:txBody>
          <a:bodyPr wrap="square" lIns="0" tIns="0" rIns="0" bIns="0" rtlCol="0" anchor="ctr"/>
          <a:lstStyle/>
          <a:p>
            <a:pPr algn="ctr" indent="0" marL="0">
              <a:lnSpc>
                <a:spcPct val="110000"/>
              </a:lnSpc>
              <a:buNone/>
            </a:pPr>
            <a:r>
              <a:rPr lang="en-US" sz="3600" b="1" dirty="0">
                <a:solidFill>
                  <a:srgbClr val="5B2D8F"/>
                </a:solidFill>
                <a:latin typeface="Arial" pitchFamily="34" charset="0"/>
                <a:ea typeface="Arial" pitchFamily="34" charset="-122"/>
                <a:cs typeface="Arial" pitchFamily="34" charset="-120"/>
              </a:rPr>
              <a:t>29 / 29</a:t>
            </a:r>
            <a:endParaRPr lang="en-US" sz="3600" dirty="0"/>
          </a:p>
        </p:txBody>
      </p:sp>
      <p:sp>
        <p:nvSpPr>
          <p:cNvPr id="9" name="Text 7"/>
          <p:cNvSpPr/>
          <p:nvPr/>
        </p:nvSpPr>
        <p:spPr>
          <a:xfrm>
            <a:off x="1188720" y="3794760"/>
            <a:ext cx="1947672" cy="914400"/>
          </a:xfrm>
          <a:prstGeom prst="rect">
            <a:avLst/>
          </a:prstGeom>
          <a:noFill/>
          <a:ln/>
        </p:spPr>
        <p:txBody>
          <a:bodyPr wrap="square" lIns="0" tIns="0" rIns="0" bIns="0" rtlCol="0" anchor="t"/>
          <a:lstStyle/>
          <a:p>
            <a:pPr algn="ctr" indent="0" marL="0">
              <a:lnSpc>
                <a:spcPct val="110000"/>
              </a:lnSpc>
              <a:buNone/>
            </a:pPr>
            <a:r>
              <a:rPr lang="en-US" sz="1600" b="1" dirty="0">
                <a:solidFill>
                  <a:srgbClr val="222222"/>
                </a:solidFill>
                <a:latin typeface="Arial" pitchFamily="34" charset="0"/>
                <a:ea typeface="Arial" pitchFamily="34" charset="-122"/>
                <a:cs typeface="Arial" pitchFamily="34" charset="-120"/>
              </a:rPr>
              <a:t>setup checks passed</a:t>
            </a:r>
            <a:endParaRPr lang="en-US" sz="1600" dirty="0"/>
          </a:p>
        </p:txBody>
      </p:sp>
      <p:sp>
        <p:nvSpPr>
          <p:cNvPr id="10" name="Text 8"/>
          <p:cNvSpPr/>
          <p:nvPr/>
        </p:nvSpPr>
        <p:spPr>
          <a:xfrm>
            <a:off x="1188720" y="4800600"/>
            <a:ext cx="1947672" cy="1874520"/>
          </a:xfrm>
          <a:prstGeom prst="rect">
            <a:avLst/>
          </a:prstGeom>
          <a:noFill/>
          <a:ln/>
        </p:spPr>
        <p:txBody>
          <a:bodyPr wrap="square" lIns="0" tIns="0" rIns="0" bIns="0" rtlCol="0" anchor="t"/>
          <a:lstStyle/>
          <a:p>
            <a:pPr algn="ctr" indent="0" marL="0">
              <a:lnSpc>
                <a:spcPct val="110000"/>
              </a:lnSpc>
              <a:buNone/>
            </a:pPr>
            <a:r>
              <a:rPr lang="en-US" sz="1400" dirty="0">
                <a:solidFill>
                  <a:srgbClr val="555555"/>
                </a:solidFill>
                <a:latin typeface="Arial" pitchFamily="34" charset="0"/>
                <a:ea typeface="Arial" pitchFamily="34" charset="-122"/>
                <a:cs typeface="Arial" pitchFamily="34" charset="-120"/>
              </a:rPr>
              <a:t>graphs, emergency path, diet profiles, allergies, adaptation limits</a:t>
            </a:r>
            <a:endParaRPr lang="en-US" sz="1400" dirty="0"/>
          </a:p>
        </p:txBody>
      </p:sp>
      <p:sp>
        <p:nvSpPr>
          <p:cNvPr id="11" name="diet days meet every rule"/>
          <p:cNvSpPr/>
          <p:nvPr/>
        </p:nvSpPr>
        <p:spPr>
          <a:xfrm>
            <a:off x="3364992" y="2697480"/>
            <a:ext cx="2130552" cy="4069080"/>
          </a:xfrm>
          <a:prstGeom prst="roundRect">
            <a:avLst>
              <a:gd name="adj" fmla="val 4292"/>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2" name="Text 10"/>
          <p:cNvSpPr/>
          <p:nvPr/>
        </p:nvSpPr>
        <p:spPr>
          <a:xfrm>
            <a:off x="3364992" y="2880360"/>
            <a:ext cx="2130552" cy="822960"/>
          </a:xfrm>
          <a:prstGeom prst="rect">
            <a:avLst/>
          </a:prstGeom>
          <a:noFill/>
          <a:ln/>
        </p:spPr>
        <p:txBody>
          <a:bodyPr wrap="square" lIns="0" tIns="0" rIns="0" bIns="0" rtlCol="0" anchor="ctr"/>
          <a:lstStyle/>
          <a:p>
            <a:pPr algn="ctr" indent="0" marL="0">
              <a:lnSpc>
                <a:spcPct val="110000"/>
              </a:lnSpc>
              <a:buNone/>
            </a:pPr>
            <a:r>
              <a:rPr lang="en-US" sz="3600" b="1" dirty="0">
                <a:solidFill>
                  <a:srgbClr val="5B2D8F"/>
                </a:solidFill>
                <a:latin typeface="Arial" pitchFamily="34" charset="0"/>
                <a:ea typeface="Arial" pitchFamily="34" charset="-122"/>
                <a:cs typeface="Arial" pitchFamily="34" charset="-120"/>
              </a:rPr>
              <a:t>92.9%</a:t>
            </a:r>
            <a:endParaRPr lang="en-US" sz="3600" dirty="0"/>
          </a:p>
        </p:txBody>
      </p:sp>
      <p:sp>
        <p:nvSpPr>
          <p:cNvPr id="13" name="Text 11"/>
          <p:cNvSpPr/>
          <p:nvPr/>
        </p:nvSpPr>
        <p:spPr>
          <a:xfrm>
            <a:off x="3456432" y="3794760"/>
            <a:ext cx="1947672" cy="914400"/>
          </a:xfrm>
          <a:prstGeom prst="rect">
            <a:avLst/>
          </a:prstGeom>
          <a:noFill/>
          <a:ln/>
        </p:spPr>
        <p:txBody>
          <a:bodyPr wrap="square" lIns="0" tIns="0" rIns="0" bIns="0" rtlCol="0" anchor="t"/>
          <a:lstStyle/>
          <a:p>
            <a:pPr algn="ctr" indent="0" marL="0">
              <a:lnSpc>
                <a:spcPct val="110000"/>
              </a:lnSpc>
              <a:buNone/>
            </a:pPr>
            <a:r>
              <a:rPr lang="en-US" sz="1600" b="1" dirty="0">
                <a:solidFill>
                  <a:srgbClr val="222222"/>
                </a:solidFill>
                <a:latin typeface="Arial" pitchFamily="34" charset="0"/>
                <a:ea typeface="Arial" pitchFamily="34" charset="-122"/>
                <a:cs typeface="Arial" pitchFamily="34" charset="-120"/>
              </a:rPr>
              <a:t>diet days meet every rule</a:t>
            </a:r>
            <a:endParaRPr lang="en-US" sz="1600" dirty="0"/>
          </a:p>
        </p:txBody>
      </p:sp>
      <p:sp>
        <p:nvSpPr>
          <p:cNvPr id="14" name="Text 12"/>
          <p:cNvSpPr/>
          <p:nvPr/>
        </p:nvSpPr>
        <p:spPr>
          <a:xfrm>
            <a:off x="3456432" y="4800600"/>
            <a:ext cx="1947672" cy="1874520"/>
          </a:xfrm>
          <a:prstGeom prst="rect">
            <a:avLst/>
          </a:prstGeom>
          <a:noFill/>
          <a:ln/>
        </p:spPr>
        <p:txBody>
          <a:bodyPr wrap="square" lIns="0" tIns="0" rIns="0" bIns="0" rtlCol="0" anchor="t"/>
          <a:lstStyle/>
          <a:p>
            <a:pPr algn="ctr" indent="0" marL="0">
              <a:lnSpc>
                <a:spcPct val="110000"/>
              </a:lnSpc>
              <a:buNone/>
            </a:pPr>
            <a:r>
              <a:rPr lang="en-US" sz="1400" dirty="0">
                <a:solidFill>
                  <a:srgbClr val="555555"/>
                </a:solidFill>
                <a:latin typeface="Arial" pitchFamily="34" charset="0"/>
                <a:ea typeface="Arial" pitchFamily="34" charset="-122"/>
                <a:cs typeface="Arial" pitchFamily="34" charset="-120"/>
              </a:rPr>
              <a:t>0% critical violations (baseline: 14.9%)</a:t>
            </a:r>
            <a:endParaRPr lang="en-US" sz="1400" dirty="0"/>
          </a:p>
        </p:txBody>
      </p:sp>
      <p:sp>
        <p:nvSpPr>
          <p:cNvPr id="15" name="Basic RAG hit@3"/>
          <p:cNvSpPr/>
          <p:nvPr/>
        </p:nvSpPr>
        <p:spPr>
          <a:xfrm>
            <a:off x="5632704" y="2697480"/>
            <a:ext cx="2130552" cy="4069080"/>
          </a:xfrm>
          <a:prstGeom prst="roundRect">
            <a:avLst>
              <a:gd name="adj" fmla="val 4292"/>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6" name="Text 14"/>
          <p:cNvSpPr/>
          <p:nvPr/>
        </p:nvSpPr>
        <p:spPr>
          <a:xfrm>
            <a:off x="5632704" y="2880360"/>
            <a:ext cx="2130552" cy="822960"/>
          </a:xfrm>
          <a:prstGeom prst="rect">
            <a:avLst/>
          </a:prstGeom>
          <a:noFill/>
          <a:ln/>
        </p:spPr>
        <p:txBody>
          <a:bodyPr wrap="square" lIns="0" tIns="0" rIns="0" bIns="0" rtlCol="0" anchor="ctr"/>
          <a:lstStyle/>
          <a:p>
            <a:pPr algn="ctr" indent="0" marL="0">
              <a:lnSpc>
                <a:spcPct val="110000"/>
              </a:lnSpc>
              <a:buNone/>
            </a:pPr>
            <a:r>
              <a:rPr lang="en-US" sz="3600" b="1" dirty="0">
                <a:solidFill>
                  <a:srgbClr val="5B2D8F"/>
                </a:solidFill>
                <a:latin typeface="Arial" pitchFamily="34" charset="0"/>
                <a:ea typeface="Arial" pitchFamily="34" charset="-122"/>
                <a:cs typeface="Arial" pitchFamily="34" charset="-120"/>
              </a:rPr>
              <a:t>85%</a:t>
            </a:r>
            <a:endParaRPr lang="en-US" sz="3600" dirty="0"/>
          </a:p>
        </p:txBody>
      </p:sp>
      <p:sp>
        <p:nvSpPr>
          <p:cNvPr id="17" name="Text 15"/>
          <p:cNvSpPr/>
          <p:nvPr/>
        </p:nvSpPr>
        <p:spPr>
          <a:xfrm>
            <a:off x="5724144" y="3794760"/>
            <a:ext cx="1947672" cy="914400"/>
          </a:xfrm>
          <a:prstGeom prst="rect">
            <a:avLst/>
          </a:prstGeom>
          <a:noFill/>
          <a:ln/>
        </p:spPr>
        <p:txBody>
          <a:bodyPr wrap="square" lIns="0" tIns="0" rIns="0" bIns="0" rtlCol="0" anchor="t"/>
          <a:lstStyle/>
          <a:p>
            <a:pPr algn="ctr" indent="0" marL="0">
              <a:lnSpc>
                <a:spcPct val="110000"/>
              </a:lnSpc>
              <a:buNone/>
            </a:pPr>
            <a:r>
              <a:rPr lang="en-US" sz="1600" b="1" dirty="0">
                <a:solidFill>
                  <a:srgbClr val="222222"/>
                </a:solidFill>
                <a:latin typeface="Arial" pitchFamily="34" charset="0"/>
                <a:ea typeface="Arial" pitchFamily="34" charset="-122"/>
                <a:cs typeface="Arial" pitchFamily="34" charset="-120"/>
              </a:rPr>
              <a:t>Basic RAG hit@3</a:t>
            </a:r>
            <a:endParaRPr lang="en-US" sz="1600" dirty="0"/>
          </a:p>
        </p:txBody>
      </p:sp>
      <p:sp>
        <p:nvSpPr>
          <p:cNvPr id="18" name="Text 16"/>
          <p:cNvSpPr/>
          <p:nvPr/>
        </p:nvSpPr>
        <p:spPr>
          <a:xfrm>
            <a:off x="5724144" y="4800600"/>
            <a:ext cx="1947672" cy="1874520"/>
          </a:xfrm>
          <a:prstGeom prst="rect">
            <a:avLst/>
          </a:prstGeom>
          <a:noFill/>
          <a:ln/>
        </p:spPr>
        <p:txBody>
          <a:bodyPr wrap="square" lIns="0" tIns="0" rIns="0" bIns="0" rtlCol="0" anchor="t"/>
          <a:lstStyle/>
          <a:p>
            <a:pPr algn="ctr" indent="0" marL="0">
              <a:lnSpc>
                <a:spcPct val="110000"/>
              </a:lnSpc>
              <a:buNone/>
            </a:pPr>
            <a:r>
              <a:rPr lang="en-US" sz="1400" dirty="0">
                <a:solidFill>
                  <a:srgbClr val="555555"/>
                </a:solidFill>
                <a:latin typeface="Arial" pitchFamily="34" charset="0"/>
                <a:ea typeface="Arial" pitchFamily="34" charset="-122"/>
                <a:cs typeface="Arial" pitchFamily="34" charset="-120"/>
              </a:rPr>
              <a:t>gold passage in top-3 (20 questions)</a:t>
            </a:r>
            <a:endParaRPr lang="en-US" sz="1400" dirty="0"/>
          </a:p>
        </p:txBody>
      </p:sp>
      <p:sp>
        <p:nvSpPr>
          <p:cNvPr id="19" name="red-flag precision"/>
          <p:cNvSpPr/>
          <p:nvPr/>
        </p:nvSpPr>
        <p:spPr>
          <a:xfrm>
            <a:off x="7900416" y="2697480"/>
            <a:ext cx="2130552" cy="4069080"/>
          </a:xfrm>
          <a:prstGeom prst="roundRect">
            <a:avLst>
              <a:gd name="adj" fmla="val 4292"/>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0" name="Text 18"/>
          <p:cNvSpPr/>
          <p:nvPr/>
        </p:nvSpPr>
        <p:spPr>
          <a:xfrm>
            <a:off x="7900416" y="2880360"/>
            <a:ext cx="2130552" cy="822960"/>
          </a:xfrm>
          <a:prstGeom prst="rect">
            <a:avLst/>
          </a:prstGeom>
          <a:noFill/>
          <a:ln/>
        </p:spPr>
        <p:txBody>
          <a:bodyPr wrap="square" lIns="0" tIns="0" rIns="0" bIns="0" rtlCol="0" anchor="ctr"/>
          <a:lstStyle/>
          <a:p>
            <a:pPr algn="ctr" indent="0" marL="0">
              <a:lnSpc>
                <a:spcPct val="110000"/>
              </a:lnSpc>
              <a:buNone/>
            </a:pPr>
            <a:r>
              <a:rPr lang="en-US" sz="3600" b="1" dirty="0">
                <a:solidFill>
                  <a:srgbClr val="5B2D8F"/>
                </a:solidFill>
                <a:latin typeface="Arial" pitchFamily="34" charset="0"/>
                <a:ea typeface="Arial" pitchFamily="34" charset="-122"/>
                <a:cs typeface="Arial" pitchFamily="34" charset="-120"/>
              </a:rPr>
              <a:t>100%</a:t>
            </a:r>
            <a:endParaRPr lang="en-US" sz="3600" dirty="0"/>
          </a:p>
        </p:txBody>
      </p:sp>
      <p:sp>
        <p:nvSpPr>
          <p:cNvPr id="21" name="Text 19"/>
          <p:cNvSpPr/>
          <p:nvPr/>
        </p:nvSpPr>
        <p:spPr>
          <a:xfrm>
            <a:off x="7991856" y="3794760"/>
            <a:ext cx="1947672" cy="914400"/>
          </a:xfrm>
          <a:prstGeom prst="rect">
            <a:avLst/>
          </a:prstGeom>
          <a:noFill/>
          <a:ln/>
        </p:spPr>
        <p:txBody>
          <a:bodyPr wrap="square" lIns="0" tIns="0" rIns="0" bIns="0" rtlCol="0" anchor="t"/>
          <a:lstStyle/>
          <a:p>
            <a:pPr algn="ctr" indent="0" marL="0">
              <a:lnSpc>
                <a:spcPct val="110000"/>
              </a:lnSpc>
              <a:buNone/>
            </a:pPr>
            <a:r>
              <a:rPr lang="en-US" sz="1600" b="1" dirty="0">
                <a:solidFill>
                  <a:srgbClr val="222222"/>
                </a:solidFill>
                <a:latin typeface="Arial" pitchFamily="34" charset="0"/>
                <a:ea typeface="Arial" pitchFamily="34" charset="-122"/>
                <a:cs typeface="Arial" pitchFamily="34" charset="-120"/>
              </a:rPr>
              <a:t>red-flag precision</a:t>
            </a:r>
            <a:endParaRPr lang="en-US" sz="1600" dirty="0"/>
          </a:p>
        </p:txBody>
      </p:sp>
      <p:sp>
        <p:nvSpPr>
          <p:cNvPr id="22" name="Text 20"/>
          <p:cNvSpPr/>
          <p:nvPr/>
        </p:nvSpPr>
        <p:spPr>
          <a:xfrm>
            <a:off x="7991856" y="4800600"/>
            <a:ext cx="1947672" cy="1874520"/>
          </a:xfrm>
          <a:prstGeom prst="rect">
            <a:avLst/>
          </a:prstGeom>
          <a:noFill/>
          <a:ln/>
        </p:spPr>
        <p:txBody>
          <a:bodyPr wrap="square" lIns="0" tIns="0" rIns="0" bIns="0" rtlCol="0" anchor="t"/>
          <a:lstStyle/>
          <a:p>
            <a:pPr algn="ctr" indent="0" marL="0">
              <a:lnSpc>
                <a:spcPct val="110000"/>
              </a:lnSpc>
              <a:buNone/>
            </a:pPr>
            <a:r>
              <a:rPr lang="en-US" sz="1400" dirty="0">
                <a:solidFill>
                  <a:srgbClr val="555555"/>
                </a:solidFill>
                <a:latin typeface="Arial" pitchFamily="34" charset="0"/>
                <a:ea typeface="Arial" pitchFamily="34" charset="-122"/>
                <a:cs typeface="Arial" pitchFamily="34" charset="-120"/>
              </a:rPr>
              <a:t>recall 83.3% — 2 phrasings missed</a:t>
            </a:r>
            <a:endParaRPr lang="en-US" sz="1400" dirty="0"/>
          </a:p>
        </p:txBody>
      </p:sp>
      <p:sp>
        <p:nvSpPr>
          <p:cNvPr id="23" name="diet requests understood"/>
          <p:cNvSpPr/>
          <p:nvPr/>
        </p:nvSpPr>
        <p:spPr>
          <a:xfrm>
            <a:off x="10168128" y="2697480"/>
            <a:ext cx="2130552" cy="4069080"/>
          </a:xfrm>
          <a:prstGeom prst="roundRect">
            <a:avLst>
              <a:gd name="adj" fmla="val 4292"/>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4" name="Text 22"/>
          <p:cNvSpPr/>
          <p:nvPr/>
        </p:nvSpPr>
        <p:spPr>
          <a:xfrm>
            <a:off x="10168128" y="2880360"/>
            <a:ext cx="2130552" cy="822960"/>
          </a:xfrm>
          <a:prstGeom prst="rect">
            <a:avLst/>
          </a:prstGeom>
          <a:noFill/>
          <a:ln/>
        </p:spPr>
        <p:txBody>
          <a:bodyPr wrap="square" lIns="0" tIns="0" rIns="0" bIns="0" rtlCol="0" anchor="ctr"/>
          <a:lstStyle/>
          <a:p>
            <a:pPr algn="ctr" indent="0" marL="0">
              <a:lnSpc>
                <a:spcPct val="110000"/>
              </a:lnSpc>
              <a:buNone/>
            </a:pPr>
            <a:r>
              <a:rPr lang="en-US" sz="3600" b="1" dirty="0">
                <a:solidFill>
                  <a:srgbClr val="5B2D8F"/>
                </a:solidFill>
                <a:latin typeface="Arial" pitchFamily="34" charset="0"/>
                <a:ea typeface="Arial" pitchFamily="34" charset="-122"/>
                <a:cs typeface="Arial" pitchFamily="34" charset="-120"/>
              </a:rPr>
              <a:t>100%</a:t>
            </a:r>
            <a:endParaRPr lang="en-US" sz="3600" dirty="0"/>
          </a:p>
        </p:txBody>
      </p:sp>
      <p:sp>
        <p:nvSpPr>
          <p:cNvPr id="25" name="Text 23"/>
          <p:cNvSpPr/>
          <p:nvPr/>
        </p:nvSpPr>
        <p:spPr>
          <a:xfrm>
            <a:off x="10259568" y="3794760"/>
            <a:ext cx="1947672" cy="914400"/>
          </a:xfrm>
          <a:prstGeom prst="rect">
            <a:avLst/>
          </a:prstGeom>
          <a:noFill/>
          <a:ln/>
        </p:spPr>
        <p:txBody>
          <a:bodyPr wrap="square" lIns="0" tIns="0" rIns="0" bIns="0" rtlCol="0" anchor="t"/>
          <a:lstStyle/>
          <a:p>
            <a:pPr algn="ctr" indent="0" marL="0">
              <a:lnSpc>
                <a:spcPct val="110000"/>
              </a:lnSpc>
              <a:buNone/>
            </a:pPr>
            <a:r>
              <a:rPr lang="en-US" sz="1600" b="1" dirty="0">
                <a:solidFill>
                  <a:srgbClr val="222222"/>
                </a:solidFill>
                <a:latin typeface="Arial" pitchFamily="34" charset="0"/>
                <a:ea typeface="Arial" pitchFamily="34" charset="-122"/>
                <a:cs typeface="Arial" pitchFamily="34" charset="-120"/>
              </a:rPr>
              <a:t>diet requests understood</a:t>
            </a:r>
            <a:endParaRPr lang="en-US" sz="1600" dirty="0"/>
          </a:p>
        </p:txBody>
      </p:sp>
      <p:sp>
        <p:nvSpPr>
          <p:cNvPr id="26" name="Text 24"/>
          <p:cNvSpPr/>
          <p:nvPr/>
        </p:nvSpPr>
        <p:spPr>
          <a:xfrm>
            <a:off x="10259568" y="4800600"/>
            <a:ext cx="1947672" cy="1874520"/>
          </a:xfrm>
          <a:prstGeom prst="rect">
            <a:avLst/>
          </a:prstGeom>
          <a:noFill/>
          <a:ln/>
        </p:spPr>
        <p:txBody>
          <a:bodyPr wrap="square" lIns="0" tIns="0" rIns="0" bIns="0" rtlCol="0" anchor="t"/>
          <a:lstStyle/>
          <a:p>
            <a:pPr algn="ctr" indent="0" marL="0">
              <a:lnSpc>
                <a:spcPct val="110000"/>
              </a:lnSpc>
              <a:buNone/>
            </a:pPr>
            <a:r>
              <a:rPr lang="en-US" sz="1400" dirty="0">
                <a:solidFill>
                  <a:srgbClr val="555555"/>
                </a:solidFill>
                <a:latin typeface="Arial" pitchFamily="34" charset="0"/>
                <a:ea typeface="Arial" pitchFamily="34" charset="-122"/>
                <a:cs typeface="Arial" pitchFamily="34" charset="-120"/>
              </a:rPr>
              <a:t>swap · dislike · allergy · regenerate</a:t>
            </a:r>
            <a:endParaRPr lang="en-US" sz="1400" dirty="0"/>
          </a:p>
        </p:txBody>
      </p:sp>
      <p:sp>
        <p:nvSpPr>
          <p:cNvPr id="27" name="Success condition"/>
          <p:cNvSpPr/>
          <p:nvPr/>
        </p:nvSpPr>
        <p:spPr>
          <a:xfrm>
            <a:off x="12664440" y="2103120"/>
            <a:ext cx="4709160" cy="4846320"/>
          </a:xfrm>
          <a:prstGeom prst="roundRect">
            <a:avLst>
              <a:gd name="adj" fmla="val 1942"/>
            </a:avLst>
          </a:prstGeom>
          <a:solidFill>
            <a:srgbClr val="F2FBF4"/>
          </a:solidFill>
          <a:ln w="12700">
            <a:solidFill>
              <a:srgbClr val="BFE3C8"/>
            </a:solidFill>
            <a:prstDash val="solid"/>
          </a:ln>
          <a:effectLst>
            <a:outerShdw sx="100000" sy="100000" kx="0" ky="0" algn="bl" rotWithShape="0" blurRad="63500" dist="25400" dir="5400000">
              <a:srgbClr val="000000">
                <a:alpha val="12000"/>
              </a:srgbClr>
            </a:outerShdw>
          </a:effectLst>
        </p:spPr>
      </p:sp>
      <p:sp>
        <p:nvSpPr>
          <p:cNvPr id="28" name="Text 26"/>
          <p:cNvSpPr/>
          <p:nvPr/>
        </p:nvSpPr>
        <p:spPr>
          <a:xfrm>
            <a:off x="12847320" y="2194560"/>
            <a:ext cx="4480560" cy="365760"/>
          </a:xfrm>
          <a:prstGeom prst="rect">
            <a:avLst/>
          </a:prstGeom>
          <a:noFill/>
          <a:ln/>
        </p:spPr>
        <p:txBody>
          <a:bodyPr wrap="square" lIns="0" tIns="0" rIns="0" bIns="0" rtlCol="0" anchor="t"/>
          <a:lstStyle/>
          <a:p>
            <a:pPr algn="l" indent="0" marL="0">
              <a:lnSpc>
                <a:spcPct val="110000"/>
              </a:lnSpc>
              <a:buNone/>
            </a:pPr>
            <a:r>
              <a:rPr lang="en-US" sz="1500" b="1" dirty="0">
                <a:solidFill>
                  <a:srgbClr val="2C6E3F"/>
                </a:solidFill>
                <a:latin typeface="Arial" pitchFamily="34" charset="0"/>
                <a:ea typeface="Arial" pitchFamily="34" charset="-122"/>
                <a:cs typeface="Arial" pitchFamily="34" charset="-120"/>
              </a:rPr>
              <a:t>Success Condition (end-to-end run)</a:t>
            </a:r>
            <a:endParaRPr lang="en-US" sz="1500" dirty="0"/>
          </a:p>
        </p:txBody>
      </p:sp>
      <p:sp>
        <p:nvSpPr>
          <p:cNvPr id="29" name="Shape 27"/>
          <p:cNvSpPr/>
          <p:nvPr/>
        </p:nvSpPr>
        <p:spPr>
          <a:xfrm>
            <a:off x="12893040" y="2697480"/>
            <a:ext cx="4251960" cy="548640"/>
          </a:xfrm>
          <a:prstGeom prst="roundRect">
            <a:avLst>
              <a:gd name="adj" fmla="val 10000"/>
            </a:avLst>
          </a:prstGeom>
          <a:solidFill>
            <a:srgbClr val="FFFFFF"/>
          </a:solidFill>
          <a:ln w="12700">
            <a:solidFill>
              <a:srgbClr val="BFE3C8"/>
            </a:solidFill>
            <a:prstDash val="solid"/>
          </a:ln>
        </p:spPr>
      </p:sp>
      <p:sp>
        <p:nvSpPr>
          <p:cNvPr id="30" name="Text 28"/>
          <p:cNvSpPr/>
          <p:nvPr/>
        </p:nvSpPr>
        <p:spPr>
          <a:xfrm>
            <a:off x="13075920" y="2697480"/>
            <a:ext cx="3383280" cy="548640"/>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Memory + NLP</a:t>
            </a:r>
            <a:endParaRPr lang="en-US" sz="1600" dirty="0"/>
          </a:p>
        </p:txBody>
      </p:sp>
      <p:pic>
        <p:nvPicPr>
          <p:cNvPr id="31" name="Image 0" descr="/home/claude/ppt2/assets/FaCheckCircle_d.png">    </p:cNvPr>
          <p:cNvPicPr>
            <a:picLocks noChangeAspect="1"/>
          </p:cNvPicPr>
          <p:nvPr/>
        </p:nvPicPr>
        <p:blipFill>
          <a:blip r:embed="rId1"/>
          <a:stretch>
            <a:fillRect/>
          </a:stretch>
        </p:blipFill>
        <p:spPr>
          <a:xfrm>
            <a:off x="16642080" y="2788920"/>
            <a:ext cx="365760" cy="365760"/>
          </a:xfrm>
          <a:prstGeom prst="rect">
            <a:avLst/>
          </a:prstGeom>
        </p:spPr>
      </p:pic>
      <p:sp>
        <p:nvSpPr>
          <p:cNvPr id="32" name="Shape 29"/>
          <p:cNvSpPr/>
          <p:nvPr/>
        </p:nvSpPr>
        <p:spPr>
          <a:xfrm>
            <a:off x="12893040" y="3383280"/>
            <a:ext cx="4251960" cy="548640"/>
          </a:xfrm>
          <a:prstGeom prst="roundRect">
            <a:avLst>
              <a:gd name="adj" fmla="val 10000"/>
            </a:avLst>
          </a:prstGeom>
          <a:solidFill>
            <a:srgbClr val="FFFFFF"/>
          </a:solidFill>
          <a:ln w="12700">
            <a:solidFill>
              <a:srgbClr val="BFE3C8"/>
            </a:solidFill>
            <a:prstDash val="solid"/>
          </a:ln>
        </p:spPr>
      </p:sp>
      <p:sp>
        <p:nvSpPr>
          <p:cNvPr id="33" name="Text 30"/>
          <p:cNvSpPr/>
          <p:nvPr/>
        </p:nvSpPr>
        <p:spPr>
          <a:xfrm>
            <a:off x="13075920" y="3383280"/>
            <a:ext cx="3383280" cy="548640"/>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Routing + research</a:t>
            </a:r>
            <a:endParaRPr lang="en-US" sz="1600" dirty="0"/>
          </a:p>
        </p:txBody>
      </p:sp>
      <p:pic>
        <p:nvPicPr>
          <p:cNvPr id="34" name="Image 1" descr="/home/claude/ppt2/assets/FaCheckCircle_d.png">    </p:cNvPr>
          <p:cNvPicPr>
            <a:picLocks noChangeAspect="1"/>
          </p:cNvPicPr>
          <p:nvPr/>
        </p:nvPicPr>
        <p:blipFill>
          <a:blip r:embed="rId2"/>
          <a:stretch>
            <a:fillRect/>
          </a:stretch>
        </p:blipFill>
        <p:spPr>
          <a:xfrm>
            <a:off x="16642080" y="3474720"/>
            <a:ext cx="365760" cy="365760"/>
          </a:xfrm>
          <a:prstGeom prst="rect">
            <a:avLst/>
          </a:prstGeom>
        </p:spPr>
      </p:pic>
      <p:sp>
        <p:nvSpPr>
          <p:cNvPr id="35" name="Shape 31"/>
          <p:cNvSpPr/>
          <p:nvPr/>
        </p:nvSpPr>
        <p:spPr>
          <a:xfrm>
            <a:off x="12893040" y="4069080"/>
            <a:ext cx="4251960" cy="548640"/>
          </a:xfrm>
          <a:prstGeom prst="roundRect">
            <a:avLst>
              <a:gd name="adj" fmla="val 10000"/>
            </a:avLst>
          </a:prstGeom>
          <a:solidFill>
            <a:srgbClr val="FFFFFF"/>
          </a:solidFill>
          <a:ln w="12700">
            <a:solidFill>
              <a:srgbClr val="BFE3C8"/>
            </a:solidFill>
            <a:prstDash val="solid"/>
          </a:ln>
        </p:spPr>
      </p:sp>
      <p:sp>
        <p:nvSpPr>
          <p:cNvPr id="36" name="Text 32"/>
          <p:cNvSpPr/>
          <p:nvPr/>
        </p:nvSpPr>
        <p:spPr>
          <a:xfrm>
            <a:off x="13075920" y="4069080"/>
            <a:ext cx="3383280" cy="548640"/>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Specialists + mediator</a:t>
            </a:r>
            <a:endParaRPr lang="en-US" sz="1600" dirty="0"/>
          </a:p>
        </p:txBody>
      </p:sp>
      <p:pic>
        <p:nvPicPr>
          <p:cNvPr id="37" name="Image 2" descr="/home/claude/ppt2/assets/FaCheckCircle_d.png">    </p:cNvPr>
          <p:cNvPicPr>
            <a:picLocks noChangeAspect="1"/>
          </p:cNvPicPr>
          <p:nvPr/>
        </p:nvPicPr>
        <p:blipFill>
          <a:blip r:embed="rId3"/>
          <a:stretch>
            <a:fillRect/>
          </a:stretch>
        </p:blipFill>
        <p:spPr>
          <a:xfrm>
            <a:off x="16642080" y="4160520"/>
            <a:ext cx="365760" cy="365760"/>
          </a:xfrm>
          <a:prstGeom prst="rect">
            <a:avLst/>
          </a:prstGeom>
        </p:spPr>
      </p:pic>
      <p:sp>
        <p:nvSpPr>
          <p:cNvPr id="38" name="Shape 33"/>
          <p:cNvSpPr/>
          <p:nvPr/>
        </p:nvSpPr>
        <p:spPr>
          <a:xfrm>
            <a:off x="12893040" y="4754880"/>
            <a:ext cx="4251960" cy="548640"/>
          </a:xfrm>
          <a:prstGeom prst="roundRect">
            <a:avLst>
              <a:gd name="adj" fmla="val 10000"/>
            </a:avLst>
          </a:prstGeom>
          <a:solidFill>
            <a:srgbClr val="FFFFFF"/>
          </a:solidFill>
          <a:ln w="12700">
            <a:solidFill>
              <a:srgbClr val="BFE3C8"/>
            </a:solidFill>
            <a:prstDash val="solid"/>
          </a:ln>
        </p:spPr>
      </p:sp>
      <p:sp>
        <p:nvSpPr>
          <p:cNvPr id="39" name="Text 34"/>
          <p:cNvSpPr/>
          <p:nvPr/>
        </p:nvSpPr>
        <p:spPr>
          <a:xfrm>
            <a:off x="13075920" y="4754880"/>
            <a:ext cx="3383280" cy="548640"/>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Guardian + critic</a:t>
            </a:r>
            <a:endParaRPr lang="en-US" sz="1600" dirty="0"/>
          </a:p>
        </p:txBody>
      </p:sp>
      <p:pic>
        <p:nvPicPr>
          <p:cNvPr id="40" name="Image 3" descr="/home/claude/ppt2/assets/FaCheckCircle_d.png">    </p:cNvPr>
          <p:cNvPicPr>
            <a:picLocks noChangeAspect="1"/>
          </p:cNvPicPr>
          <p:nvPr/>
        </p:nvPicPr>
        <p:blipFill>
          <a:blip r:embed="rId4"/>
          <a:stretch>
            <a:fillRect/>
          </a:stretch>
        </p:blipFill>
        <p:spPr>
          <a:xfrm>
            <a:off x="16642080" y="4846320"/>
            <a:ext cx="365760" cy="365760"/>
          </a:xfrm>
          <a:prstGeom prst="rect">
            <a:avLst/>
          </a:prstGeom>
        </p:spPr>
      </p:pic>
      <p:sp>
        <p:nvSpPr>
          <p:cNvPr id="41" name="Shape 35"/>
          <p:cNvSpPr/>
          <p:nvPr/>
        </p:nvSpPr>
        <p:spPr>
          <a:xfrm>
            <a:off x="12893040" y="5440680"/>
            <a:ext cx="4251960" cy="548640"/>
          </a:xfrm>
          <a:prstGeom prst="roundRect">
            <a:avLst>
              <a:gd name="adj" fmla="val 10000"/>
            </a:avLst>
          </a:prstGeom>
          <a:solidFill>
            <a:srgbClr val="FFFFFF"/>
          </a:solidFill>
          <a:ln w="12700">
            <a:solidFill>
              <a:srgbClr val="BFE3C8"/>
            </a:solidFill>
            <a:prstDash val="solid"/>
          </a:ln>
        </p:spPr>
      </p:sp>
      <p:sp>
        <p:nvSpPr>
          <p:cNvPr id="42" name="Text 36"/>
          <p:cNvSpPr/>
          <p:nvPr/>
        </p:nvSpPr>
        <p:spPr>
          <a:xfrm>
            <a:off x="13075920" y="5440680"/>
            <a:ext cx="3383280" cy="548640"/>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Human approval</a:t>
            </a:r>
            <a:endParaRPr lang="en-US" sz="1600" dirty="0"/>
          </a:p>
        </p:txBody>
      </p:sp>
      <p:pic>
        <p:nvPicPr>
          <p:cNvPr id="43" name="Image 4" descr="/home/claude/ppt2/assets/FaCheckCircle_d.png">    </p:cNvPr>
          <p:cNvPicPr>
            <a:picLocks noChangeAspect="1"/>
          </p:cNvPicPr>
          <p:nvPr/>
        </p:nvPicPr>
        <p:blipFill>
          <a:blip r:embed="rId5"/>
          <a:stretch>
            <a:fillRect/>
          </a:stretch>
        </p:blipFill>
        <p:spPr>
          <a:xfrm>
            <a:off x="16642080" y="5532120"/>
            <a:ext cx="365760" cy="365760"/>
          </a:xfrm>
          <a:prstGeom prst="rect">
            <a:avLst/>
          </a:prstGeom>
        </p:spPr>
      </p:pic>
      <p:sp>
        <p:nvSpPr>
          <p:cNvPr id="44" name="Shape 37"/>
          <p:cNvSpPr/>
          <p:nvPr/>
        </p:nvSpPr>
        <p:spPr>
          <a:xfrm>
            <a:off x="12893040" y="6126480"/>
            <a:ext cx="4251960" cy="548640"/>
          </a:xfrm>
          <a:prstGeom prst="roundRect">
            <a:avLst>
              <a:gd name="adj" fmla="val 10000"/>
            </a:avLst>
          </a:prstGeom>
          <a:solidFill>
            <a:srgbClr val="FFFFFF"/>
          </a:solidFill>
          <a:ln w="12700">
            <a:solidFill>
              <a:srgbClr val="BFE3C8"/>
            </a:solidFill>
            <a:prstDash val="solid"/>
          </a:ln>
        </p:spPr>
      </p:sp>
      <p:sp>
        <p:nvSpPr>
          <p:cNvPr id="45" name="Text 38"/>
          <p:cNvSpPr/>
          <p:nvPr/>
        </p:nvSpPr>
        <p:spPr>
          <a:xfrm>
            <a:off x="13075920" y="6126480"/>
            <a:ext cx="3383280" cy="548640"/>
          </a:xfrm>
          <a:prstGeom prst="rect">
            <a:avLst/>
          </a:prstGeom>
          <a:noFill/>
          <a:ln/>
        </p:spPr>
        <p:txBody>
          <a:bodyPr wrap="square" lIns="0" tIns="0" rIns="0" bIns="0" rtlCol="0" anchor="ctr"/>
          <a:lstStyle/>
          <a:p>
            <a:pPr algn="l" indent="0" marL="0">
              <a:lnSpc>
                <a:spcPct val="110000"/>
              </a:lnSpc>
              <a:buNone/>
            </a:pPr>
            <a:r>
              <a:rPr lang="en-US" sz="1600" dirty="0">
                <a:solidFill>
                  <a:srgbClr val="222222"/>
                </a:solidFill>
                <a:latin typeface="Arial" pitchFamily="34" charset="0"/>
                <a:ea typeface="Arial" pitchFamily="34" charset="-122"/>
                <a:cs typeface="Arial" pitchFamily="34" charset="-120"/>
              </a:rPr>
              <a:t>Plan and memory saved</a:t>
            </a:r>
            <a:endParaRPr lang="en-US" sz="1600" dirty="0"/>
          </a:p>
        </p:txBody>
      </p:sp>
      <p:pic>
        <p:nvPicPr>
          <p:cNvPr id="46" name="Image 5" descr="/home/claude/ppt2/assets/FaCheckCircle_d.png">    </p:cNvPr>
          <p:cNvPicPr>
            <a:picLocks noChangeAspect="1"/>
          </p:cNvPicPr>
          <p:nvPr/>
        </p:nvPicPr>
        <p:blipFill>
          <a:blip r:embed="rId6"/>
          <a:stretch>
            <a:fillRect/>
          </a:stretch>
        </p:blipFill>
        <p:spPr>
          <a:xfrm>
            <a:off x="16642080" y="6217920"/>
            <a:ext cx="365760" cy="365760"/>
          </a:xfrm>
          <a:prstGeom prst="rect">
            <a:avLst/>
          </a:prstGeom>
        </p:spPr>
      </p:pic>
      <p:sp>
        <p:nvSpPr>
          <p:cNvPr id="47" name="Main result"/>
          <p:cNvSpPr/>
          <p:nvPr/>
        </p:nvSpPr>
        <p:spPr>
          <a:xfrm>
            <a:off x="914400" y="7132320"/>
            <a:ext cx="16459200" cy="2011680"/>
          </a:xfrm>
          <a:prstGeom prst="roundRect">
            <a:avLst>
              <a:gd name="adj" fmla="val 4545"/>
            </a:avLst>
          </a:prstGeom>
          <a:solidFill>
            <a:srgbClr val="FDF2F2"/>
          </a:solidFill>
          <a:ln w="12700">
            <a:solidFill>
              <a:srgbClr val="EBC3C3"/>
            </a:solidFill>
            <a:prstDash val="solid"/>
          </a:ln>
          <a:effectLst>
            <a:outerShdw sx="100000" sy="100000" kx="0" ky="0" algn="bl" rotWithShape="0" blurRad="63500" dist="25400" dir="5400000">
              <a:srgbClr val="000000">
                <a:alpha val="12000"/>
              </a:srgbClr>
            </a:outerShdw>
          </a:effectLst>
        </p:spPr>
      </p:sp>
      <p:sp>
        <p:nvSpPr>
          <p:cNvPr id="48" name="Text 40"/>
          <p:cNvSpPr/>
          <p:nvPr/>
        </p:nvSpPr>
        <p:spPr>
          <a:xfrm>
            <a:off x="1143000" y="7205472"/>
            <a:ext cx="3657600" cy="365760"/>
          </a:xfrm>
          <a:prstGeom prst="rect">
            <a:avLst/>
          </a:prstGeom>
          <a:noFill/>
          <a:ln/>
        </p:spPr>
        <p:txBody>
          <a:bodyPr wrap="square" lIns="0" tIns="0" rIns="0" bIns="0" rtlCol="0" anchor="t"/>
          <a:lstStyle/>
          <a:p>
            <a:pPr algn="l" indent="0" marL="0">
              <a:lnSpc>
                <a:spcPct val="110000"/>
              </a:lnSpc>
              <a:buNone/>
            </a:pPr>
            <a:r>
              <a:rPr lang="en-US" sz="1600" b="1" dirty="0">
                <a:solidFill>
                  <a:srgbClr val="8C2A2A"/>
                </a:solidFill>
                <a:latin typeface="Arial" pitchFamily="34" charset="0"/>
                <a:ea typeface="Arial" pitchFamily="34" charset="-122"/>
                <a:cs typeface="Arial" pitchFamily="34" charset="-120"/>
              </a:rPr>
              <a:t>Main Result</a:t>
            </a:r>
            <a:endParaRPr lang="en-US" sz="1600" dirty="0"/>
          </a:p>
        </p:txBody>
      </p:sp>
      <p:pic>
        <p:nvPicPr>
          <p:cNvPr id="49" name="Image 6" descr="/home/claude/ppt2/assets/FaCheckCircle_d.png">    </p:cNvPr>
          <p:cNvPicPr>
            <a:picLocks noChangeAspect="1"/>
          </p:cNvPicPr>
          <p:nvPr/>
        </p:nvPicPr>
        <p:blipFill>
          <a:blip r:embed="rId7"/>
          <a:stretch>
            <a:fillRect/>
          </a:stretch>
        </p:blipFill>
        <p:spPr>
          <a:xfrm>
            <a:off x="1280160" y="7726680"/>
            <a:ext cx="822960" cy="822960"/>
          </a:xfrm>
          <a:prstGeom prst="rect">
            <a:avLst/>
          </a:prstGeom>
        </p:spPr>
      </p:pic>
      <p:sp>
        <p:nvSpPr>
          <p:cNvPr id="50" name="Text 41"/>
          <p:cNvSpPr/>
          <p:nvPr/>
        </p:nvSpPr>
        <p:spPr>
          <a:xfrm>
            <a:off x="2377440" y="7589520"/>
            <a:ext cx="14721840" cy="1463040"/>
          </a:xfrm>
          <a:prstGeom prst="rect">
            <a:avLst/>
          </a:prstGeom>
          <a:noFill/>
          <a:ln/>
        </p:spPr>
        <p:txBody>
          <a:bodyPr wrap="square" lIns="0" tIns="0" rIns="0" bIns="0" rtlCol="0" anchor="ctr"/>
          <a:lstStyle/>
          <a:p>
            <a:pPr algn="l" indent="0" marL="0">
              <a:lnSpc>
                <a:spcPct val="115000"/>
              </a:lnSpc>
              <a:buNone/>
            </a:pPr>
            <a:r>
              <a:rPr lang="en-US" sz="1700" b="1" dirty="0">
                <a:solidFill>
                  <a:srgbClr val="222222"/>
                </a:solidFill>
                <a:latin typeface="Arial" pitchFamily="34" charset="0"/>
                <a:ea typeface="Arial" pitchFamily="34" charset="-122"/>
                <a:cs typeface="Arial" pitchFamily="34" charset="-120"/>
              </a:rPr>
              <a:t>Success means a complete, safe and approved change — not just an AI reply. </a:t>
            </a:r>
            <a:pPr algn="l" indent="0" marL="0">
              <a:lnSpc>
                <a:spcPct val="115000"/>
              </a:lnSpc>
              <a:buNone/>
            </a:pPr>
            <a:r>
              <a:rPr lang="en-US" sz="1700" dirty="0">
                <a:solidFill>
                  <a:srgbClr val="222222"/>
                </a:solidFill>
                <a:latin typeface="Arial" pitchFamily="34" charset="0"/>
                <a:ea typeface="Arial" pitchFamily="34" charset="-122"/>
                <a:cs typeface="Arial" pitchFamily="34" charset="-120"/>
              </a:rPr>
              <a:t>All three agent teams completed end-to-end runs with the approval step in testing. LLM answer quality (Llama 3.1 vs Qwen 2.5 across 4 systems) is measured with run_eval.py on the GPU laptop.</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17</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Comparison &amp; Innovation</a:t>
            </a:r>
            <a:endParaRPr lang="en-US" sz="4000" dirty="0"/>
          </a:p>
        </p:txBody>
      </p:sp>
      <p:graphicFrame>
        <p:nvGraphicFramePr>
          <p:cNvPr id="19" name="Comparison table"/>
          <p:cNvGraphicFramePr>
            <a:graphicFrameLocks noGrp="1"/>
          </p:cNvGraphicFramePr>
          <p:nvPr>
            <p:extLst>
              <p:ext uri="{D42A27DB-BD31-4B8C-83A1-F6EECF244321}">
                <p14:modId xmlns:p14="http://schemas.microsoft.com/office/powerpoint/2010/main" val="1579011935"/>
              </p:ext>
            </p:extLst>
          </p:nvPr>
        </p:nvGraphicFramePr>
        <p:xfrm>
          <a:off x="914400" y="2103120"/>
          <a:ext cx="10607040" cy="914400"/>
        </p:xfrm>
        <a:graphic>
          <a:graphicData uri="http://schemas.openxmlformats.org/drawingml/2006/table">
            <a:tbl>
              <a:tblPr/>
              <a:tblGrid>
                <a:gridCol w="3657600"/>
                <a:gridCol w="1600200"/>
                <a:gridCol w="1691640"/>
                <a:gridCol w="2011680"/>
                <a:gridCol w="1645920"/>
              </a:tblGrid>
              <a:tr h="612648">
                <a:tc>
                  <a:txBody>
                    <a:bodyPr/>
                    <a:lstStyle/>
                    <a:p>
                      <a:pPr algn="ctr" indent="0" marL="0">
                        <a:buNone/>
                      </a:pPr>
                      <a:r>
                        <a:rPr lang="en-US" sz="1600" b="1" dirty="0">
                          <a:solidFill>
                            <a:srgbClr val="222222"/>
                          </a:solidFill>
                          <a:latin typeface="Arial" pitchFamily="34" charset="0"/>
                          <a:ea typeface="Arial" pitchFamily="34" charset="-122"/>
                          <a:cs typeface="Arial" pitchFamily="34" charset="-120"/>
                        </a:rPr>
                        <a:t>Feature</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1ECFB"/>
                    </a:solidFill>
                  </a:tcPr>
                </a:tc>
                <a:tc>
                  <a:txBody>
                    <a:bodyPr/>
                    <a:lstStyle/>
                    <a:p>
                      <a:pPr algn="ctr" indent="0" marL="0">
                        <a:buNone/>
                      </a:pPr>
                      <a:r>
                        <a:rPr lang="en-US" sz="1600" b="1" dirty="0">
                          <a:solidFill>
                            <a:srgbClr val="222222"/>
                          </a:solidFill>
                          <a:latin typeface="Arial" pitchFamily="34" charset="0"/>
                          <a:ea typeface="Arial" pitchFamily="34" charset="-122"/>
                          <a:cs typeface="Arial" pitchFamily="34" charset="-120"/>
                        </a:rPr>
                        <a:t>LLM only</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1ECFB"/>
                    </a:solidFill>
                  </a:tcPr>
                </a:tc>
                <a:tc>
                  <a:txBody>
                    <a:bodyPr/>
                    <a:lstStyle/>
                    <a:p>
                      <a:pPr algn="ctr" indent="0" marL="0">
                        <a:buNone/>
                      </a:pPr>
                      <a:r>
                        <a:rPr lang="en-US" sz="1600" b="1" dirty="0">
                          <a:solidFill>
                            <a:srgbClr val="222222"/>
                          </a:solidFill>
                          <a:latin typeface="Arial" pitchFamily="34" charset="0"/>
                          <a:ea typeface="Arial" pitchFamily="34" charset="-122"/>
                          <a:cs typeface="Arial" pitchFamily="34" charset="-120"/>
                        </a:rPr>
                        <a:t>Basic RAG</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1ECFB"/>
                    </a:solidFill>
                  </a:tcPr>
                </a:tc>
                <a:tc>
                  <a:txBody>
                    <a:bodyPr/>
                    <a:lstStyle/>
                    <a:p>
                      <a:pPr algn="ctr" indent="0" marL="0">
                        <a:buNone/>
                      </a:pPr>
                      <a:r>
                        <a:rPr lang="en-US" sz="1600" b="1" dirty="0">
                          <a:solidFill>
                            <a:srgbClr val="222222"/>
                          </a:solidFill>
                          <a:latin typeface="Arial" pitchFamily="34" charset="0"/>
                          <a:ea typeface="Arial" pitchFamily="34" charset="-122"/>
                          <a:cs typeface="Arial" pitchFamily="34" charset="-120"/>
                        </a:rPr>
                        <a:t>Single agent (v1)</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1ECFB"/>
                    </a:solidFill>
                  </a:tcPr>
                </a:tc>
                <a:tc>
                  <a:txBody>
                    <a:bodyPr/>
                    <a:lstStyle/>
                    <a:p>
                      <a:pPr algn="ctr" indent="0" marL="0">
                        <a:buNone/>
                      </a:pPr>
                      <a:r>
                        <a:rPr lang="en-US" sz="1600" b="1" dirty="0">
                          <a:solidFill>
                            <a:srgbClr val="222222"/>
                          </a:solidFill>
                          <a:latin typeface="Arial" pitchFamily="34" charset="0"/>
                          <a:ea typeface="Arial" pitchFamily="34" charset="-122"/>
                          <a:cs typeface="Arial" pitchFamily="34" charset="-120"/>
                        </a:rPr>
                        <a:t>Health Pilot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1ECFB"/>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Uses profile, mood and habits</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Limited</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Limited</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Grounded, cited answers</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Self-correcting retrieval</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Multiple specialist agents</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Conflict resolution (Mediator)</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Rule-based safety veto</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Partial</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Cross-model critic</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Human approval of plan changes</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Builds and adapts the diet plan</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612648">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Autonomous weekly review</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76200" marR="76200" marT="25400" marB="25400"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bl>
          </a:graphicData>
        </a:graphic>
      </p:graphicFrame>
      <p:sp>
        <p:nvSpPr>
          <p:cNvPr id="6" name="Text 3"/>
          <p:cNvSpPr/>
          <p:nvPr/>
        </p:nvSpPr>
        <p:spPr>
          <a:xfrm>
            <a:off x="12252960" y="2377440"/>
            <a:ext cx="5120640" cy="548640"/>
          </a:xfrm>
          <a:prstGeom prst="rect">
            <a:avLst/>
          </a:prstGeom>
          <a:noFill/>
          <a:ln/>
        </p:spPr>
        <p:txBody>
          <a:bodyPr wrap="square" lIns="0" tIns="0" rIns="0" bIns="0" rtlCol="0" anchor="t"/>
          <a:lstStyle/>
          <a:p>
            <a:pPr algn="ctr" indent="0" marL="0">
              <a:lnSpc>
                <a:spcPct val="110000"/>
              </a:lnSpc>
              <a:buNone/>
            </a:pPr>
            <a:r>
              <a:rPr lang="en-US" sz="2400" b="1" dirty="0">
                <a:solidFill>
                  <a:srgbClr val="222222"/>
                </a:solidFill>
                <a:latin typeface="Arial" pitchFamily="34" charset="0"/>
                <a:ea typeface="Arial" pitchFamily="34" charset="-122"/>
                <a:cs typeface="Arial" pitchFamily="34" charset="-120"/>
              </a:rPr>
              <a:t>Our Innovation</a:t>
            </a:r>
            <a:endParaRPr lang="en-US" sz="2400" dirty="0"/>
          </a:p>
        </p:txBody>
      </p:sp>
      <p:sp>
        <p:nvSpPr>
          <p:cNvPr id="7" name="Text 4"/>
          <p:cNvSpPr/>
          <p:nvPr/>
        </p:nvSpPr>
        <p:spPr>
          <a:xfrm>
            <a:off x="12252960" y="3108960"/>
            <a:ext cx="5120640" cy="2103120"/>
          </a:xfrm>
          <a:prstGeom prst="rect">
            <a:avLst/>
          </a:prstGeom>
          <a:noFill/>
          <a:ln/>
        </p:spPr>
        <p:txBody>
          <a:bodyPr wrap="square" lIns="0" tIns="0" rIns="0" bIns="0" rtlCol="0" anchor="t"/>
          <a:lstStyle/>
          <a:p>
            <a:pPr algn="ctr" indent="0" marL="0">
              <a:lnSpc>
                <a:spcPct val="120000"/>
              </a:lnSpc>
              <a:buNone/>
            </a:pPr>
            <a:r>
              <a:rPr lang="en-US" sz="2100" dirty="0">
                <a:solidFill>
                  <a:srgbClr val="222222"/>
                </a:solidFill>
                <a:latin typeface="Arial" pitchFamily="34" charset="0"/>
                <a:ea typeface="Arial" pitchFamily="34" charset="-122"/>
                <a:cs typeface="Arial" pitchFamily="34" charset="-120"/>
              </a:rPr>
              <a:t>Health Pilot connects Perception → Specialists → Mediation → Safety → Human approval → Adaptation in one continuous workflow.</a:t>
            </a:r>
            <a:endParaRPr lang="en-US" sz="2100" dirty="0"/>
          </a:p>
        </p:txBody>
      </p:sp>
      <p:sp>
        <p:nvSpPr>
          <p:cNvPr id="8" name="Text 5"/>
          <p:cNvSpPr/>
          <p:nvPr/>
        </p:nvSpPr>
        <p:spPr>
          <a:xfrm>
            <a:off x="12252960" y="5440680"/>
            <a:ext cx="5120640" cy="2651760"/>
          </a:xfrm>
          <a:prstGeom prst="rect">
            <a:avLst/>
          </a:prstGeom>
          <a:noFill/>
          <a:ln/>
        </p:spPr>
        <p:txBody>
          <a:bodyPr wrap="square" lIns="0" tIns="0" rIns="0" bIns="0" rtlCol="0" anchor="t"/>
          <a:lstStyle/>
          <a:p>
            <a:pPr algn="ctr" indent="0" marL="0">
              <a:lnSpc>
                <a:spcPct val="120000"/>
              </a:lnSpc>
              <a:buNone/>
            </a:pPr>
            <a:r>
              <a:rPr lang="en-US" sz="1800" dirty="0">
                <a:solidFill>
                  <a:srgbClr val="555555"/>
                </a:solidFill>
                <a:latin typeface="Arial" pitchFamily="34" charset="0"/>
                <a:ea typeface="Arial" pitchFamily="34" charset="-122"/>
                <a:cs typeface="Arial" pitchFamily="34" charset="-120"/>
              </a:rPr>
              <a:t>Deterministic safety rules the LLM cannot override, our own NLP models as perception, and everything running on a local GPU so health data stays private.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18</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Scalability &amp; Real-World</a:t>
            </a:r>
            <a:endParaRPr lang="en-US" sz="4000" dirty="0"/>
          </a:p>
        </p:txBody>
      </p:sp>
      <p:sp>
        <p:nvSpPr>
          <p:cNvPr id="5" name="Text 3"/>
          <p:cNvSpPr/>
          <p:nvPr/>
        </p:nvSpPr>
        <p:spPr>
          <a:xfrm>
            <a:off x="822960" y="2194560"/>
            <a:ext cx="5943600" cy="1097280"/>
          </a:xfrm>
          <a:prstGeom prst="rect">
            <a:avLst/>
          </a:prstGeom>
          <a:noFill/>
          <a:ln/>
        </p:spPr>
        <p:txBody>
          <a:bodyPr wrap="square" lIns="0" tIns="0" rIns="0" bIns="0" rtlCol="0" anchor="t"/>
          <a:lstStyle/>
          <a:p>
            <a:pPr algn="l" indent="0" marL="0">
              <a:lnSpc>
                <a:spcPct val="110000"/>
              </a:lnSpc>
              <a:buNone/>
            </a:pPr>
            <a:r>
              <a:rPr lang="en-US" sz="2200" b="1" dirty="0">
                <a:solidFill>
                  <a:srgbClr val="222222"/>
                </a:solidFill>
                <a:latin typeface="Arial" pitchFamily="34" charset="0"/>
                <a:ea typeface="Arial" pitchFamily="34" charset="-122"/>
                <a:cs typeface="Arial" pitchFamily="34" charset="-120"/>
              </a:rPr>
              <a:t>Real-World Applicability</a:t>
            </a:r>
            <a:endParaRPr lang="en-US" sz="1600" dirty="0"/>
          </a:p>
          <a:p>
            <a:pPr algn="l" indent="0" marL="0">
              <a:lnSpc>
                <a:spcPct val="110000"/>
              </a:lnSpc>
              <a:buNone/>
            </a:pPr>
            <a:r>
              <a:rPr lang="en-US" sz="2000" b="1" dirty="0">
                <a:solidFill>
                  <a:srgbClr val="222222"/>
                </a:solidFill>
                <a:latin typeface="Arial" pitchFamily="34" charset="0"/>
                <a:ea typeface="Arial" pitchFamily="34" charset="-122"/>
                <a:cs typeface="Arial" pitchFamily="34" charset="-120"/>
              </a:rPr>
              <a:t>Health Pilot can support:</a:t>
            </a:r>
            <a:endParaRPr lang="en-US" sz="1600" dirty="0"/>
          </a:p>
        </p:txBody>
      </p:sp>
      <p:sp>
        <p:nvSpPr>
          <p:cNvPr id="6" name="Text 4"/>
          <p:cNvSpPr/>
          <p:nvPr/>
        </p:nvSpPr>
        <p:spPr>
          <a:xfrm>
            <a:off x="1005840" y="3429000"/>
            <a:ext cx="5669280" cy="50292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Individuals and families</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College student-wellness cells</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Fitness centres and coaches</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Corporate wellness programmes</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Dietitian support tools</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Digital-health apps</a:t>
            </a:r>
            <a:endParaRPr lang="en-US" sz="2000" dirty="0"/>
          </a:p>
        </p:txBody>
      </p:sp>
      <p:sp>
        <p:nvSpPr>
          <p:cNvPr id="7" name="Text 5"/>
          <p:cNvSpPr/>
          <p:nvPr/>
        </p:nvSpPr>
        <p:spPr>
          <a:xfrm>
            <a:off x="7315200" y="2194560"/>
            <a:ext cx="9601200" cy="548640"/>
          </a:xfrm>
          <a:prstGeom prst="rect">
            <a:avLst/>
          </a:prstGeom>
          <a:noFill/>
          <a:ln/>
        </p:spPr>
        <p:txBody>
          <a:bodyPr wrap="square" lIns="0" tIns="0" rIns="0" bIns="0" rtlCol="0" anchor="t"/>
          <a:lstStyle/>
          <a:p>
            <a:pPr algn="ctr" indent="0" marL="0">
              <a:lnSpc>
                <a:spcPct val="110000"/>
              </a:lnSpc>
              <a:buNone/>
            </a:pPr>
            <a:r>
              <a:rPr lang="en-US" sz="2200" b="1" dirty="0">
                <a:solidFill>
                  <a:srgbClr val="222222"/>
                </a:solidFill>
                <a:latin typeface="Arial" pitchFamily="34" charset="0"/>
                <a:ea typeface="Arial" pitchFamily="34" charset="-122"/>
                <a:cs typeface="Arial" pitchFamily="34" charset="-120"/>
              </a:rPr>
              <a:t>Scalability</a:t>
            </a:r>
            <a:endParaRPr lang="en-US" sz="2200" dirty="0"/>
          </a:p>
        </p:txBody>
      </p:sp>
      <p:sp>
        <p:nvSpPr>
          <p:cNvPr id="8" name="Core"/>
          <p:cNvSpPr/>
          <p:nvPr/>
        </p:nvSpPr>
        <p:spPr>
          <a:xfrm>
            <a:off x="9601200" y="2880360"/>
            <a:ext cx="5029200" cy="1097280"/>
          </a:xfrm>
          <a:prstGeom prst="roundRect">
            <a:avLst>
              <a:gd name="adj" fmla="val 8333"/>
            </a:avLst>
          </a:prstGeom>
          <a:solidFill>
            <a:srgbClr val="E8EEFF"/>
          </a:solidFill>
          <a:ln w="19050">
            <a:solidFill>
              <a:srgbClr val="4A6FD8"/>
            </a:solidFill>
            <a:prstDash val="solid"/>
          </a:ln>
        </p:spPr>
      </p:sp>
      <p:pic>
        <p:nvPicPr>
          <p:cNvPr id="9" name="Image 0" descr="/home/claude/ppt2/assets/FaRobot_d.png">    </p:cNvPr>
          <p:cNvPicPr>
            <a:picLocks noChangeAspect="1"/>
          </p:cNvPicPr>
          <p:nvPr/>
        </p:nvPicPr>
        <p:blipFill>
          <a:blip r:embed="rId1"/>
          <a:stretch>
            <a:fillRect/>
          </a:stretch>
        </p:blipFill>
        <p:spPr>
          <a:xfrm>
            <a:off x="9875520" y="3063240"/>
            <a:ext cx="731520" cy="731520"/>
          </a:xfrm>
          <a:prstGeom prst="rect">
            <a:avLst/>
          </a:prstGeom>
        </p:spPr>
      </p:pic>
      <p:sp>
        <p:nvSpPr>
          <p:cNvPr id="10" name="Text 7"/>
          <p:cNvSpPr/>
          <p:nvPr/>
        </p:nvSpPr>
        <p:spPr>
          <a:xfrm>
            <a:off x="10789920" y="2880360"/>
            <a:ext cx="3657600" cy="1097280"/>
          </a:xfrm>
          <a:prstGeom prst="rect">
            <a:avLst/>
          </a:prstGeom>
          <a:noFill/>
          <a:ln/>
        </p:spPr>
        <p:txBody>
          <a:bodyPr wrap="square" lIns="0" tIns="0" rIns="0" bIns="0" rtlCol="0" anchor="ctr"/>
          <a:lstStyle/>
          <a:p>
            <a:pPr algn="l" indent="0" marL="0">
              <a:lnSpc>
                <a:spcPct val="110000"/>
              </a:lnSpc>
              <a:buNone/>
            </a:pPr>
            <a:r>
              <a:rPr lang="en-US" sz="2400" b="1" dirty="0">
                <a:solidFill>
                  <a:srgbClr val="1F3A6B"/>
                </a:solidFill>
                <a:latin typeface="Arial" pitchFamily="34" charset="0"/>
                <a:ea typeface="Arial" pitchFamily="34" charset="-122"/>
                <a:cs typeface="Arial" pitchFamily="34" charset="-120"/>
              </a:rPr>
              <a:t>HEALTH PILOT</a:t>
            </a:r>
            <a:endParaRPr lang="en-US" sz="2400" dirty="0"/>
          </a:p>
        </p:txBody>
      </p:sp>
      <p:sp>
        <p:nvSpPr>
          <p:cNvPr id="11" name="Shape 8"/>
          <p:cNvSpPr/>
          <p:nvPr/>
        </p:nvSpPr>
        <p:spPr>
          <a:xfrm>
            <a:off x="12115800" y="3977640"/>
            <a:ext cx="0" cy="365760"/>
          </a:xfrm>
          <a:prstGeom prst="line">
            <a:avLst/>
          </a:prstGeom>
          <a:noFill/>
          <a:ln w="19050">
            <a:solidFill>
              <a:srgbClr val="333333"/>
            </a:solidFill>
            <a:prstDash val="solid"/>
          </a:ln>
        </p:spPr>
      </p:sp>
      <p:sp>
        <p:nvSpPr>
          <p:cNvPr id="12" name="Shape 9"/>
          <p:cNvSpPr/>
          <p:nvPr/>
        </p:nvSpPr>
        <p:spPr>
          <a:xfrm>
            <a:off x="9052560" y="4343400"/>
            <a:ext cx="6126480" cy="0"/>
          </a:xfrm>
          <a:prstGeom prst="line">
            <a:avLst/>
          </a:prstGeom>
          <a:noFill/>
          <a:ln w="19050">
            <a:solidFill>
              <a:srgbClr val="333333"/>
            </a:solidFill>
            <a:prstDash val="solid"/>
          </a:ln>
        </p:spPr>
      </p:sp>
      <p:sp>
        <p:nvSpPr>
          <p:cNvPr id="13" name="Shape 10"/>
          <p:cNvSpPr/>
          <p:nvPr/>
        </p:nvSpPr>
        <p:spPr>
          <a:xfrm>
            <a:off x="9052560" y="4343400"/>
            <a:ext cx="0" cy="365760"/>
          </a:xfrm>
          <a:prstGeom prst="line">
            <a:avLst/>
          </a:prstGeom>
          <a:noFill/>
          <a:ln w="19050">
            <a:solidFill>
              <a:srgbClr val="333333"/>
            </a:solidFill>
            <a:prstDash val="solid"/>
            <a:tailEnd type="triangle"/>
          </a:ln>
        </p:spPr>
      </p:sp>
      <p:sp>
        <p:nvSpPr>
          <p:cNvPr id="14" name="New Agents"/>
          <p:cNvSpPr/>
          <p:nvPr/>
        </p:nvSpPr>
        <p:spPr>
          <a:xfrm>
            <a:off x="7680960" y="4709160"/>
            <a:ext cx="2743200" cy="2194560"/>
          </a:xfrm>
          <a:prstGeom prst="roundRect">
            <a:avLst>
              <a:gd name="adj" fmla="val 4167"/>
            </a:avLst>
          </a:prstGeom>
          <a:solidFill>
            <a:srgbClr val="E6F7EC"/>
          </a:solidFill>
          <a:ln w="19050">
            <a:solidFill>
              <a:srgbClr val="3C9A54"/>
            </a:solidFill>
            <a:prstDash val="solid"/>
          </a:ln>
        </p:spPr>
      </p:sp>
      <p:pic>
        <p:nvPicPr>
          <p:cNvPr id="15" name="Image 1" descr="/home/claude/ppt2/assets/FaUserFriends_d.png">    </p:cNvPr>
          <p:cNvPicPr>
            <a:picLocks noChangeAspect="1"/>
          </p:cNvPicPr>
          <p:nvPr/>
        </p:nvPicPr>
        <p:blipFill>
          <a:blip r:embed="rId2"/>
          <a:stretch>
            <a:fillRect/>
          </a:stretch>
        </p:blipFill>
        <p:spPr>
          <a:xfrm>
            <a:off x="8641080" y="4892040"/>
            <a:ext cx="822960" cy="822960"/>
          </a:xfrm>
          <a:prstGeom prst="rect">
            <a:avLst/>
          </a:prstGeom>
        </p:spPr>
      </p:pic>
      <p:sp>
        <p:nvSpPr>
          <p:cNvPr id="16" name="Text 12"/>
          <p:cNvSpPr/>
          <p:nvPr/>
        </p:nvSpPr>
        <p:spPr>
          <a:xfrm>
            <a:off x="7680960" y="5806440"/>
            <a:ext cx="2743200" cy="1005840"/>
          </a:xfrm>
          <a:prstGeom prst="rect">
            <a:avLst/>
          </a:prstGeom>
          <a:noFill/>
          <a:ln/>
        </p:spPr>
        <p:txBody>
          <a:bodyPr wrap="square" lIns="0" tIns="0" rIns="0" bIns="0" rtlCol="0" anchor="t"/>
          <a:lstStyle/>
          <a:p>
            <a:pPr algn="ctr" indent="0" marL="0">
              <a:lnSpc>
                <a:spcPct val="110000"/>
              </a:lnSpc>
              <a:buNone/>
            </a:pPr>
            <a:r>
              <a:rPr lang="en-US" sz="1800" b="1" dirty="0">
                <a:solidFill>
                  <a:srgbClr val="222222"/>
                </a:solidFill>
                <a:latin typeface="Arial" pitchFamily="34" charset="0"/>
                <a:ea typeface="Arial" pitchFamily="34" charset="-122"/>
                <a:cs typeface="Arial" pitchFamily="34" charset="-120"/>
              </a:rPr>
              <a:t>New Agents</a:t>
            </a:r>
            <a:endParaRPr lang="en-US" sz="1800" dirty="0"/>
          </a:p>
          <a:p>
            <a:pPr algn="ctr" indent="0" marL="0">
              <a:lnSpc>
                <a:spcPct val="110000"/>
              </a:lnSpc>
              <a:buNone/>
            </a:pPr>
            <a:r>
              <a:rPr lang="en-US" sz="1300" dirty="0">
                <a:solidFill>
                  <a:srgbClr val="555555"/>
                </a:solidFill>
                <a:latin typeface="Arial" pitchFamily="34" charset="0"/>
                <a:ea typeface="Arial" pitchFamily="34" charset="-122"/>
                <a:cs typeface="Arial" pitchFamily="34" charset="-120"/>
              </a:rPr>
              <a:t>add a LangGraph node</a:t>
            </a:r>
            <a:endParaRPr lang="en-US" sz="1800" dirty="0"/>
          </a:p>
        </p:txBody>
      </p:sp>
      <p:sp>
        <p:nvSpPr>
          <p:cNvPr id="17" name="Shape 13"/>
          <p:cNvSpPr/>
          <p:nvPr/>
        </p:nvSpPr>
        <p:spPr>
          <a:xfrm>
            <a:off x="9052560" y="6903720"/>
            <a:ext cx="0" cy="457200"/>
          </a:xfrm>
          <a:prstGeom prst="line">
            <a:avLst/>
          </a:prstGeom>
          <a:noFill/>
          <a:ln w="19050">
            <a:solidFill>
              <a:srgbClr val="333333"/>
            </a:solidFill>
            <a:prstDash val="solid"/>
            <a:tailEnd type="triangle"/>
          </a:ln>
        </p:spPr>
      </p:sp>
      <p:sp>
        <p:nvSpPr>
          <p:cNvPr id="18" name="Shape 14"/>
          <p:cNvSpPr/>
          <p:nvPr/>
        </p:nvSpPr>
        <p:spPr>
          <a:xfrm>
            <a:off x="12115800" y="4343400"/>
            <a:ext cx="0" cy="365760"/>
          </a:xfrm>
          <a:prstGeom prst="line">
            <a:avLst/>
          </a:prstGeom>
          <a:noFill/>
          <a:ln w="19050">
            <a:solidFill>
              <a:srgbClr val="333333"/>
            </a:solidFill>
            <a:prstDash val="solid"/>
            <a:tailEnd type="triangle"/>
          </a:ln>
        </p:spPr>
      </p:sp>
      <p:sp>
        <p:nvSpPr>
          <p:cNvPr id="19" name="More Knowledge"/>
          <p:cNvSpPr/>
          <p:nvPr/>
        </p:nvSpPr>
        <p:spPr>
          <a:xfrm>
            <a:off x="10744200" y="4709160"/>
            <a:ext cx="2743200" cy="2194560"/>
          </a:xfrm>
          <a:prstGeom prst="roundRect">
            <a:avLst>
              <a:gd name="adj" fmla="val 4167"/>
            </a:avLst>
          </a:prstGeom>
          <a:solidFill>
            <a:srgbClr val="E8F1FB"/>
          </a:solidFill>
          <a:ln w="19050">
            <a:solidFill>
              <a:srgbClr val="4A6FD8"/>
            </a:solidFill>
            <a:prstDash val="solid"/>
          </a:ln>
        </p:spPr>
      </p:sp>
      <p:pic>
        <p:nvPicPr>
          <p:cNvPr id="20" name="Image 2" descr="/home/claude/ppt2/assets/FaBook_d.png">    </p:cNvPr>
          <p:cNvPicPr>
            <a:picLocks noChangeAspect="1"/>
          </p:cNvPicPr>
          <p:nvPr/>
        </p:nvPicPr>
        <p:blipFill>
          <a:blip r:embed="rId3"/>
          <a:stretch>
            <a:fillRect/>
          </a:stretch>
        </p:blipFill>
        <p:spPr>
          <a:xfrm>
            <a:off x="11704320" y="4892040"/>
            <a:ext cx="822960" cy="822960"/>
          </a:xfrm>
          <a:prstGeom prst="rect">
            <a:avLst/>
          </a:prstGeom>
        </p:spPr>
      </p:pic>
      <p:sp>
        <p:nvSpPr>
          <p:cNvPr id="21" name="Text 16"/>
          <p:cNvSpPr/>
          <p:nvPr/>
        </p:nvSpPr>
        <p:spPr>
          <a:xfrm>
            <a:off x="10744200" y="5806440"/>
            <a:ext cx="2743200" cy="1005840"/>
          </a:xfrm>
          <a:prstGeom prst="rect">
            <a:avLst/>
          </a:prstGeom>
          <a:noFill/>
          <a:ln/>
        </p:spPr>
        <p:txBody>
          <a:bodyPr wrap="square" lIns="0" tIns="0" rIns="0" bIns="0" rtlCol="0" anchor="t"/>
          <a:lstStyle/>
          <a:p>
            <a:pPr algn="ctr" indent="0" marL="0">
              <a:lnSpc>
                <a:spcPct val="110000"/>
              </a:lnSpc>
              <a:buNone/>
            </a:pPr>
            <a:r>
              <a:rPr lang="en-US" sz="1800" b="1" dirty="0">
                <a:solidFill>
                  <a:srgbClr val="222222"/>
                </a:solidFill>
                <a:latin typeface="Arial" pitchFamily="34" charset="0"/>
                <a:ea typeface="Arial" pitchFamily="34" charset="-122"/>
                <a:cs typeface="Arial" pitchFamily="34" charset="-120"/>
              </a:rPr>
              <a:t>More Knowledge</a:t>
            </a:r>
            <a:endParaRPr lang="en-US" sz="1800" dirty="0"/>
          </a:p>
          <a:p>
            <a:pPr algn="ctr" indent="0" marL="0">
              <a:lnSpc>
                <a:spcPct val="110000"/>
              </a:lnSpc>
              <a:buNone/>
            </a:pPr>
            <a:r>
              <a:rPr lang="en-US" sz="1300" dirty="0">
                <a:solidFill>
                  <a:srgbClr val="555555"/>
                </a:solidFill>
                <a:latin typeface="Arial" pitchFamily="34" charset="0"/>
                <a:ea typeface="Arial" pitchFamily="34" charset="-122"/>
                <a:cs typeface="Arial" pitchFamily="34" charset="-120"/>
              </a:rPr>
              <a:t>drop in guideline files</a:t>
            </a:r>
            <a:endParaRPr lang="en-US" sz="1800" dirty="0"/>
          </a:p>
        </p:txBody>
      </p:sp>
      <p:sp>
        <p:nvSpPr>
          <p:cNvPr id="22" name="Shape 17"/>
          <p:cNvSpPr/>
          <p:nvPr/>
        </p:nvSpPr>
        <p:spPr>
          <a:xfrm>
            <a:off x="12115800" y="6903720"/>
            <a:ext cx="0" cy="457200"/>
          </a:xfrm>
          <a:prstGeom prst="line">
            <a:avLst/>
          </a:prstGeom>
          <a:noFill/>
          <a:ln w="19050">
            <a:solidFill>
              <a:srgbClr val="333333"/>
            </a:solidFill>
            <a:prstDash val="solid"/>
            <a:tailEnd type="triangle"/>
          </a:ln>
        </p:spPr>
      </p:sp>
      <p:sp>
        <p:nvSpPr>
          <p:cNvPr id="23" name="Shape 18"/>
          <p:cNvSpPr/>
          <p:nvPr/>
        </p:nvSpPr>
        <p:spPr>
          <a:xfrm>
            <a:off x="15179040" y="4343400"/>
            <a:ext cx="0" cy="365760"/>
          </a:xfrm>
          <a:prstGeom prst="line">
            <a:avLst/>
          </a:prstGeom>
          <a:noFill/>
          <a:ln w="19050">
            <a:solidFill>
              <a:srgbClr val="333333"/>
            </a:solidFill>
            <a:prstDash val="solid"/>
            <a:tailEnd type="triangle"/>
          </a:ln>
        </p:spPr>
      </p:sp>
      <p:sp>
        <p:nvSpPr>
          <p:cNvPr id="24" name="Bigger Models"/>
          <p:cNvSpPr/>
          <p:nvPr/>
        </p:nvSpPr>
        <p:spPr>
          <a:xfrm>
            <a:off x="13807440" y="4709160"/>
            <a:ext cx="2743200" cy="2194560"/>
          </a:xfrm>
          <a:prstGeom prst="roundRect">
            <a:avLst>
              <a:gd name="adj" fmla="val 4167"/>
            </a:avLst>
          </a:prstGeom>
          <a:solidFill>
            <a:srgbClr val="FFEBDD"/>
          </a:solidFill>
          <a:ln w="19050">
            <a:solidFill>
              <a:srgbClr val="E07A30"/>
            </a:solidFill>
            <a:prstDash val="solid"/>
          </a:ln>
        </p:spPr>
      </p:sp>
      <p:pic>
        <p:nvPicPr>
          <p:cNvPr id="25" name="Image 3" descr="/home/claude/ppt2/assets/FaMicrochip_d.png">    </p:cNvPr>
          <p:cNvPicPr>
            <a:picLocks noChangeAspect="1"/>
          </p:cNvPicPr>
          <p:nvPr/>
        </p:nvPicPr>
        <p:blipFill>
          <a:blip r:embed="rId4"/>
          <a:stretch>
            <a:fillRect/>
          </a:stretch>
        </p:blipFill>
        <p:spPr>
          <a:xfrm>
            <a:off x="14767560" y="4892040"/>
            <a:ext cx="822960" cy="822960"/>
          </a:xfrm>
          <a:prstGeom prst="rect">
            <a:avLst/>
          </a:prstGeom>
        </p:spPr>
      </p:pic>
      <p:sp>
        <p:nvSpPr>
          <p:cNvPr id="26" name="Text 20"/>
          <p:cNvSpPr/>
          <p:nvPr/>
        </p:nvSpPr>
        <p:spPr>
          <a:xfrm>
            <a:off x="13807440" y="5806440"/>
            <a:ext cx="2743200" cy="1005840"/>
          </a:xfrm>
          <a:prstGeom prst="rect">
            <a:avLst/>
          </a:prstGeom>
          <a:noFill/>
          <a:ln/>
        </p:spPr>
        <p:txBody>
          <a:bodyPr wrap="square" lIns="0" tIns="0" rIns="0" bIns="0" rtlCol="0" anchor="t"/>
          <a:lstStyle/>
          <a:p>
            <a:pPr algn="ctr" indent="0" marL="0">
              <a:lnSpc>
                <a:spcPct val="110000"/>
              </a:lnSpc>
              <a:buNone/>
            </a:pPr>
            <a:r>
              <a:rPr lang="en-US" sz="1800" b="1" dirty="0">
                <a:solidFill>
                  <a:srgbClr val="222222"/>
                </a:solidFill>
                <a:latin typeface="Arial" pitchFamily="34" charset="0"/>
                <a:ea typeface="Arial" pitchFamily="34" charset="-122"/>
                <a:cs typeface="Arial" pitchFamily="34" charset="-120"/>
              </a:rPr>
              <a:t>Bigger Models</a:t>
            </a:r>
            <a:endParaRPr lang="en-US" sz="1800" dirty="0"/>
          </a:p>
          <a:p>
            <a:pPr algn="ctr" indent="0" marL="0">
              <a:lnSpc>
                <a:spcPct val="110000"/>
              </a:lnSpc>
              <a:buNone/>
            </a:pPr>
            <a:r>
              <a:rPr lang="en-US" sz="1300" dirty="0">
                <a:solidFill>
                  <a:srgbClr val="555555"/>
                </a:solidFill>
                <a:latin typeface="Arial" pitchFamily="34" charset="0"/>
                <a:ea typeface="Arial" pitchFamily="34" charset="-122"/>
                <a:cs typeface="Arial" pitchFamily="34" charset="-120"/>
              </a:rPr>
              <a:t>swap Ollama / Groq model</a:t>
            </a:r>
            <a:endParaRPr lang="en-US" sz="1800" dirty="0"/>
          </a:p>
        </p:txBody>
      </p:sp>
      <p:sp>
        <p:nvSpPr>
          <p:cNvPr id="27" name="Shape 21"/>
          <p:cNvSpPr/>
          <p:nvPr/>
        </p:nvSpPr>
        <p:spPr>
          <a:xfrm>
            <a:off x="15179040" y="6903720"/>
            <a:ext cx="0" cy="457200"/>
          </a:xfrm>
          <a:prstGeom prst="line">
            <a:avLst/>
          </a:prstGeom>
          <a:noFill/>
          <a:ln w="19050">
            <a:solidFill>
              <a:srgbClr val="333333"/>
            </a:solidFill>
            <a:prstDash val="solid"/>
            <a:tailEnd type="triangle"/>
          </a:ln>
        </p:spPr>
      </p:sp>
      <p:sp>
        <p:nvSpPr>
          <p:cNvPr id="28" name="More users"/>
          <p:cNvSpPr/>
          <p:nvPr/>
        </p:nvSpPr>
        <p:spPr>
          <a:xfrm>
            <a:off x="8138160" y="7360920"/>
            <a:ext cx="7955280" cy="914400"/>
          </a:xfrm>
          <a:prstGeom prst="roundRect">
            <a:avLst>
              <a:gd name="adj" fmla="val 10000"/>
            </a:avLst>
          </a:prstGeom>
          <a:solidFill>
            <a:srgbClr val="FCE6F2"/>
          </a:solidFill>
          <a:ln w="19050">
            <a:solidFill>
              <a:srgbClr val="C2448F"/>
            </a:solidFill>
            <a:prstDash val="solid"/>
          </a:ln>
        </p:spPr>
      </p:sp>
      <p:sp>
        <p:nvSpPr>
          <p:cNvPr id="29" name="Text 23"/>
          <p:cNvSpPr/>
          <p:nvPr/>
        </p:nvSpPr>
        <p:spPr>
          <a:xfrm>
            <a:off x="8138160" y="7360920"/>
            <a:ext cx="7955280" cy="914400"/>
          </a:xfrm>
          <a:prstGeom prst="rect">
            <a:avLst/>
          </a:prstGeom>
          <a:noFill/>
          <a:ln/>
        </p:spPr>
        <p:txBody>
          <a:bodyPr wrap="square" lIns="0" tIns="0" rIns="0" bIns="0" rtlCol="0" anchor="ctr"/>
          <a:lstStyle/>
          <a:p>
            <a:pPr algn="ctr" indent="0" marL="0">
              <a:lnSpc>
                <a:spcPct val="110000"/>
              </a:lnSpc>
              <a:buNone/>
            </a:pPr>
            <a:r>
              <a:rPr lang="en-US" sz="1700" b="1" dirty="0">
                <a:solidFill>
                  <a:srgbClr val="6B1E4A"/>
                </a:solidFill>
                <a:latin typeface="Arial" pitchFamily="34" charset="0"/>
                <a:ea typeface="Arial" pitchFamily="34" charset="-122"/>
                <a:cs typeface="Arial" pitchFamily="34" charset="-120"/>
              </a:rPr>
              <a:t>More users: SQLite → PostgreSQL · wearables · cloud model serving</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19</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FUTURE WORK</a:t>
            </a:r>
            <a:endParaRPr lang="en-US" sz="4000" dirty="0"/>
          </a:p>
        </p:txBody>
      </p:sp>
      <p:sp>
        <p:nvSpPr>
          <p:cNvPr id="5" name="Panel"/>
          <p:cNvSpPr/>
          <p:nvPr/>
        </p:nvSpPr>
        <p:spPr>
          <a:xfrm>
            <a:off x="914400" y="2148840"/>
            <a:ext cx="16459200" cy="6949440"/>
          </a:xfrm>
          <a:prstGeom prst="roundRect">
            <a:avLst>
              <a:gd name="adj" fmla="val 1579"/>
            </a:avLst>
          </a:prstGeom>
          <a:solidFill>
            <a:srgbClr val="F4F1F8"/>
          </a:solidFill>
          <a:ln w="12700">
            <a:solidFill>
              <a:srgbClr val="E2DCEB"/>
            </a:solidFill>
            <a:prstDash val="solid"/>
          </a:ln>
        </p:spPr>
      </p:sp>
      <p:sp>
        <p:nvSpPr>
          <p:cNvPr id="6" name="1. Wearable integration"/>
          <p:cNvSpPr/>
          <p:nvPr/>
        </p:nvSpPr>
        <p:spPr>
          <a:xfrm>
            <a:off x="1280160" y="246888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7" name="Text 5"/>
          <p:cNvSpPr/>
          <p:nvPr/>
        </p:nvSpPr>
        <p:spPr>
          <a:xfrm>
            <a:off x="1554480" y="2697480"/>
            <a:ext cx="4572000" cy="457200"/>
          </a:xfrm>
          <a:prstGeom prst="rect">
            <a:avLst/>
          </a:prstGeom>
          <a:noFill/>
          <a:ln/>
        </p:spPr>
        <p:txBody>
          <a:bodyPr wrap="square" lIns="0" tIns="0" rIns="0" bIns="0" rtlCol="0" anchor="t"/>
          <a:lstStyle/>
          <a:p>
            <a:pPr algn="l" indent="0" marL="0">
              <a:lnSpc>
                <a:spcPct val="110000"/>
              </a:lnSpc>
              <a:buNone/>
            </a:pPr>
            <a:r>
              <a:rPr lang="en-US" sz="2200" b="1" dirty="0">
                <a:solidFill>
                  <a:srgbClr val="B8860B"/>
                </a:solidFill>
                <a:latin typeface="Arial" pitchFamily="34" charset="0"/>
                <a:ea typeface="Arial" pitchFamily="34" charset="-122"/>
                <a:cs typeface="Arial" pitchFamily="34" charset="-120"/>
              </a:rPr>
              <a:t>1. Wearable integration</a:t>
            </a:r>
            <a:endParaRPr lang="en-US" sz="2200" dirty="0"/>
          </a:p>
        </p:txBody>
      </p:sp>
      <p:sp>
        <p:nvSpPr>
          <p:cNvPr id="8" name="Text 6"/>
          <p:cNvSpPr/>
          <p:nvPr/>
        </p:nvSpPr>
        <p:spPr>
          <a:xfrm>
            <a:off x="1645920" y="3383280"/>
            <a:ext cx="4480560" cy="18288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steps, sleep and heart rate</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replace self-reported habits</a:t>
            </a:r>
            <a:endParaRPr lang="en-US" sz="2000" dirty="0"/>
          </a:p>
        </p:txBody>
      </p:sp>
      <p:sp>
        <p:nvSpPr>
          <p:cNvPr id="9" name="2. Stronger safety coverage"/>
          <p:cNvSpPr/>
          <p:nvPr/>
        </p:nvSpPr>
        <p:spPr>
          <a:xfrm>
            <a:off x="6629400" y="246888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0" name="Text 8"/>
          <p:cNvSpPr/>
          <p:nvPr/>
        </p:nvSpPr>
        <p:spPr>
          <a:xfrm>
            <a:off x="6903720" y="2697480"/>
            <a:ext cx="4572000" cy="457200"/>
          </a:xfrm>
          <a:prstGeom prst="rect">
            <a:avLst/>
          </a:prstGeom>
          <a:noFill/>
          <a:ln/>
        </p:spPr>
        <p:txBody>
          <a:bodyPr wrap="square" lIns="0" tIns="0" rIns="0" bIns="0" rtlCol="0" anchor="t"/>
          <a:lstStyle/>
          <a:p>
            <a:pPr algn="l" indent="0" marL="0">
              <a:lnSpc>
                <a:spcPct val="110000"/>
              </a:lnSpc>
              <a:buNone/>
            </a:pPr>
            <a:r>
              <a:rPr lang="en-US" sz="2200" b="1" dirty="0">
                <a:solidFill>
                  <a:srgbClr val="B8860B"/>
                </a:solidFill>
                <a:latin typeface="Arial" pitchFamily="34" charset="0"/>
                <a:ea typeface="Arial" pitchFamily="34" charset="-122"/>
                <a:cs typeface="Arial" pitchFamily="34" charset="-120"/>
              </a:rPr>
              <a:t>2. Stronger safety coverage</a:t>
            </a:r>
            <a:endParaRPr lang="en-US" sz="2200" dirty="0"/>
          </a:p>
        </p:txBody>
      </p:sp>
      <p:sp>
        <p:nvSpPr>
          <p:cNvPr id="11" name="Text 9"/>
          <p:cNvSpPr/>
          <p:nvPr/>
        </p:nvSpPr>
        <p:spPr>
          <a:xfrm>
            <a:off x="6995160" y="3383280"/>
            <a:ext cx="4480560" cy="18288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broader crisis-phrase detection</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clinician-reviewed rules</a:t>
            </a:r>
            <a:endParaRPr lang="en-US" sz="2000" dirty="0"/>
          </a:p>
        </p:txBody>
      </p:sp>
      <p:sp>
        <p:nvSpPr>
          <p:cNvPr id="12" name="3. Larger evaluation"/>
          <p:cNvSpPr/>
          <p:nvPr/>
        </p:nvSpPr>
        <p:spPr>
          <a:xfrm>
            <a:off x="11978640" y="246888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3" name="Text 11"/>
          <p:cNvSpPr/>
          <p:nvPr/>
        </p:nvSpPr>
        <p:spPr>
          <a:xfrm>
            <a:off x="12252960" y="2697480"/>
            <a:ext cx="4572000" cy="457200"/>
          </a:xfrm>
          <a:prstGeom prst="rect">
            <a:avLst/>
          </a:prstGeom>
          <a:noFill/>
          <a:ln/>
        </p:spPr>
        <p:txBody>
          <a:bodyPr wrap="square" lIns="0" tIns="0" rIns="0" bIns="0" rtlCol="0" anchor="t"/>
          <a:lstStyle/>
          <a:p>
            <a:pPr algn="l" indent="0" marL="0">
              <a:lnSpc>
                <a:spcPct val="110000"/>
              </a:lnSpc>
              <a:buNone/>
            </a:pPr>
            <a:r>
              <a:rPr lang="en-US" sz="2200" b="1" dirty="0">
                <a:solidFill>
                  <a:srgbClr val="B8860B"/>
                </a:solidFill>
                <a:latin typeface="Arial" pitchFamily="34" charset="0"/>
                <a:ea typeface="Arial" pitchFamily="34" charset="-122"/>
                <a:cs typeface="Arial" pitchFamily="34" charset="-120"/>
              </a:rPr>
              <a:t>3. Larger evaluation</a:t>
            </a:r>
            <a:endParaRPr lang="en-US" sz="2200" dirty="0"/>
          </a:p>
        </p:txBody>
      </p:sp>
      <p:sp>
        <p:nvSpPr>
          <p:cNvPr id="14" name="Text 12"/>
          <p:cNvSpPr/>
          <p:nvPr/>
        </p:nvSpPr>
        <p:spPr>
          <a:xfrm>
            <a:off x="12344400" y="3383280"/>
            <a:ext cx="4480560" cy="18288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doctors and dietitians as raters</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repeated runs, bigger test sets</a:t>
            </a:r>
            <a:endParaRPr lang="en-US" sz="2000" dirty="0"/>
          </a:p>
        </p:txBody>
      </p:sp>
      <p:sp>
        <p:nvSpPr>
          <p:cNvPr id="15" name="4. Voice and languages"/>
          <p:cNvSpPr/>
          <p:nvPr/>
        </p:nvSpPr>
        <p:spPr>
          <a:xfrm>
            <a:off x="1280160" y="571500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6" name="Text 14"/>
          <p:cNvSpPr/>
          <p:nvPr/>
        </p:nvSpPr>
        <p:spPr>
          <a:xfrm>
            <a:off x="1554480" y="5943600"/>
            <a:ext cx="4572000" cy="457200"/>
          </a:xfrm>
          <a:prstGeom prst="rect">
            <a:avLst/>
          </a:prstGeom>
          <a:noFill/>
          <a:ln/>
        </p:spPr>
        <p:txBody>
          <a:bodyPr wrap="square" lIns="0" tIns="0" rIns="0" bIns="0" rtlCol="0" anchor="t"/>
          <a:lstStyle/>
          <a:p>
            <a:pPr algn="l" indent="0" marL="0">
              <a:lnSpc>
                <a:spcPct val="110000"/>
              </a:lnSpc>
              <a:buNone/>
            </a:pPr>
            <a:r>
              <a:rPr lang="en-US" sz="2200" b="1" dirty="0">
                <a:solidFill>
                  <a:srgbClr val="B8860B"/>
                </a:solidFill>
                <a:latin typeface="Arial" pitchFamily="34" charset="0"/>
                <a:ea typeface="Arial" pitchFamily="34" charset="-122"/>
                <a:cs typeface="Arial" pitchFamily="34" charset="-120"/>
              </a:rPr>
              <a:t>4. Voice and languages</a:t>
            </a:r>
            <a:endParaRPr lang="en-US" sz="2200" dirty="0"/>
          </a:p>
        </p:txBody>
      </p:sp>
      <p:sp>
        <p:nvSpPr>
          <p:cNvPr id="17" name="Text 15"/>
          <p:cNvSpPr/>
          <p:nvPr/>
        </p:nvSpPr>
        <p:spPr>
          <a:xfrm>
            <a:off x="1645920" y="6629400"/>
            <a:ext cx="4480560" cy="18288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Tamil and Hindi voice chat</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wider reach</a:t>
            </a:r>
            <a:endParaRPr lang="en-US" sz="2000" dirty="0"/>
          </a:p>
        </p:txBody>
      </p:sp>
      <p:sp>
        <p:nvSpPr>
          <p:cNvPr id="18" name="5. Production deployment"/>
          <p:cNvSpPr/>
          <p:nvPr/>
        </p:nvSpPr>
        <p:spPr>
          <a:xfrm>
            <a:off x="6629400" y="571500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19" name="Text 17"/>
          <p:cNvSpPr/>
          <p:nvPr/>
        </p:nvSpPr>
        <p:spPr>
          <a:xfrm>
            <a:off x="6903720" y="5943600"/>
            <a:ext cx="4572000" cy="457200"/>
          </a:xfrm>
          <a:prstGeom prst="rect">
            <a:avLst/>
          </a:prstGeom>
          <a:noFill/>
          <a:ln/>
        </p:spPr>
        <p:txBody>
          <a:bodyPr wrap="square" lIns="0" tIns="0" rIns="0" bIns="0" rtlCol="0" anchor="t"/>
          <a:lstStyle/>
          <a:p>
            <a:pPr algn="l" indent="0" marL="0">
              <a:lnSpc>
                <a:spcPct val="110000"/>
              </a:lnSpc>
              <a:buNone/>
            </a:pPr>
            <a:r>
              <a:rPr lang="en-US" sz="2200" b="1" dirty="0">
                <a:solidFill>
                  <a:srgbClr val="B8860B"/>
                </a:solidFill>
                <a:latin typeface="Arial" pitchFamily="34" charset="0"/>
                <a:ea typeface="Arial" pitchFamily="34" charset="-122"/>
                <a:cs typeface="Arial" pitchFamily="34" charset="-120"/>
              </a:rPr>
              <a:t>5. Production deployment</a:t>
            </a:r>
            <a:endParaRPr lang="en-US" sz="2200" dirty="0"/>
          </a:p>
        </p:txBody>
      </p:sp>
      <p:sp>
        <p:nvSpPr>
          <p:cNvPr id="20" name="Text 18"/>
          <p:cNvSpPr/>
          <p:nvPr/>
        </p:nvSpPr>
        <p:spPr>
          <a:xfrm>
            <a:off x="6995160" y="6629400"/>
            <a:ext cx="4480560" cy="18288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authentication, PostgreSQL</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scalable model serving</a:t>
            </a:r>
            <a:endParaRPr lang="en-US" sz="2000" dirty="0"/>
          </a:p>
        </p:txBody>
      </p:sp>
      <p:sp>
        <p:nvSpPr>
          <p:cNvPr id="21" name="6. Observability"/>
          <p:cNvSpPr/>
          <p:nvPr/>
        </p:nvSpPr>
        <p:spPr>
          <a:xfrm>
            <a:off x="11978640" y="5715000"/>
            <a:ext cx="5029200" cy="2926080"/>
          </a:xfrm>
          <a:prstGeom prst="roundRect">
            <a:avLst>
              <a:gd name="adj" fmla="val 3125"/>
            </a:avLst>
          </a:prstGeom>
          <a:solidFill>
            <a:srgbClr val="FFFFFF"/>
          </a:solidFill>
          <a:ln w="12700">
            <a:solidFill>
              <a:srgbClr val="E2DCEB"/>
            </a:solidFill>
            <a:prstDash val="solid"/>
          </a:ln>
          <a:effectLst>
            <a:outerShdw sx="100000" sy="100000" kx="0" ky="0" algn="bl" rotWithShape="0" blurRad="63500" dist="25400" dir="5400000">
              <a:srgbClr val="000000">
                <a:alpha val="12000"/>
              </a:srgbClr>
            </a:outerShdw>
          </a:effectLst>
        </p:spPr>
      </p:sp>
      <p:sp>
        <p:nvSpPr>
          <p:cNvPr id="22" name="Text 20"/>
          <p:cNvSpPr/>
          <p:nvPr/>
        </p:nvSpPr>
        <p:spPr>
          <a:xfrm>
            <a:off x="12252960" y="5943600"/>
            <a:ext cx="4572000" cy="457200"/>
          </a:xfrm>
          <a:prstGeom prst="rect">
            <a:avLst/>
          </a:prstGeom>
          <a:noFill/>
          <a:ln/>
        </p:spPr>
        <p:txBody>
          <a:bodyPr wrap="square" lIns="0" tIns="0" rIns="0" bIns="0" rtlCol="0" anchor="t"/>
          <a:lstStyle/>
          <a:p>
            <a:pPr algn="l" indent="0" marL="0">
              <a:lnSpc>
                <a:spcPct val="110000"/>
              </a:lnSpc>
              <a:buNone/>
            </a:pPr>
            <a:r>
              <a:rPr lang="en-US" sz="2200" b="1" dirty="0">
                <a:solidFill>
                  <a:srgbClr val="B8860B"/>
                </a:solidFill>
                <a:latin typeface="Arial" pitchFamily="34" charset="0"/>
                <a:ea typeface="Arial" pitchFamily="34" charset="-122"/>
                <a:cs typeface="Arial" pitchFamily="34" charset="-120"/>
              </a:rPr>
              <a:t>6. Observability</a:t>
            </a:r>
            <a:endParaRPr lang="en-US" sz="2200" dirty="0"/>
          </a:p>
        </p:txBody>
      </p:sp>
      <p:sp>
        <p:nvSpPr>
          <p:cNvPr id="23" name="Text 21"/>
          <p:cNvSpPr/>
          <p:nvPr/>
        </p:nvSpPr>
        <p:spPr>
          <a:xfrm>
            <a:off x="12344400" y="6629400"/>
            <a:ext cx="4480560" cy="1828800"/>
          </a:xfrm>
          <a:prstGeom prst="rect">
            <a:avLst/>
          </a:prstGeom>
          <a:noFill/>
          <a:ln/>
        </p:spPr>
        <p:txBody>
          <a:bodyPr wrap="square" lIns="0" tIns="0" rIns="0" bIns="0" rtlCol="0" anchor="t"/>
          <a:lstStyle/>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agent tracing</a:t>
            </a:r>
            <a:endParaRPr lang="en-US" sz="2000" dirty="0"/>
          </a:p>
          <a:p>
            <a:pPr marL="228600" indent="-228600">
              <a:lnSpc>
                <a:spcPct val="105000"/>
              </a:lnSpc>
              <a:spcAft>
                <a:spcPts val="1000"/>
              </a:spcAft>
              <a:buSzPct val="100000"/>
              <a:buChar char="•"/>
            </a:pPr>
            <a:r>
              <a:rPr lang="en-US" sz="2000" dirty="0">
                <a:solidFill>
                  <a:srgbClr val="222222"/>
                </a:solidFill>
                <a:latin typeface="Arial" pitchFamily="34" charset="0"/>
                <a:ea typeface="Arial" pitchFamily="34" charset="-122"/>
                <a:cs typeface="Arial" pitchFamily="34" charset="-120"/>
              </a:rPr>
              <a:t>latency and safety dashboards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Number circle"/>
          <p:cNvSpPr/>
          <p:nvPr/>
        </p:nvSpPr>
        <p:spPr>
          <a:xfrm>
            <a:off x="438912" y="457200"/>
            <a:ext cx="1234440" cy="1234440"/>
          </a:xfrm>
          <a:prstGeom prst="ellipse">
            <a:avLst/>
          </a:prstGeom>
          <a:solidFill>
            <a:srgbClr val="F5C519"/>
          </a:solidFill>
          <a:ln w="12700">
            <a:solidFill>
              <a:srgbClr val="F5C519"/>
            </a:solidFill>
            <a:prstDash val="solid"/>
          </a:ln>
        </p:spPr>
      </p:sp>
      <p:sp>
        <p:nvSpPr>
          <p:cNvPr id="3" name="Number"/>
          <p:cNvSpPr/>
          <p:nvPr/>
        </p:nvSpPr>
        <p:spPr>
          <a:xfrm>
            <a:off x="438912" y="457200"/>
            <a:ext cx="1234440" cy="1234440"/>
          </a:xfrm>
          <a:prstGeom prst="rect">
            <a:avLst/>
          </a:prstGeom>
          <a:noFill/>
          <a:ln/>
        </p:spPr>
        <p:txBody>
          <a:bodyPr wrap="square" lIns="0" tIns="0" rIns="0" bIns="0" rtlCol="0" anchor="ctr"/>
          <a:lstStyle/>
          <a:p>
            <a:pPr algn="ctr" indent="0" marL="0">
              <a:buNone/>
            </a:pPr>
            <a:r>
              <a:rPr lang="en-US" sz="2800" b="1" dirty="0">
                <a:solidFill>
                  <a:srgbClr val="111111"/>
                </a:solidFill>
              </a:rPr>
              <a:t>20</a:t>
            </a:r>
            <a:endParaRPr lang="en-US" sz="2800" dirty="0"/>
          </a:p>
        </p:txBody>
      </p:sp>
      <p:sp>
        <p:nvSpPr>
          <p:cNvPr id="4" name="Text 4"/>
          <p:cNvSpPr/>
          <p:nvPr>
            <p:ph idx="105" type="title" hasCustomPrompt="1"/>
          </p:nvPr>
        </p:nvSpPr>
        <p:spPr>
          <a:xfrm>
            <a:off x="1874520" y="566928"/>
            <a:ext cx="11795760" cy="1005840"/>
          </a:xfrm>
          <a:prstGeom prst="rect">
            <a:avLst/>
          </a:prstGeom>
          <a:noFill/>
          <a:ln/>
        </p:spPr>
        <p:txBody>
          <a:bodyPr wrap="square" lIns="0" tIns="0" rIns="0" bIns="0" rtlCol="0" anchor="ctr"/>
          <a:lstStyle/>
          <a:p>
            <a:pPr algn="l" indent="0" marL="0">
              <a:buNone/>
            </a:pPr>
            <a:r>
              <a:rPr lang="en-US" sz="4000" b="1" dirty="0">
                <a:solidFill>
                  <a:srgbClr val="5B2D8F"/>
                </a:solidFill>
                <a:latin typeface="Arial" pitchFamily="34" charset="0"/>
                <a:ea typeface="Arial" pitchFamily="34" charset="-122"/>
                <a:cs typeface="Arial" pitchFamily="34" charset="-120"/>
              </a:rPr>
              <a:t>CONCLUSION</a:t>
            </a:r>
            <a:endParaRPr lang="en-US" sz="4000" dirty="0"/>
          </a:p>
        </p:txBody>
      </p:sp>
      <p:sp>
        <p:nvSpPr>
          <p:cNvPr id="5" name="Panel"/>
          <p:cNvSpPr/>
          <p:nvPr/>
        </p:nvSpPr>
        <p:spPr>
          <a:xfrm>
            <a:off x="914400" y="2148840"/>
            <a:ext cx="16459200" cy="6949440"/>
          </a:xfrm>
          <a:prstGeom prst="roundRect">
            <a:avLst>
              <a:gd name="adj" fmla="val 1579"/>
            </a:avLst>
          </a:prstGeom>
          <a:solidFill>
            <a:srgbClr val="F4F1F8"/>
          </a:solidFill>
          <a:ln w="12700">
            <a:solidFill>
              <a:srgbClr val="E2DCEB"/>
            </a:solidFill>
            <a:prstDash val="solid"/>
          </a:ln>
        </p:spPr>
      </p:sp>
      <p:sp>
        <p:nvSpPr>
          <p:cNvPr id="6" name="Text 4"/>
          <p:cNvSpPr/>
          <p:nvPr/>
        </p:nvSpPr>
        <p:spPr>
          <a:xfrm>
            <a:off x="1371600" y="2423160"/>
            <a:ext cx="15544800" cy="1005840"/>
          </a:xfrm>
          <a:prstGeom prst="rect">
            <a:avLst/>
          </a:prstGeom>
          <a:noFill/>
          <a:ln/>
        </p:spPr>
        <p:txBody>
          <a:bodyPr wrap="square" lIns="0" tIns="0" rIns="0" bIns="0" rtlCol="0" anchor="t"/>
          <a:lstStyle/>
          <a:p>
            <a:pPr algn="l" indent="0" marL="0">
              <a:lnSpc>
                <a:spcPct val="115000"/>
              </a:lnSpc>
              <a:buNone/>
            </a:pPr>
            <a:r>
              <a:rPr lang="en-US" sz="2200" dirty="0">
                <a:solidFill>
                  <a:srgbClr val="222222"/>
                </a:solidFill>
                <a:latin typeface="Arial" pitchFamily="34" charset="0"/>
                <a:ea typeface="Arial" pitchFamily="34" charset="-122"/>
                <a:cs typeface="Arial" pitchFamily="34" charset="-120"/>
              </a:rPr>
              <a:t>Health Pilot shows how agentic AI can move beyond a chatbot to a safe, personalised wellness coach that acts — with the user in control.</a:t>
            </a:r>
            <a:endParaRPr lang="en-US" sz="2200" dirty="0"/>
          </a:p>
        </p:txBody>
      </p:sp>
      <p:sp>
        <p:nvSpPr>
          <p:cNvPr id="7" name="Text 5"/>
          <p:cNvSpPr/>
          <p:nvPr/>
        </p:nvSpPr>
        <p:spPr>
          <a:xfrm>
            <a:off x="1371600" y="3520440"/>
            <a:ext cx="5486400" cy="457200"/>
          </a:xfrm>
          <a:prstGeom prst="rect">
            <a:avLst/>
          </a:prstGeom>
          <a:noFill/>
          <a:ln/>
        </p:spPr>
        <p:txBody>
          <a:bodyPr wrap="square" lIns="0" tIns="0" rIns="0" bIns="0" rtlCol="0" anchor="t"/>
          <a:lstStyle/>
          <a:p>
            <a:pPr algn="l" indent="0" marL="0">
              <a:lnSpc>
                <a:spcPct val="110000"/>
              </a:lnSpc>
              <a:buNone/>
            </a:pPr>
            <a:r>
              <a:rPr lang="en-US" sz="2100" dirty="0">
                <a:solidFill>
                  <a:srgbClr val="5B2D8F"/>
                </a:solidFill>
                <a:latin typeface="Arial" pitchFamily="34" charset="0"/>
                <a:ea typeface="Arial" pitchFamily="34" charset="-122"/>
                <a:cs typeface="Arial" pitchFamily="34" charset="-120"/>
              </a:rPr>
              <a:t>The system:</a:t>
            </a:r>
            <a:endParaRPr lang="en-US" sz="2100" dirty="0"/>
          </a:p>
        </p:txBody>
      </p:sp>
      <p:sp>
        <p:nvSpPr>
          <p:cNvPr id="8" name="Text 6"/>
          <p:cNvSpPr/>
          <p:nvPr/>
        </p:nvSpPr>
        <p:spPr>
          <a:xfrm>
            <a:off x="1600200" y="4114800"/>
            <a:ext cx="15087600" cy="4846320"/>
          </a:xfrm>
          <a:prstGeom prst="rect">
            <a:avLst/>
          </a:prstGeom>
          <a:noFill/>
          <a:ln/>
        </p:spPr>
        <p:txBody>
          <a:bodyPr wrap="square" lIns="0" tIns="0" rIns="0" bIns="0" rtlCol="0" anchor="t"/>
          <a:lstStyle/>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understands mood, intent and habits with our NLP models</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routes each message to Sleep, Fitness, Nutrition and Mind specialists</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retrieves cited guideline evidence with agentic RAG</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resolves disagreements through a mediator</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enforces safety with a rule-based guardian and a cross-model critic</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builds condition-aware diet plans with a diet team</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reviews the week and adapts goals autonomously</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asks the user before changing any plan</a:t>
            </a:r>
            <a:endParaRPr lang="en-US" sz="2000" dirty="0"/>
          </a:p>
          <a:p>
            <a:pPr marL="228600" indent="-228600">
              <a:lnSpc>
                <a:spcPct val="105000"/>
              </a:lnSpc>
              <a:spcAft>
                <a:spcPts val="500"/>
              </a:spcAft>
              <a:buSzPct val="100000"/>
              <a:buChar char="•"/>
            </a:pPr>
            <a:r>
              <a:rPr lang="en-US" sz="2000" dirty="0">
                <a:solidFill>
                  <a:srgbClr val="222222"/>
                </a:solidFill>
                <a:latin typeface="Arial" pitchFamily="34" charset="0"/>
                <a:ea typeface="Arial" pitchFamily="34" charset="-122"/>
                <a:cs typeface="Arial" pitchFamily="34" charset="-120"/>
              </a:rPr>
              <a:t>runs fully locally, keeping health data private</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B2D8F"/>
        </a:solidFill>
      </p:bgPr>
    </p:bg>
    <p:spTree>
      <p:nvGrpSpPr>
        <p:cNvPr id="1" name=""/>
        <p:cNvGrpSpPr/>
        <p:nvPr/>
      </p:nvGrpSpPr>
      <p:grpSpPr>
        <a:xfrm>
          <a:off x="0" y="0"/>
          <a:ext cx="0" cy="0"/>
          <a:chOff x="0" y="0"/>
          <a:chExt cx="0" cy="0"/>
        </a:xfrm>
      </p:grpSpPr>
      <p:sp>
        <p:nvSpPr>
          <p:cNvPr id="2" name="Yellow circle"/>
          <p:cNvSpPr/>
          <p:nvPr/>
        </p:nvSpPr>
        <p:spPr>
          <a:xfrm>
            <a:off x="2834640" y="457200"/>
            <a:ext cx="12618720" cy="12618720"/>
          </a:xfrm>
          <a:prstGeom prst="ellipse">
            <a:avLst/>
          </a:prstGeom>
          <a:solidFill>
            <a:srgbClr val="F5C519"/>
          </a:solidFill>
          <a:ln w="12700">
            <a:solidFill>
              <a:srgbClr val="F5C519"/>
            </a:solidFill>
            <a:prstDash val="solid"/>
          </a:ln>
        </p:spPr>
      </p:sp>
      <p:pic>
        <p:nvPicPr>
          <p:cNvPr id="3" name="Image 0" descr="/home/claude/ppt2/assets/FaHandshake_p.png">    </p:cNvPr>
          <p:cNvPicPr>
            <a:picLocks noChangeAspect="1"/>
          </p:cNvPicPr>
          <p:nvPr/>
        </p:nvPicPr>
        <p:blipFill>
          <a:blip r:embed="rId1"/>
          <a:stretch>
            <a:fillRect/>
          </a:stretch>
        </p:blipFill>
        <p:spPr>
          <a:xfrm>
            <a:off x="8412480" y="1280160"/>
            <a:ext cx="1463040" cy="1463040"/>
          </a:xfrm>
          <a:prstGeom prst="rect">
            <a:avLst/>
          </a:prstGeom>
        </p:spPr>
      </p:pic>
      <p:sp>
        <p:nvSpPr>
          <p:cNvPr id="4" name="Text 1"/>
          <p:cNvSpPr/>
          <p:nvPr/>
        </p:nvSpPr>
        <p:spPr>
          <a:xfrm>
            <a:off x="5669280" y="3017520"/>
            <a:ext cx="6949440" cy="1280160"/>
          </a:xfrm>
          <a:prstGeom prst="rect">
            <a:avLst/>
          </a:prstGeom>
          <a:noFill/>
          <a:ln/>
        </p:spPr>
        <p:txBody>
          <a:bodyPr wrap="square" lIns="0" tIns="0" rIns="0" bIns="0" rtlCol="0" anchor="ctr"/>
          <a:lstStyle/>
          <a:p>
            <a:pPr algn="ctr" indent="0" marL="0">
              <a:lnSpc>
                <a:spcPct val="110000"/>
              </a:lnSpc>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5" name="Text 2"/>
          <p:cNvSpPr/>
          <p:nvPr/>
        </p:nvSpPr>
        <p:spPr>
          <a:xfrm>
            <a:off x="5669280" y="4343400"/>
            <a:ext cx="6949440" cy="457200"/>
          </a:xfrm>
          <a:prstGeom prst="rect">
            <a:avLst/>
          </a:prstGeom>
          <a:noFill/>
          <a:ln/>
        </p:spPr>
        <p:txBody>
          <a:bodyPr wrap="square" lIns="0" tIns="0" rIns="0" bIns="0" rtlCol="0" anchor="t"/>
          <a:lstStyle/>
          <a:p>
            <a:pPr algn="ctr" indent="0" marL="0">
              <a:lnSpc>
                <a:spcPct val="110000"/>
              </a:lnSpc>
              <a:buNone/>
            </a:pPr>
            <a:r>
              <a:rPr lang="en-US" sz="1500" dirty="0">
                <a:solidFill>
                  <a:srgbClr val="3D1F5D"/>
                </a:solidFill>
                <a:latin typeface="Arial" pitchFamily="34" charset="0"/>
                <a:ea typeface="Arial" pitchFamily="34" charset="-122"/>
                <a:cs typeface="Arial" pitchFamily="34" charset="-120"/>
              </a:rPr>
              <a:t>Department of Artificial Intelligence and Machine Learning</a:t>
            </a:r>
            <a:endParaRPr lang="en-US" sz="1500" dirty="0"/>
          </a:p>
        </p:txBody>
      </p:sp>
      <p:sp>
        <p:nvSpPr>
          <p:cNvPr id="6" name="Text 3"/>
          <p:cNvSpPr/>
          <p:nvPr/>
        </p:nvSpPr>
        <p:spPr>
          <a:xfrm>
            <a:off x="5669280" y="4937760"/>
            <a:ext cx="6949440" cy="457200"/>
          </a:xfrm>
          <a:prstGeom prst="rect">
            <a:avLst/>
          </a:prstGeom>
          <a:noFill/>
          <a:ln/>
        </p:spPr>
        <p:txBody>
          <a:bodyPr wrap="square" lIns="0" tIns="0" rIns="0" bIns="0" rtlCol="0" anchor="t"/>
          <a:lstStyle/>
          <a:p>
            <a:pPr algn="ctr" indent="0" marL="0">
              <a:lnSpc>
                <a:spcPct val="110000"/>
              </a:lnSpc>
              <a:buNone/>
            </a:pPr>
            <a:r>
              <a:rPr lang="en-US" sz="1700" b="1" dirty="0">
                <a:solidFill>
                  <a:srgbClr val="3D1F5D"/>
                </a:solidFill>
                <a:latin typeface="Arial" pitchFamily="34" charset="0"/>
                <a:ea typeface="Arial" pitchFamily="34" charset="-122"/>
                <a:cs typeface="Arial" pitchFamily="34" charset="-120"/>
              </a:rPr>
              <a:t>Questions &amp; live demo</a:t>
            </a:r>
            <a:endParaRPr lang="en-US" sz="1700" dirty="0"/>
          </a:p>
        </p:txBody>
      </p:sp>
    </p:spTree>
  </p:cSld>
  <p:clrMapOvr>
    <a:masterClrMapping/>
  </p:clrMapOvr>
</p:sld>
</file>

<file path=ppt/theme/theme1.xml><?xml version="1.0" encoding="utf-8"?>
<a:theme xmlns:a="http://schemas.openxmlformats.org/drawingml/2006/main" name="REC Purple Gold">
  <a:themeElements>
    <a:clrScheme name="REC Purple Gold">
      <a:dk1>
        <a:srgbClr val="222222"/>
      </a:dk1>
      <a:lt1>
        <a:srgbClr val="FFFFFF"/>
      </a:lt1>
      <a:dk2>
        <a:srgbClr val="3D1F5D"/>
      </a:dk2>
      <a:lt2>
        <a:srgbClr val="F4F1F8"/>
      </a:lt2>
      <a:accent1>
        <a:srgbClr val="5B2D8F"/>
      </a:accent1>
      <a:accent2>
        <a:srgbClr val="F5C519"/>
      </a:accent2>
      <a:accent3>
        <a:srgbClr val="3D1F5D"/>
      </a:accent3>
      <a:accent4>
        <a:srgbClr val="B9A6D6"/>
      </a:accent4>
      <a:accent5>
        <a:srgbClr val="3C9A54"/>
      </a:accent5>
      <a:accent6>
        <a:srgbClr val="D9534F"/>
      </a:accent6>
      <a:hlink>
        <a:srgbClr val="5B2D8F"/>
      </a:hlink>
      <a:folHlink>
        <a:srgbClr val="3D1F5D"/>
      </a:folHlink>
    </a:clrScheme>
    <a:fontScheme name="REC Purple Go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Pilot - Agentic AI Health Coach</dc:title>
  <dc:subject>PptxGenJS Presentation</dc:subject>
  <dc:creator>Rubarajan R, Sarveesh B, Trishanth D P J</dc:creator>
  <cp:lastModifiedBy>Rubarajan R, Sarveesh B, Trishanth D P J</cp:lastModifiedBy>
  <cp:revision>1</cp:revision>
  <dcterms:created xsi:type="dcterms:W3CDTF">2026-10-05T18:52:39Z</dcterms:created>
  <dcterms:modified xsi:type="dcterms:W3CDTF">2026-10-05T18:52:39Z</dcterms:modified>
</cp:coreProperties>
</file>